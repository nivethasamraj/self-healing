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147481700" r:id="rId2"/>
    <p:sldId id="2147481710" r:id="rId3"/>
    <p:sldId id="2147481714" r:id="rId4"/>
    <p:sldId id="2147481715" r:id="rId5"/>
    <p:sldId id="2147481711" r:id="rId6"/>
    <p:sldId id="2147481688" r:id="rId7"/>
    <p:sldId id="2147481712" r:id="rId8"/>
    <p:sldId id="2147481685" r:id="rId9"/>
    <p:sldId id="2147481686" r:id="rId10"/>
    <p:sldId id="2147481713" r:id="rId11"/>
    <p:sldId id="256" r:id="rId12"/>
    <p:sldId id="258" r:id="rId13"/>
    <p:sldId id="2147481720" r:id="rId14"/>
    <p:sldId id="259" r:id="rId15"/>
    <p:sldId id="547" r:id="rId16"/>
    <p:sldId id="257" r:id="rId17"/>
    <p:sldId id="548" r:id="rId18"/>
    <p:sldId id="2147481689" r:id="rId19"/>
    <p:sldId id="214748170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645BBBD-947A-7C72-9DBC-22B83B255327}" v="125" dt="2026-06-17T13:42:19.524"/>
    <p1510:client id="{B7263528-15EF-B1DA-ED32-01E89E2FDEFB}" v="4" dt="2026-06-17T10:16:06.111"/>
    <p1510:client id="{FCD48506-F5B4-4785-CBCD-152FACEC2516}" v="24" dt="2026-06-18T04:05:41.4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1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6C11-E66C-A678-53C8-199576AF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5B1D7-E5C1-A8A2-D146-005C4705B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EE276-6D80-56F5-8422-B297E2E0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AC62C-F3A6-80C3-E222-6AAACDFC3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8983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alibri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alibri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alibri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alibri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"/>
          <p:cNvSpPr txBox="1"/>
          <p:nvPr/>
        </p:nvSpPr>
        <p:spPr>
          <a:xfrm>
            <a:off x="735841" y="2050000"/>
            <a:ext cx="8949440" cy="316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>
                <a:latin typeface="+mj-lt"/>
                <a:ea typeface="+mj-ea"/>
                <a:cs typeface="+mj-cs"/>
              </a:rPr>
              <a:t>AUTOMATION</a:t>
            </a:r>
            <a:r>
              <a:rPr lang="en-US" sz="5200" b="1" kern="1200">
                <a:latin typeface="+mj-lt"/>
                <a:ea typeface="+mj-ea"/>
                <a:cs typeface="+mj-cs"/>
              </a:rPr>
              <a:t> </a:t>
            </a:r>
            <a:r>
              <a:rPr lang="en-US" sz="5200" b="1" kern="1200" dirty="0">
                <a:latin typeface="+mj-lt"/>
                <a:ea typeface="+mj-ea"/>
                <a:cs typeface="+mj-cs"/>
              </a:rPr>
              <a:t>ASSESSMENT &amp; ROADMAP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Subtitle"/>
          <p:cNvSpPr txBox="1"/>
          <p:nvPr/>
        </p:nvSpPr>
        <p:spPr>
          <a:xfrm>
            <a:off x="733806" y="4350000"/>
            <a:ext cx="8337135" cy="3180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070F1C"/>
                </a:solidFill>
                <a:latin typeface="+mn-lt"/>
                <a:ea typeface="+mn-ea"/>
                <a:cs typeface="+mn-cs"/>
              </a:rPr>
              <a:t>Assessing </a:t>
            </a:r>
            <a:r>
              <a:rPr lang="en-US" sz="2000" dirty="0">
                <a:solidFill>
                  <a:srgbClr val="070F1C"/>
                </a:solidFill>
              </a:rPr>
              <a:t>current</a:t>
            </a:r>
            <a:r>
              <a:rPr lang="en-US" sz="2000" kern="1200" dirty="0">
                <a:solidFill>
                  <a:srgbClr val="070F1C"/>
                </a:solidFill>
                <a:latin typeface="+mn-lt"/>
                <a:ea typeface="+mn-ea"/>
                <a:cs typeface="+mn-cs"/>
              </a:rPr>
              <a:t> automation landscape and charting the path to a unified, AI-powered framework.</a:t>
            </a:r>
          </a:p>
        </p:txBody>
      </p:sp>
      <p:pic>
        <p:nvPicPr>
          <p:cNvPr id="5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217" y="300000"/>
            <a:ext cx="958087" cy="1128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Challenges in the Current Framework Landscape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AEFF7"/>
                </a:solidFill>
              </a:rPr>
              <a:t>Our research shows the current framework has significant drawbacks — a strong case for moving to a unified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51093" y="1067557"/>
            <a:ext cx="10120191" cy="1140124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Multiple Frameworks Across Applications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Different implementations and standards across projects (BDD, TestNG, etc.).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089784" y="2389328"/>
            <a:ext cx="10269405" cy="113508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Obsolete and Redundant Components</a:t>
            </a:r>
            <a:endParaRPr lang="en-US" dirty="0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Some suites and utilities are no longer actively maintained, and deprecated test cases continue to exist in execution suites.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Fragmented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Business logic, element interactions, and utilities are distributed across multiple layers, increasing complexity.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24244" y="5133180"/>
            <a:ext cx="9865611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27452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High Maintenance Effort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Frequent locator updates increase maintenance overhead.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970" name="Contd"/>
          <p:cNvSpPr txBox="1"/>
          <p:nvPr/>
        </p:nvSpPr>
        <p:spPr>
          <a:xfrm>
            <a:off x="4671889" y="6396862"/>
            <a:ext cx="11172375" cy="5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800" b="1" i="1" dirty="0">
                <a:solidFill>
                  <a:srgbClr val="64748B"/>
                </a:solidFill>
                <a:latin typeface="Calibri"/>
                <a:cs typeface="Calibri"/>
              </a:rPr>
              <a:t>(contd.)</a:t>
            </a:r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389184" y="1146541"/>
            <a:ext cx="9982099" cy="10611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Inconsistent Test Data Management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Multiple test data sources and synchronization issues impact test reliability.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Limited Test Traceability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Test cases are not functionally grouped, making maintenance and impact analysis difficult.</a:t>
            </a: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Insufficient Validation and Visibility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Limited step-level verification and debugging capabilities.</a:t>
            </a: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389184" y="5133180"/>
            <a:ext cx="9800672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4933" y="5344200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Lack of AI Adoption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No AI-assisted failure analysis, test insights, or intelligent reporting.</a:t>
            </a: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Why Aspire Unified Framework (AFTA)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AEFF7"/>
                </a:solidFill>
              </a:rPr>
              <a:t>Here is why a single, AI-powered framework across all brands is the right way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81079" y="1005031"/>
            <a:ext cx="9908777" cy="120264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1A3252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4677" y="1373578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Auto 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Report Portal-Powered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1A3252"/>
          </a:solidFill>
          <a:ln w="12700">
            <a:solidFill>
              <a:srgbClr val="1A325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86477"/>
            <a:ext cx="9938763" cy="103793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1A325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Orpos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9" y="3708430"/>
            <a:ext cx="9917728" cy="1166906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493578" y="5247207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Calibri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 dirty="0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Auto POM – Intelligent Locator &amp; AI Fallback Strategy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AEFF7"/>
                </a:solidFill>
              </a:rPr>
              <a:t>How intelligent, multi-level locator generation with AI fallback makes automation faster and far easier to maintain.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BizValue"/>
          <p:cNvSpPr txBox="1"/>
          <p:nvPr/>
        </p:nvSpPr>
        <p:spPr>
          <a:xfrm>
            <a:off x="900000" y="360000"/>
            <a:ext cx="9500000" cy="78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dirty="0">
                <a:solidFill>
                  <a:srgbClr val="24466E"/>
                </a:solidFill>
                <a:latin typeface="Calibri"/>
                <a:cs typeface="Calibri"/>
              </a:rPr>
              <a:t>Business Value :</a:t>
            </a:r>
            <a:br>
              <a:rPr lang="en-US" sz="1600" b="1" dirty="0">
                <a:solidFill>
                  <a:srgbClr val="24466E"/>
                </a:solidFill>
                <a:latin typeface="Calibri"/>
                <a:cs typeface="Calibri"/>
              </a:rPr>
            </a:br>
            <a:r>
              <a:rPr lang="en-US" sz="1600" b="1" dirty="0">
                <a:solidFill>
                  <a:srgbClr val="24466E"/>
                </a:solidFill>
                <a:latin typeface="Calibri"/>
                <a:cs typeface="Calibri"/>
              </a:rPr>
              <a:t>Auto POM is a Chrome extension that creates production-ready Page functions — eliminating manual locator management and reducing script failures.</a:t>
            </a:r>
          </a:p>
        </p:txBody>
      </p:sp>
      <p:sp>
        <p:nvSpPr>
          <p:cNvPr id="850" name="Bullets BG"/>
          <p:cNvSpPr/>
          <p:nvPr/>
        </p:nvSpPr>
        <p:spPr>
          <a:xfrm>
            <a:off x="520000" y="1140000"/>
            <a:ext cx="10868774" cy="1505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Bullets"/>
          <p:cNvSpPr txBox="1"/>
          <p:nvPr/>
        </p:nvSpPr>
        <p:spPr>
          <a:xfrm>
            <a:off x="700000" y="1300000"/>
            <a:ext cx="10508774" cy="1185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285750" indent="-285750">
              <a:buFont typeface="Calibri"/>
              <a:buChar char="•"/>
            </a:pPr>
            <a:r>
              <a:rPr lang="en-US" sz="1600" b="1" dirty="0">
                <a:solidFill>
                  <a:srgbClr val="1E3A5C"/>
                </a:solidFill>
                <a:latin typeface="Calibri"/>
                <a:cs typeface="Calibri"/>
              </a:rPr>
              <a:t>Objective — </a:t>
            </a:r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Generate robust, maintainable POM locators and automation-ready code via a multi-level fallback strategy with AI assistance.</a:t>
            </a:r>
          </a:p>
          <a:p>
            <a:pPr marL="285750" indent="-285750">
              <a:spcBef>
                <a:spcPts val="800"/>
              </a:spcBef>
              <a:buFont typeface="Calibri"/>
              <a:buChar char="•"/>
            </a:pPr>
            <a:r>
              <a:rPr lang="en-US" sz="1600" b="1" dirty="0">
                <a:solidFill>
                  <a:srgbClr val="1E3A5C"/>
                </a:solidFill>
                <a:latin typeface="Calibri"/>
                <a:cs typeface="Calibri"/>
              </a:rPr>
              <a:t>Key Benefits — </a:t>
            </a:r>
            <a:r>
              <a:rPr lang="en-US" sz="1600" dirty="0">
                <a:solidFill>
                  <a:srgbClr val="334155"/>
                </a:solidFill>
                <a:latin typeface="Calibri"/>
                <a:cs typeface="Calibri"/>
              </a:rPr>
              <a:t>Less manual effort, higher locator reliability, faster automation, and production-ready POM code.</a:t>
            </a:r>
          </a:p>
        </p:txBody>
      </p:sp>
      <p:sp>
        <p:nvSpPr>
          <p:cNvPr id="104" name="FlowLabel"/>
          <p:cNvSpPr txBox="1"/>
          <p:nvPr/>
        </p:nvSpPr>
        <p:spPr>
          <a:xfrm>
            <a:off x="700000" y="3180000"/>
            <a:ext cx="10792000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1" spc="200" dirty="0">
                <a:solidFill>
                  <a:srgbClr val="0E7C7B"/>
                </a:solidFill>
                <a:latin typeface="Calibri"/>
                <a:cs typeface="Calibri"/>
              </a:rPr>
              <a:t>CORE MECHANISM OF AUTOPOM</a:t>
            </a:r>
          </a:p>
        </p:txBody>
      </p:sp>
      <p:sp>
        <p:nvSpPr>
          <p:cNvPr id="105" name="FlowCard1"/>
          <p:cNvSpPr/>
          <p:nvPr/>
        </p:nvSpPr>
        <p:spPr>
          <a:xfrm>
            <a:off x="7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1E293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FlowNum1"/>
          <p:cNvSpPr/>
          <p:nvPr/>
        </p:nvSpPr>
        <p:spPr>
          <a:xfrm>
            <a:off x="2886000" y="3315000"/>
            <a:ext cx="620000" cy="620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7" name="FlowTitle1"/>
          <p:cNvSpPr txBox="1"/>
          <p:nvPr/>
        </p:nvSpPr>
        <p:spPr>
          <a:xfrm>
            <a:off x="911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1E293B"/>
                </a:solidFill>
                <a:latin typeface="Calibri"/>
                <a:cs typeface="Calibri"/>
              </a:rPr>
              <a:t>Locator Priority</a:t>
            </a:r>
          </a:p>
        </p:txBody>
      </p:sp>
      <p:sp>
        <p:nvSpPr>
          <p:cNvPr id="108" name="FlowDesc1"/>
          <p:cNvSpPr txBox="1"/>
          <p:nvPr/>
        </p:nvSpPr>
        <p:spPr>
          <a:xfrm>
            <a:off x="10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800">
                <a:solidFill>
                  <a:srgbClr val="334155"/>
                </a:solidFill>
                <a:latin typeface="Calibri"/>
                <a:cs typeface="Calibri"/>
              </a:rPr>
              <a:t>Prioritizes ID, Name, Data &amp; Accessibility attributes, CSS selectors, then XPath — resolving the most reliable locator before any AI is invoked.</a:t>
            </a:r>
          </a:p>
        </p:txBody>
      </p:sp>
      <p:sp>
        <p:nvSpPr>
          <p:cNvPr id="109" name="FlowCard2"/>
          <p:cNvSpPr/>
          <p:nvPr/>
        </p:nvSpPr>
        <p:spPr>
          <a:xfrm>
            <a:off x="6546000" y="3720000"/>
            <a:ext cx="4900000" cy="26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22225">
            <a:solidFill>
              <a:srgbClr val="C282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FlowNum2"/>
          <p:cNvSpPr/>
          <p:nvPr/>
        </p:nvSpPr>
        <p:spPr>
          <a:xfrm>
            <a:off x="8709000" y="3355000"/>
            <a:ext cx="620000" cy="620000"/>
          </a:xfrm>
          <a:prstGeom prst="ellipse">
            <a:avLst/>
          </a:prstGeom>
          <a:solidFill>
            <a:srgbClr val="C2820B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1" name="FlowTitle2"/>
          <p:cNvSpPr txBox="1"/>
          <p:nvPr/>
        </p:nvSpPr>
        <p:spPr>
          <a:xfrm>
            <a:off x="6696000" y="4720000"/>
            <a:ext cx="4600000" cy="5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C2820B"/>
                </a:solidFill>
                <a:latin typeface="Calibri"/>
                <a:cs typeface="Calibri"/>
              </a:rPr>
              <a:t>AI Fallback</a:t>
            </a:r>
          </a:p>
        </p:txBody>
      </p:sp>
      <p:sp>
        <p:nvSpPr>
          <p:cNvPr id="112" name="FlowDesc2"/>
          <p:cNvSpPr txBox="1"/>
          <p:nvPr/>
        </p:nvSpPr>
        <p:spPr>
          <a:xfrm>
            <a:off x="6826000" y="5120000"/>
            <a:ext cx="4340000" cy="13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1800">
                <a:solidFill>
                  <a:srgbClr val="334155"/>
                </a:solidFill>
                <a:latin typeface="Calibri"/>
                <a:cs typeface="Calibri"/>
              </a:rPr>
              <a:t>When deterministic strategies fail or score low-confidence, AI reads the DOM, element attributes &amp; surrounding context to propose stable, maintainable locators.</a:t>
            </a:r>
          </a:p>
        </p:txBody>
      </p:sp>
      <p:sp>
        <p:nvSpPr>
          <p:cNvPr id="113" name="FlowArrow"/>
          <p:cNvSpPr/>
          <p:nvPr/>
        </p:nvSpPr>
        <p:spPr>
          <a:xfrm>
            <a:off x="5786000" y="4925000"/>
            <a:ext cx="620000" cy="24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00" name="Brain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6000" y="4170000"/>
            <a:ext cx="540000" cy="540000"/>
          </a:xfrm>
          <a:prstGeom prst="rect">
            <a:avLst/>
          </a:prstGeom>
        </p:spPr>
      </p:pic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51F10AF3-7EFD-0B96-3D86-10E73AC20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072" y="4046536"/>
            <a:ext cx="566928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438105" y="1127659"/>
            <a:ext cx="11553895" cy="5670451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813" y="290000"/>
            <a:ext cx="11172375" cy="468526"/>
          </a:xfr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AUTO POM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Self Healing – Test Automation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AEFF7"/>
                </a:solidFill>
              </a:rPr>
              <a:t>A self-correcting suite that recovers from UI changes on its own, cutting flakiness and manual upkeep.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ointers BG"/>
          <p:cNvSpPr/>
          <p:nvPr/>
        </p:nvSpPr>
        <p:spPr>
          <a:xfrm>
            <a:off x="470000" y="1990672"/>
            <a:ext cx="5550000" cy="220000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3421" y="64598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 dirty="0">
              <a:solidFill>
                <a:srgbClr val="24466E"/>
              </a:solidFill>
              <a:latin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1E3A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93976" y="11064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76000"/>
                  </a:schemeClr>
                </a:solidFill>
                <a:latin typeface="Calibri"/>
                <a:ea typeface="Calibri" pitchFamily="34" charset="-122"/>
                <a:cs typeface="Calibri"/>
              </a:rPr>
              <a:t>Playwright · TypeScript · Azure OpenAI GPT-4.1 · Chrome Extension</a:t>
            </a:r>
            <a:endParaRPr lang="en-US" sz="1700" b="1" dirty="0">
              <a:solidFill>
                <a:schemeClr val="accent1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FALLBACK CHAIN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1B34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DB Primary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Stored locator resolved</a:t>
            </a:r>
            <a:endParaRPr lang="en-US" sz="1700" b="1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direct from elements table</a:t>
            </a:r>
            <a:endParaRPr lang="en-US" sz="17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822" y="502005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 Smart Locators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role → </a:t>
            </a:r>
            <a:r>
              <a:rPr lang="en-US" sz="17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testId</a:t>
            </a: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 → text → </a:t>
            </a:r>
            <a:r>
              <a:rPr lang="en-US" sz="17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css</a:t>
            </a:r>
            <a:endParaRPr lang="en-US" sz="1700" b="1">
              <a:latin typeface="Calibri"/>
              <a:cs typeface="Calibri"/>
            </a:endParaRPr>
          </a:p>
          <a:p>
            <a:pPr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→ </a:t>
            </a:r>
            <a:r>
              <a:rPr lang="en-US" sz="1700" b="1" dirty="0" err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xpath</a:t>
            </a: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700" b="1" dirty="0">
              <a:solidFill>
                <a:srgbClr val="334155"/>
              </a:solidFill>
              <a:latin typeface="Calibri"/>
              <a:cs typeface="Calibri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C"/>
                </a:solidFill>
                <a:latin typeface="Calibri"/>
                <a:ea typeface="Calibri" pitchFamily="34" charset="-122"/>
                <a:cs typeface="Calibri"/>
              </a:rPr>
              <a:t>  AI Healing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GPT-4.1 vision + DOM </a:t>
            </a:r>
            <a:r>
              <a:rPr lang="en-US" sz="1700" b="1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context, confidence</a:t>
            </a:r>
            <a:r>
              <a:rPr lang="en-US" sz="1700" b="1" dirty="0">
                <a:solidFill>
                  <a:srgbClr val="334155"/>
                </a:solidFill>
                <a:latin typeface="Calibri"/>
                <a:ea typeface="Calibri" pitchFamily="34" charset="-122"/>
                <a:cs typeface="Calibri"/>
              </a:rPr>
              <a:t>-gated</a:t>
            </a:r>
            <a:endParaRPr lang="en-US" sz="17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94360" y="180771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suite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Deterministic tiers absorb most UI changes; AI handles novel breaks.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3A5C"/>
                </a:solidFill>
                <a:latin typeface="Calibri"/>
                <a:ea typeface="Calibri"/>
                <a:cs typeface="Calibri"/>
              </a:rPr>
              <a:t>Lower flakiness &amp; upkeep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Cuts manual selector maintenance and false failures substantially.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end-to-end</a:t>
            </a:r>
            <a:endParaRPr lang="en-US" sz="16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Proven against the live Ann Taylor staging funnel.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893921" y="570355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24466E"/>
                </a:solidFill>
                <a:latin typeface="Calibri"/>
                <a:ea typeface="Calibri"/>
              </a:rPr>
              <a:t>Business value – Fixing flaky tests on its own – Less maintenance - Faster releases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477012" y="950000"/>
            <a:ext cx="6808191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1E3A5C"/>
              </a:solidFill>
              <a:latin typeface="Calibri"/>
              <a:ea typeface="Calibri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1E3A5C"/>
              </a:solidFill>
              <a:latin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37012" y="916923"/>
            <a:ext cx="6488191" cy="5783077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SELF HEALING ARCHITECTURE</a:t>
            </a:r>
            <a:b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</a:b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1219200" y="2895600"/>
            <a:ext cx="975360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Image Based Automation Tool – Visor</a:t>
            </a:r>
          </a:p>
        </p:txBody>
      </p:sp>
      <p:sp>
        <p:nvSpPr>
          <p:cNvPr id="12" name="Subtitle"/>
          <p:cNvSpPr txBox="1"/>
          <p:nvPr/>
        </p:nvSpPr>
        <p:spPr>
          <a:xfrm>
            <a:off x="1219200" y="4724400"/>
            <a:ext cx="9296400" cy="8001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EAEFF7"/>
                </a:solidFill>
              </a:rPr>
              <a:t>Visual automation framework that combines OpenCV image matching, OCR, and input control into one Node.js package — enabling automation of Windows applications without DOM or browser access.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d Title"/>
          <p:cNvSpPr txBox="1"/>
          <p:nvPr/>
        </p:nvSpPr>
        <p:spPr>
          <a:xfrm>
            <a:off x="509813" y="200000"/>
            <a:ext cx="11172375" cy="64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IMAGE BASED AUTOMATION TOOL – VISOR</a:t>
            </a:r>
          </a:p>
        </p:txBody>
      </p:sp>
      <p:sp>
        <p:nvSpPr>
          <p:cNvPr id="203" name="KeyFeaturesLabel"/>
          <p:cNvSpPr txBox="1"/>
          <p:nvPr/>
        </p:nvSpPr>
        <p:spPr>
          <a:xfrm>
            <a:off x="900000" y="1550000"/>
            <a:ext cx="10392000" cy="3800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lang="en-US" sz="1600" b="1" spc="200">
                <a:solidFill>
                  <a:srgbClr val="24466E"/>
                </a:solidFill>
                <a:latin typeface="Calibri"/>
                <a:cs typeface="Calibri"/>
              </a:rPr>
              <a:t>KEY FEATURES</a:t>
            </a:r>
          </a:p>
        </p:txBody>
      </p:sp>
      <p:sp>
        <p:nvSpPr>
          <p:cNvPr id="204" name="PNum1"/>
          <p:cNvSpPr/>
          <p:nvPr/>
        </p:nvSpPr>
        <p:spPr>
          <a:xfrm>
            <a:off x="1050000" y="215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5" name="PText1"/>
          <p:cNvSpPr txBox="1"/>
          <p:nvPr/>
        </p:nvSpPr>
        <p:spPr>
          <a:xfrm>
            <a:off x="1750000" y="215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Multi-scale image matching</a:t>
            </a:r>
          </a:p>
        </p:txBody>
      </p:sp>
      <p:sp>
        <p:nvSpPr>
          <p:cNvPr id="206" name="PNum2"/>
          <p:cNvSpPr/>
          <p:nvPr/>
        </p:nvSpPr>
        <p:spPr>
          <a:xfrm>
            <a:off x="1050000" y="287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07" name="PText2"/>
          <p:cNvSpPr txBox="1"/>
          <p:nvPr/>
        </p:nvSpPr>
        <p:spPr>
          <a:xfrm>
            <a:off x="1750000" y="287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Full-screen and region-based OCR</a:t>
            </a:r>
          </a:p>
        </p:txBody>
      </p:sp>
      <p:sp>
        <p:nvSpPr>
          <p:cNvPr id="208" name="PNum3"/>
          <p:cNvSpPr/>
          <p:nvPr/>
        </p:nvSpPr>
        <p:spPr>
          <a:xfrm>
            <a:off x="1050000" y="359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9" name="PText3"/>
          <p:cNvSpPr txBox="1"/>
          <p:nvPr/>
        </p:nvSpPr>
        <p:spPr>
          <a:xfrm>
            <a:off x="1750000" y="359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Automated mouse and keyboard input</a:t>
            </a:r>
          </a:p>
        </p:txBody>
      </p:sp>
      <p:sp>
        <p:nvSpPr>
          <p:cNvPr id="210" name="PNum4"/>
          <p:cNvSpPr/>
          <p:nvPr/>
        </p:nvSpPr>
        <p:spPr>
          <a:xfrm>
            <a:off x="1050000" y="431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11" name="PText4"/>
          <p:cNvSpPr txBox="1"/>
          <p:nvPr/>
        </p:nvSpPr>
        <p:spPr>
          <a:xfrm>
            <a:off x="1750000" y="431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Barcode scanning</a:t>
            </a:r>
          </a:p>
        </p:txBody>
      </p:sp>
      <p:sp>
        <p:nvSpPr>
          <p:cNvPr id="212" name="PNum5"/>
          <p:cNvSpPr/>
          <p:nvPr/>
        </p:nvSpPr>
        <p:spPr>
          <a:xfrm>
            <a:off x="1050000" y="5030000"/>
            <a:ext cx="520000" cy="520000"/>
          </a:xfrm>
          <a:prstGeom prst="ellipse">
            <a:avLst/>
          </a:prstGeom>
          <a:solidFill>
            <a:srgbClr val="C7D6EC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A1A1A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3" name="PText5"/>
          <p:cNvSpPr txBox="1"/>
          <p:nvPr/>
        </p:nvSpPr>
        <p:spPr>
          <a:xfrm>
            <a:off x="1750000" y="5030000"/>
            <a:ext cx="9300000" cy="5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E3A5C"/>
                </a:solidFill>
                <a:latin typeface="Calibri"/>
                <a:cs typeface="Calibri"/>
              </a:rPr>
              <a:t>Built-in display scaling detection</a:t>
            </a: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960" name="Page Number"/>
          <p:cNvSpPr txBox="1"/>
          <p:nvPr/>
        </p:nvSpPr>
        <p:spPr>
          <a:xfrm>
            <a:off x="11500000" y="6420000"/>
            <a:ext cx="500000" cy="32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endParaRPr lang="en-US" sz="1000" dirty="0">
              <a:solidFill>
                <a:srgbClr val="94A3B8"/>
              </a:solidFill>
              <a:latin typeface="Calibri"/>
              <a:cs typeface="Calibri"/>
            </a:endParaRPr>
          </a:p>
        </p:txBody>
      </p:sp>
      <p:sp>
        <p:nvSpPr>
          <p:cNvPr id="4" name="Shape 26">
            <a:extLst>
              <a:ext uri="{FF2B5EF4-FFF2-40B4-BE49-F238E27FC236}">
                <a16:creationId xmlns:a16="http://schemas.microsoft.com/office/drawing/2014/main" id="{FAAE73F4-B00F-F35E-6B47-5E4DD203674C}"/>
              </a:ext>
            </a:extLst>
          </p:cNvPr>
          <p:cNvSpPr/>
          <p:nvPr/>
        </p:nvSpPr>
        <p:spPr>
          <a:xfrm>
            <a:off x="6101600" y="1939876"/>
            <a:ext cx="5734050" cy="1512908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1B3450"/>
            </a:solidFill>
            <a:prstDash val="solid"/>
          </a:ln>
        </p:spPr>
        <p:txBody>
          <a:bodyPr/>
          <a:lstStyle/>
          <a:p>
            <a:pPr algn="l" rtl="0"/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Install via npm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Run `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npm install@aspiresys/visor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Launch it with `</a:t>
            </a:r>
            <a:r>
              <a:rPr lang="en-US" sz="16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npx visor-inspector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`.</a:t>
            </a:r>
            <a:r>
              <a:rPr lang="en-US" sz="16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buFont typeface="Arial,Sans-Serif"/>
              <a:buChar char="•"/>
            </a:pPr>
            <a:endParaRPr lang="en-US" b="0" i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Diagram Frame"/>
          <p:cNvSpPr/>
          <p:nvPr/>
        </p:nvSpPr>
        <p:spPr>
          <a:xfrm>
            <a:off x="200000" y="950000"/>
            <a:ext cx="10731505" cy="58500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9525">
            <a:solidFill>
              <a:srgbClr val="E2E2E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Calibri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7" y="1030331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algn="ctr" defTabSz="355591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VISOR ARCHITECTURE</a:t>
            </a:r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61139-2DF3-5811-5EAB-538996CC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92399E-B3E9-BBA7-7AF0-B3327EA5F28E}"/>
              </a:ext>
            </a:extLst>
          </p:cNvPr>
          <p:cNvSpPr/>
          <p:nvPr/>
        </p:nvSpPr>
        <p:spPr>
          <a:xfrm>
            <a:off x="0" y="5028353"/>
            <a:ext cx="12196156" cy="223181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3EBDFA-C7C7-F40A-D879-AAC5DADB807A}"/>
              </a:ext>
            </a:extLst>
          </p:cNvPr>
          <p:cNvSpPr/>
          <p:nvPr/>
        </p:nvSpPr>
        <p:spPr>
          <a:xfrm>
            <a:off x="548640" y="6611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kern="0" spc="500">
              <a:solidFill>
                <a:srgbClr val="24466E"/>
              </a:solidFill>
              <a:latin typeface="Calibri"/>
              <a:cs typeface="Calibri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21923-09F3-02D8-1245-89AB1A580F45}"/>
              </a:ext>
            </a:extLst>
          </p:cNvPr>
          <p:cNvSpPr/>
          <p:nvPr/>
        </p:nvSpPr>
        <p:spPr>
          <a:xfrm>
            <a:off x="509813" y="290000"/>
            <a:ext cx="1117237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alibri"/>
                <a:cs typeface="Calibri"/>
              </a:rPr>
              <a:t>AFTA DASHBOARD</a:t>
            </a:r>
            <a:r>
              <a:rPr lang="en-US" sz="2800" b="1" dirty="0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endParaRPr lang="en-US" sz="2800" dirty="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3400" b="1" dirty="0">
              <a:solidFill>
                <a:srgbClr val="1E3A5C"/>
              </a:solidFill>
              <a:latin typeface="Calibri"/>
              <a:ea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708ED-431B-572B-510F-F2E4280C8915}"/>
              </a:ext>
            </a:extLst>
          </p:cNvPr>
          <p:cNvSpPr/>
          <p:nvPr/>
        </p:nvSpPr>
        <p:spPr>
          <a:xfrm>
            <a:off x="601556" y="88839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24466E"/>
                </a:solidFill>
                <a:latin typeface="Calibri"/>
                <a:ea typeface="Calibri"/>
              </a:rPr>
              <a:t>Unified Test Automation Platform for Execution, Reporting and Analytics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04CA27-054F-2DC5-675B-73B6B8A434DC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20DE9D-76D8-D7AD-3E9B-3B53BF4D8E91}"/>
              </a:ext>
            </a:extLst>
          </p:cNvPr>
          <p:cNvSpPr/>
          <p:nvPr/>
        </p:nvSpPr>
        <p:spPr>
          <a:xfrm>
            <a:off x="485140" y="513665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>
                <a:solidFill>
                  <a:srgbClr val="24466E"/>
                </a:solidFill>
                <a:latin typeface="Calibri"/>
                <a:cs typeface="Calibri"/>
              </a:rPr>
              <a:t>TECH STACK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E0FD926-50E5-6AA1-BCF6-4A8331671995}"/>
              </a:ext>
            </a:extLst>
          </p:cNvPr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B9D6C9C-99CC-A1BA-F9B7-708B7E87C675}"/>
              </a:ext>
            </a:extLst>
          </p:cNvPr>
          <p:cNvSpPr/>
          <p:nvPr/>
        </p:nvSpPr>
        <p:spPr>
          <a:xfrm>
            <a:off x="4707867" y="5294745"/>
            <a:ext cx="509386" cy="34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1E3A5C"/>
              </a:solidFill>
              <a:latin typeface="Calibri"/>
              <a:cs typeface="Calibri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90A8B79-4B7B-0668-B7A1-D8C466C4A41D}"/>
              </a:ext>
            </a:extLst>
          </p:cNvPr>
          <p:cNvSpPr/>
          <p:nvPr/>
        </p:nvSpPr>
        <p:spPr>
          <a:xfrm>
            <a:off x="1217083" y="155749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4466E"/>
                </a:solidFill>
                <a:latin typeface="Calibri"/>
                <a:ea typeface="Calibri"/>
              </a:rPr>
              <a:t>Features in AFTA</a:t>
            </a:r>
            <a:endParaRPr lang="en-US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9712328-0FF8-D35C-83DB-521B576FF969}"/>
              </a:ext>
            </a:extLst>
          </p:cNvPr>
          <p:cNvSpPr/>
          <p:nvPr/>
        </p:nvSpPr>
        <p:spPr>
          <a:xfrm>
            <a:off x="590974" y="1869355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E84D1DB-6D33-6FB9-4142-CE43B7F7D326}"/>
              </a:ext>
            </a:extLst>
          </p:cNvPr>
          <p:cNvSpPr/>
          <p:nvPr/>
        </p:nvSpPr>
        <p:spPr>
          <a:xfrm>
            <a:off x="1217083" y="195165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Runner</a:t>
            </a:r>
            <a:endParaRPr lang="en-US" dirty="0">
              <a:latin typeface="Calibri" panose="020B0004020202020204"/>
              <a:cs typeface="Calibri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F055932-9141-8068-E36E-78FB40DD3092}"/>
              </a:ext>
            </a:extLst>
          </p:cNvPr>
          <p:cNvSpPr/>
          <p:nvPr/>
        </p:nvSpPr>
        <p:spPr>
          <a:xfrm>
            <a:off x="1217083" y="2276009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4748B"/>
                </a:solidFill>
                <a:latin typeface="Calibri"/>
                <a:cs typeface="Calibri"/>
              </a:rPr>
              <a:t>Execute and monitor test suites with build history and report access</a:t>
            </a:r>
            <a:endParaRPr lang="en-US" dirty="0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50344F6F-FBBF-41F0-D249-0A1FDE102CB9}"/>
              </a:ext>
            </a:extLst>
          </p:cNvPr>
          <p:cNvSpPr/>
          <p:nvPr/>
        </p:nvSpPr>
        <p:spPr>
          <a:xfrm>
            <a:off x="590974" y="2680715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BC1B32A-1724-9C4E-64AC-4000B4BA779A}"/>
              </a:ext>
            </a:extLst>
          </p:cNvPr>
          <p:cNvSpPr/>
          <p:nvPr/>
        </p:nvSpPr>
        <p:spPr>
          <a:xfrm>
            <a:off x="1217083" y="276301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Test Data Generator</a:t>
            </a:r>
            <a:endParaRPr lang="en-US">
              <a:latin typeface="Calibri"/>
              <a:cs typeface="Calibri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664B4-5C26-F399-63F6-162C7EDF5B80}"/>
              </a:ext>
            </a:extLst>
          </p:cNvPr>
          <p:cNvSpPr/>
          <p:nvPr/>
        </p:nvSpPr>
        <p:spPr>
          <a:xfrm>
            <a:off x="1217083" y="294978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Generate reusable test data for faster execution.</a:t>
            </a:r>
            <a:r>
              <a:rPr lang="en-US" sz="16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5A606240-7C8F-4C2F-6999-2192624A0B82}"/>
              </a:ext>
            </a:extLst>
          </p:cNvPr>
          <p:cNvSpPr/>
          <p:nvPr/>
        </p:nvSpPr>
        <p:spPr>
          <a:xfrm>
            <a:off x="590974" y="3248659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5A29979B-DAAF-77AA-DA08-BEFC195C51E0}"/>
              </a:ext>
            </a:extLst>
          </p:cNvPr>
          <p:cNvSpPr/>
          <p:nvPr/>
        </p:nvSpPr>
        <p:spPr>
          <a:xfrm>
            <a:off x="1217083" y="333095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E3A5C"/>
                </a:solidFill>
                <a:latin typeface="Calibri"/>
                <a:cs typeface="Calibri"/>
              </a:rPr>
              <a:t>Reports</a:t>
            </a:r>
            <a:endParaRPr 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A41189EB-3191-151C-B349-5C1B8ADEE126}"/>
              </a:ext>
            </a:extLst>
          </p:cNvPr>
          <p:cNvSpPr/>
          <p:nvPr/>
        </p:nvSpPr>
        <p:spPr>
          <a:xfrm>
            <a:off x="1217083" y="347539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Centralized insights into execution results and trends</a:t>
            </a:r>
            <a:r>
              <a:rPr lang="en-US" sz="1600" b="1">
                <a:solidFill>
                  <a:srgbClr val="64748B"/>
                </a:solidFill>
                <a:latin typeface="Calibri"/>
                <a:ea typeface="Calibri" pitchFamily="34" charset="-122"/>
                <a:cs typeface="Calibri"/>
              </a:rPr>
              <a:t>.</a:t>
            </a:r>
            <a:endParaRPr lang="en-US" sz="1600" b="1">
              <a:latin typeface="Calibri"/>
              <a:ea typeface="Calibri"/>
              <a:cs typeface="Calibri"/>
            </a:endParaRP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83DBE46C-B019-76A7-A02F-BA868E4FF9B3}"/>
              </a:ext>
            </a:extLst>
          </p:cNvPr>
          <p:cNvSpPr/>
          <p:nvPr/>
        </p:nvSpPr>
        <p:spPr>
          <a:xfrm>
            <a:off x="6452362" y="1806828"/>
            <a:ext cx="5480050" cy="1089575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1B34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CEF4D328-341C-DD15-428C-56B247CE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369" y="1915064"/>
            <a:ext cx="384048" cy="384048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964FF14B-65C6-1E60-6EEB-8EC21B86F474}"/>
              </a:ext>
            </a:extLst>
          </p:cNvPr>
          <p:cNvSpPr/>
          <p:nvPr/>
        </p:nvSpPr>
        <p:spPr>
          <a:xfrm>
            <a:off x="7083251" y="196008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0D57A0E7-D665-6D4F-26BC-F69353495F89}"/>
              </a:ext>
            </a:extLst>
          </p:cNvPr>
          <p:cNvSpPr/>
          <p:nvPr/>
        </p:nvSpPr>
        <p:spPr>
          <a:xfrm>
            <a:off x="7066407" y="217770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Calibri"/>
                <a:cs typeface="Calibri"/>
              </a:rPr>
              <a:t>Implementation of multiple user login and User scheduling history with timestamp</a:t>
            </a: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49B89240-3AE8-1714-2950-2C2787D1127C}"/>
              </a:ext>
            </a:extLst>
          </p:cNvPr>
          <p:cNvSpPr/>
          <p:nvPr/>
        </p:nvSpPr>
        <p:spPr>
          <a:xfrm>
            <a:off x="6452362" y="3549974"/>
            <a:ext cx="5480049" cy="1184826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9651B394-3069-F8F0-603C-9D77F71C4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428" y="3577921"/>
            <a:ext cx="384048" cy="384048"/>
          </a:xfrm>
          <a:prstGeom prst="rect">
            <a:avLst/>
          </a:prstGeom>
        </p:spPr>
      </p:pic>
      <p:sp>
        <p:nvSpPr>
          <p:cNvPr id="43" name="Text 30">
            <a:extLst>
              <a:ext uri="{FF2B5EF4-FFF2-40B4-BE49-F238E27FC236}">
                <a16:creationId xmlns:a16="http://schemas.microsoft.com/office/drawing/2014/main" id="{B8DEA60E-10CF-66FA-FE0E-89E61D42233E}"/>
              </a:ext>
            </a:extLst>
          </p:cNvPr>
          <p:cNvSpPr/>
          <p:nvPr/>
        </p:nvSpPr>
        <p:spPr>
          <a:xfrm>
            <a:off x="7082289" y="362137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7B20EB5-4E9B-AC9B-2303-B128B09312BC}"/>
              </a:ext>
            </a:extLst>
          </p:cNvPr>
          <p:cNvSpPr/>
          <p:nvPr/>
        </p:nvSpPr>
        <p:spPr>
          <a:xfrm>
            <a:off x="6958541" y="396196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AI-Powered Test Summaries 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AI-Based Failure Analysis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Root Cause Suggestions </a:t>
            </a:r>
          </a:p>
          <a:p>
            <a:pPr marL="171450" indent="-171450">
              <a:lnSpc>
                <a:spcPct val="105000"/>
              </a:lnSpc>
              <a:buFont typeface="Calibri" panose="020B0604020202020204" pitchFamily="34" charset="0"/>
              <a:buChar char="•"/>
            </a:pPr>
            <a:endParaRPr lang="en-US" sz="1500" b="1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7745F82A-3CE8-06BA-57B8-898AC1440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6" name="Shape 23">
            <a:extLst>
              <a:ext uri="{FF2B5EF4-FFF2-40B4-BE49-F238E27FC236}">
                <a16:creationId xmlns:a16="http://schemas.microsoft.com/office/drawing/2014/main" id="{43DBA775-111E-B9DD-D506-FFA237E8D645}"/>
              </a:ext>
            </a:extLst>
          </p:cNvPr>
          <p:cNvSpPr/>
          <p:nvPr/>
        </p:nvSpPr>
        <p:spPr>
          <a:xfrm>
            <a:off x="590974" y="3854704"/>
            <a:ext cx="457200" cy="457200"/>
          </a:xfrm>
          <a:prstGeom prst="ellipse">
            <a:avLst/>
          </a:prstGeom>
          <a:solidFill>
            <a:srgbClr val="1B345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3DE75C-B7D3-B5D6-78FB-DD9F6119AFB2}"/>
              </a:ext>
            </a:extLst>
          </p:cNvPr>
          <p:cNvSpPr txBox="1"/>
          <p:nvPr/>
        </p:nvSpPr>
        <p:spPr>
          <a:xfrm>
            <a:off x="1090083" y="3937000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Scheduler </a:t>
            </a:r>
            <a:endParaRPr lang="en-US" sz="1600" b="1">
              <a:latin typeface="Calibri"/>
              <a:cs typeface="Calibri"/>
            </a:endParaRPr>
          </a:p>
          <a:p>
            <a:r>
              <a:rPr lang="en-US" sz="1600" b="1">
                <a:solidFill>
                  <a:srgbClr val="64748B"/>
                </a:solidFill>
                <a:latin typeface="Calibri"/>
                <a:ea typeface="+mn-lt"/>
                <a:cs typeface="Calibri"/>
              </a:rPr>
              <a:t>Automate recurring and parameterized test executions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7C648-F961-D0DF-5D9D-956E2044DF79}"/>
              </a:ext>
            </a:extLst>
          </p:cNvPr>
          <p:cNvSpPr txBox="1"/>
          <p:nvPr/>
        </p:nvSpPr>
        <p:spPr>
          <a:xfrm>
            <a:off x="9318322" y="3857060"/>
            <a:ext cx="6096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Test Data Management Tool​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   Email &amp;Teams Notifications​</a:t>
            </a:r>
          </a:p>
          <a:p>
            <a:pPr marL="171450" indent="-171450">
              <a:buFont typeface="Calibri" panose="020B0604020202020204" pitchFamily="34" charset="0"/>
              <a:buChar char="•"/>
            </a:pPr>
            <a:r>
              <a:rPr lang="en-US" sz="1500" b="1" dirty="0">
                <a:solidFill>
                  <a:srgbClr val="334155"/>
                </a:solidFill>
                <a:latin typeface="Calibri"/>
                <a:cs typeface="Calibri"/>
              </a:rPr>
              <a:t>   Flaky Test Detection ​</a:t>
            </a:r>
          </a:p>
          <a:p>
            <a:pPr algn="ctr"/>
            <a:endParaRPr lang="en-US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0160280E-DB53-16A6-5204-13A139E46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574716"/>
              </p:ext>
            </p:extLst>
          </p:nvPr>
        </p:nvGraphicFramePr>
        <p:xfrm>
          <a:off x="789785" y="5697505"/>
          <a:ext cx="10604378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62">
                  <a:extLst>
                    <a:ext uri="{9D8B030D-6E8A-4147-A177-3AD203B41FA5}">
                      <a16:colId xmlns:a16="http://schemas.microsoft.com/office/drawing/2014/main" val="257991179"/>
                    </a:ext>
                  </a:extLst>
                </a:gridCol>
                <a:gridCol w="1468861">
                  <a:extLst>
                    <a:ext uri="{9D8B030D-6E8A-4147-A177-3AD203B41FA5}">
                      <a16:colId xmlns:a16="http://schemas.microsoft.com/office/drawing/2014/main" val="3737988962"/>
                    </a:ext>
                  </a:extLst>
                </a:gridCol>
                <a:gridCol w="1514912">
                  <a:extLst>
                    <a:ext uri="{9D8B030D-6E8A-4147-A177-3AD203B41FA5}">
                      <a16:colId xmlns:a16="http://schemas.microsoft.com/office/drawing/2014/main" val="3234516299"/>
                    </a:ext>
                  </a:extLst>
                </a:gridCol>
                <a:gridCol w="1305066">
                  <a:extLst>
                    <a:ext uri="{9D8B030D-6E8A-4147-A177-3AD203B41FA5}">
                      <a16:colId xmlns:a16="http://schemas.microsoft.com/office/drawing/2014/main" val="64408704"/>
                    </a:ext>
                  </a:extLst>
                </a:gridCol>
                <a:gridCol w="1317858">
                  <a:extLst>
                    <a:ext uri="{9D8B030D-6E8A-4147-A177-3AD203B41FA5}">
                      <a16:colId xmlns:a16="http://schemas.microsoft.com/office/drawing/2014/main" val="2113656067"/>
                    </a:ext>
                  </a:extLst>
                </a:gridCol>
                <a:gridCol w="2123932">
                  <a:extLst>
                    <a:ext uri="{9D8B030D-6E8A-4147-A177-3AD203B41FA5}">
                      <a16:colId xmlns:a16="http://schemas.microsoft.com/office/drawing/2014/main" val="3742892743"/>
                    </a:ext>
                  </a:extLst>
                </a:gridCol>
                <a:gridCol w="1312787">
                  <a:extLst>
                    <a:ext uri="{9D8B030D-6E8A-4147-A177-3AD203B41FA5}">
                      <a16:colId xmlns:a16="http://schemas.microsoft.com/office/drawing/2014/main" val="4235273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kern="1200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UI</a:t>
                      </a: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endParaRPr lang="en-US" sz="1600" err="1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CI/CD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Reports    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Integrations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anchor="ctr">
                    <a:solidFill>
                      <a:srgbClr val="518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5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Angular, TypeScript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Node.js, Express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Jenkins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JUnit XML, Allure</a:t>
                      </a:r>
                      <a:endParaRPr lang="en-US" sz="160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Report Portal, SVN, Lambda Test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SQLite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2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F04572-779B-6134-91B7-E6C774B41335}"/>
              </a:ext>
            </a:extLst>
          </p:cNvPr>
          <p:cNvSpPr txBox="1"/>
          <p:nvPr/>
        </p:nvSpPr>
        <p:spPr>
          <a:xfrm>
            <a:off x="502073" y="1839017"/>
            <a:ext cx="635001" cy="657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▶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244D0-EA26-9882-3737-76F744AF8487}"/>
              </a:ext>
            </a:extLst>
          </p:cNvPr>
          <p:cNvSpPr txBox="1"/>
          <p:nvPr/>
        </p:nvSpPr>
        <p:spPr>
          <a:xfrm>
            <a:off x="571346" y="2656150"/>
            <a:ext cx="4964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▤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AD1A0-9BAF-37D9-15FF-3E9107BDC6B1}"/>
              </a:ext>
            </a:extLst>
          </p:cNvPr>
          <p:cNvSpPr txBox="1"/>
          <p:nvPr/>
        </p:nvSpPr>
        <p:spPr>
          <a:xfrm>
            <a:off x="513619" y="3830139"/>
            <a:ext cx="6119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◷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AFA1F-29FA-749F-A4D1-EEA68393879D}"/>
              </a:ext>
            </a:extLst>
          </p:cNvPr>
          <p:cNvSpPr txBox="1"/>
          <p:nvPr/>
        </p:nvSpPr>
        <p:spPr>
          <a:xfrm>
            <a:off x="542482" y="3224094"/>
            <a:ext cx="5541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>
                <a:solidFill>
                  <a:srgbClr val="FFFFFF"/>
                </a:solidFill>
                <a:latin typeface="Calibri"/>
                <a:cs typeface="Calibri"/>
              </a:rPr>
              <a:t>▦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9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 dirty="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Calibri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Automated validation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variables using Playwright across end-to-end user journeys.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Dynamic comparison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values against UI data, business rules, and expected behavior.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1800" b="1" kern="0" spc="20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DATA LAYER VALIDATION</a:t>
            </a:r>
            <a:endParaRPr lang="en-US" sz="1800" b="1" kern="0" spc="200" dirty="0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endParaRPr lang="en-US" sz="1800" b="1" kern="0" spc="200" dirty="0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6000" y="1005155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1800" b="1" i="0" u="none" strike="noStrike" baseline="0" dirty="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REGRESSION SUITE — SPRINT 26.16 </a:t>
            </a:r>
            <a:r>
              <a:rPr lang="en-US" sz="1800" b="1" i="0" u="none" strike="noStrike" baseline="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/26.17</a:t>
            </a:r>
            <a:r>
              <a:rPr lang="en-US" sz="18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1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scripting completed in Sprint 26.16 for 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AT and Loft — both Desktop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and Mobile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Web.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24466E"/>
                </a:solidFill>
                <a:ea typeface="Calibri"/>
                <a:cs typeface="Calibri"/>
              </a:rPr>
              <a:t>84–85% 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Report shared with the Everest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team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for approval on </a:t>
            </a:r>
            <a:r>
              <a:rPr lang="en-US" sz="1600" b="1" dirty="0">
                <a:solidFill>
                  <a:srgbClr val="1E3A5C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Calibri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1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509813" y="290000"/>
            <a:ext cx="11172375" cy="900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ctr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solidFill>
                  <a:schemeClr val="tx1"/>
                </a:solidFill>
                <a:latin typeface="Calibri"/>
                <a:cs typeface="Calibri"/>
              </a:rPr>
              <a:t>PLANNED ACTIVITIES – AUTOMATION TEAM</a:t>
            </a:r>
          </a:p>
          <a:p>
            <a:pPr algn="ctr"/>
            <a:endParaRPr lang="en-US" sz="3200" b="1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 dirty="0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/>
            <a:endParaRPr lang="en-US" sz="1800" b="1" dirty="0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is built on selenium/java to be migrated to playwright/typescript(AFTA FRAMEWORK)</a:t>
            </a:r>
            <a:b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</a:b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Execution will be based on priority based testcases.</a:t>
            </a:r>
            <a:br>
              <a:rPr lang="en-US" sz="1600" dirty="0">
                <a:latin typeface="Calibri"/>
                <a:ea typeface="Calibri"/>
                <a:cs typeface="Calibri"/>
              </a:rPr>
            </a:br>
            <a:br>
              <a:rPr lang="en-US" sz="1600" dirty="0">
                <a:latin typeface="Calibri"/>
                <a:ea typeface="Calibri"/>
                <a:cs typeface="Calibri"/>
              </a:rPr>
            </a:b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CHICOS SHADOWING/MAINTAINANCE</a:t>
            </a:r>
          </a:p>
          <a:p>
            <a:pPr algn="ctr"/>
            <a:endParaRPr lang="en-US" sz="1800" b="1" dirty="0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Framework analysis is currently underway, with shadowing of the Chicos suites scheduled to begin shortly.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244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1800" b="1">
                <a:solidFill>
                  <a:srgbClr val="24466E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/>
            <a:endParaRPr lang="en-US" sz="1000" b="1" dirty="0">
              <a:solidFill>
                <a:srgbClr val="24466E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Implementation of multiple user login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User scheduling history with timestamp</a:t>
            </a:r>
          </a:p>
          <a:p>
            <a:pPr marL="285750" indent="-285750" algn="l">
              <a:buFont typeface="Calibri" panose="020B0604020202020204" pitchFamily="34" charset="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AI-powered test summaries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hankYou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  <p:sp>
        <p:nvSpPr>
          <p:cNvPr id="710" name="TY Sub"/>
          <p:cNvSpPr txBox="1"/>
          <p:nvPr/>
        </p:nvSpPr>
        <p:spPr>
          <a:xfrm>
            <a:off x="1525712" y="4520000"/>
            <a:ext cx="9142288" cy="45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1">
                <a:solidFill>
                  <a:srgbClr val="24466E"/>
                </a:solidFill>
                <a:latin typeface="Calibri"/>
                <a:cs typeface="Calibri"/>
              </a:rPr>
              <a:t>Questions &amp; Discussion</a:t>
            </a:r>
          </a:p>
        </p:txBody>
      </p:sp>
      <p:sp>
        <p:nvSpPr>
          <p:cNvPr id="711" name="TY Contact"/>
          <p:cNvSpPr txBox="1"/>
          <p:nvPr/>
        </p:nvSpPr>
        <p:spPr>
          <a:xfrm>
            <a:off x="1525712" y="5080000"/>
            <a:ext cx="9142288" cy="4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>
                <a:solidFill>
                  <a:srgbClr val="64748B"/>
                </a:solidFill>
                <a:latin typeface="Calibri"/>
                <a:cs typeface="Calibri"/>
              </a:rPr>
              <a:t>Automation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5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1106</Words>
  <Application>Microsoft Office PowerPoint</Application>
  <PresentationFormat>Widescreen</PresentationFormat>
  <Paragraphs>176</Paragraphs>
  <Slides>19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 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poeyahmozhi tholkappian</cp:lastModifiedBy>
  <cp:revision>626</cp:revision>
  <dcterms:created xsi:type="dcterms:W3CDTF">2026-06-17T07:36:54Z</dcterms:created>
  <dcterms:modified xsi:type="dcterms:W3CDTF">2026-06-18T04:07:04Z</dcterms:modified>
</cp:coreProperties>
</file>