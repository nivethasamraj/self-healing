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147481700" r:id="rId2"/>
    <p:sldId id="2147481710" r:id="rId3"/>
    <p:sldId id="2147481714" r:id="rId4"/>
    <p:sldId id="2147481715" r:id="rId5"/>
    <p:sldId id="2147481711" r:id="rId6"/>
    <p:sldId id="2147481688" r:id="rId7"/>
    <p:sldId id="2147481712" r:id="rId8"/>
    <p:sldId id="2147481685" r:id="rId9"/>
    <p:sldId id="2147481686" r:id="rId10"/>
    <p:sldId id="2147481713" r:id="rId11"/>
    <p:sldId id="256" r:id="rId12"/>
    <p:sldId id="258" r:id="rId13"/>
    <p:sldId id="2147481720" r:id="rId14"/>
    <p:sldId id="259" r:id="rId15"/>
    <p:sldId id="547" r:id="rId16"/>
    <p:sldId id="257" r:id="rId17"/>
    <p:sldId id="548" r:id="rId18"/>
    <p:sldId id="2147481689" r:id="rId19"/>
    <p:sldId id="214748170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645BBBD-947A-7C72-9DBC-22B83B255327}" v="125" dt="2026-06-17T13:42:19.524"/>
    <p1510:client id="{B7263528-15EF-B1DA-ED32-01E89E2FDEFB}" v="4" dt="2026-06-17T10:16:06.111"/>
    <p1510:client id="{FCD48506-F5B4-4785-CBCD-152FACEC2516}" v="24" dt="2026-06-18T04:05:41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35841" y="2050000"/>
            <a:ext cx="8949440" cy="31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>
                <a:latin typeface="+mj-lt"/>
                <a:ea typeface="+mj-ea"/>
                <a:cs typeface="+mj-cs"/>
              </a:rPr>
              <a:t>AUTOMATION</a:t>
            </a:r>
            <a:r>
              <a:rPr lang="en-US" sz="5200" b="1" kern="1200">
                <a:latin typeface="+mj-lt"/>
                <a:ea typeface="+mj-ea"/>
                <a:cs typeface="+mj-cs"/>
              </a:rPr>
              <a:t> </a:t>
            </a:r>
            <a:r>
              <a:rPr lang="en-US" sz="5200" b="1" kern="1200" dirty="0">
                <a:latin typeface="+mj-lt"/>
                <a:ea typeface="+mj-ea"/>
                <a:cs typeface="+mj-cs"/>
              </a:rPr>
              <a:t>ASSESSMENT &amp; ROADMAP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733806" y="4350000"/>
            <a:ext cx="8337135" cy="3180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070F1C"/>
                </a:solidFill>
                <a:latin typeface="+mn-lt"/>
                <a:ea typeface="+mn-ea"/>
                <a:cs typeface="+mn-cs"/>
              </a:rPr>
              <a:t>Assessing </a:t>
            </a:r>
            <a:r>
              <a:rPr lang="en-US" sz="2000" dirty="0">
                <a:solidFill>
                  <a:srgbClr val="070F1C"/>
                </a:solidFill>
              </a:rPr>
              <a:t>current</a:t>
            </a:r>
            <a:r>
              <a:rPr lang="en-US" sz="2000" kern="1200" dirty="0">
                <a:solidFill>
                  <a:srgbClr val="070F1C"/>
                </a:solidFill>
                <a:latin typeface="+mn-lt"/>
                <a:ea typeface="+mn-ea"/>
                <a:cs typeface="+mn-cs"/>
              </a:rPr>
              <a:t> automation landscape and charting the path to a unified, AI-powered framework.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217" y="300000"/>
            <a:ext cx="958087" cy="112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3A1D5C"/>
                </a:solidFill>
              </a:rPr>
              <a:t>Challenges in the Current Framework Landscape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6B3FA0"/>
                </a:solidFill>
              </a:rPr>
              <a:t>Our research shows the current framework has significant drawbacks — a strong case for moving to a unified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51093" y="1067557"/>
            <a:ext cx="10120191" cy="1140124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Multiple Frameworks Across Applications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E4D9F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Different implementations and standards across projects (BDD, TestNG, etc.).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E4D9F2"/>
          </a:solidFill>
          <a:ln w="12700">
            <a:solidFill>
              <a:srgbClr val="E4D9F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089784" y="2389328"/>
            <a:ext cx="10269405" cy="113508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E4D9F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Obsolete and Redundant Components</a:t>
            </a:r>
            <a:endParaRPr lang="en-US" dirty="0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Some suites and utilities are no longer actively maintained, and deprecated test cases continue to exist in execution suites.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Fragmented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Business logic, element interactions, and utilities are distributed across multiple layers, increasing complexity.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24244" y="5133180"/>
            <a:ext cx="9865611" cy="1097280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27452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High Maintenance Effort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Frequent locator updates increase maintenance overhead.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70" name="Contd"/>
          <p:cNvSpPr txBox="1"/>
          <p:nvPr/>
        </p:nvSpPr>
        <p:spPr>
          <a:xfrm>
            <a:off x="4671889" y="6396862"/>
            <a:ext cx="11172375" cy="5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800" b="1" i="1" dirty="0">
                <a:solidFill>
                  <a:srgbClr val="64748B"/>
                </a:solidFill>
                <a:latin typeface="Calibri"/>
                <a:cs typeface="Calibri"/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389184" y="1146541"/>
            <a:ext cx="9982099" cy="106113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Inconsistent Test Data Management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E4D9F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Multiple test data sources and synchronization issues impact test reliability.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E4D9F2"/>
          </a:solidFill>
          <a:ln w="12700">
            <a:solidFill>
              <a:srgbClr val="E4D9F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E4D9F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Limited Test Traceability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Test cases are not functionally grouped, making maintenance and impact analysis difficult.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Insufficient Validation and Visibility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Limited step-level verification and debugging capabilities.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89184" y="5133180"/>
            <a:ext cx="9800672" cy="1097280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34420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Lack of AI Adoption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No AI-assisted failure analysis, test insights, or intelligent reporting.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3A1D5C"/>
                </a:solidFill>
              </a:rPr>
              <a:t>Why Aspire Unified Framework (AFTA)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6B3FA0"/>
                </a:solidFill>
              </a:rPr>
              <a:t>Here is why a single, AI-powered framework across all brands is the right way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81079" y="1005031"/>
            <a:ext cx="9908777" cy="120264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E4D9F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4677" y="1373578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Auto 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Report Portal-Powered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E4D9F2"/>
          </a:solidFill>
          <a:ln w="12700">
            <a:solidFill>
              <a:srgbClr val="E4D9F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86477"/>
            <a:ext cx="9938763" cy="1037939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E4D9F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Orpos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9" y="3708430"/>
            <a:ext cx="9917728" cy="1166906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4EF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3578" y="5247207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3A1D5C"/>
                </a:solidFill>
              </a:rPr>
              <a:t>Auto POM – Intelligent Locator &amp; AI Fallback Strategy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6B3FA0"/>
                </a:solidFill>
              </a:rPr>
              <a:t>How intelligent, multi-level locator generation with AI fallback makes automation faster and far easier to maintain.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izValue"/>
          <p:cNvSpPr txBox="1"/>
          <p:nvPr/>
        </p:nvSpPr>
        <p:spPr>
          <a:xfrm>
            <a:off x="900000" y="360000"/>
            <a:ext cx="9500000" cy="7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6B3FA0"/>
                </a:solidFill>
                <a:latin typeface="Calibri"/>
                <a:cs typeface="Calibri"/>
              </a:rPr>
              <a:t>Business Value :</a:t>
            </a:r>
            <a:br>
              <a:rPr lang="en-US" sz="1600" b="1" dirty="0">
                <a:solidFill>
                  <a:srgbClr val="6B3FA0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rgbClr val="6B3FA0"/>
                </a:solidFill>
                <a:latin typeface="Calibri"/>
                <a:cs typeface="Calibri"/>
              </a:rPr>
              <a:t>Auto POM is a Chrome extension that creates production-ready Page functions — eliminating manual locator management and reducing script failures.</a:t>
            </a:r>
          </a:p>
        </p:txBody>
      </p:sp>
      <p:sp>
        <p:nvSpPr>
          <p:cNvPr id="850" name="Bullets BG"/>
          <p:cNvSpPr/>
          <p:nvPr/>
        </p:nvSpPr>
        <p:spPr>
          <a:xfrm>
            <a:off x="520000" y="1140000"/>
            <a:ext cx="10868774" cy="1505000"/>
          </a:xfrm>
          <a:prstGeom prst="roundRect">
            <a:avLst>
              <a:gd name="adj" fmla="val 6000"/>
            </a:avLst>
          </a:prstGeom>
          <a:solidFill>
            <a:srgbClr val="F4EF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ullets"/>
          <p:cNvSpPr txBox="1"/>
          <p:nvPr/>
        </p:nvSpPr>
        <p:spPr>
          <a:xfrm>
            <a:off x="700000" y="1300000"/>
            <a:ext cx="10508774" cy="1185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285750">
              <a:buFont typeface="Calibri"/>
              <a:buChar char="•"/>
            </a:pPr>
            <a:r>
              <a:rPr lang="en-US" sz="1600" b="1" dirty="0">
                <a:solidFill>
                  <a:srgbClr val="5E3A8C"/>
                </a:solidFill>
                <a:latin typeface="Calibri"/>
                <a:cs typeface="Calibri"/>
              </a:rPr>
              <a:t>Objective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Generate robust, maintainable POM locators and automation-ready code via a multi-level fallback strategy with AI assistance.</a:t>
            </a:r>
          </a:p>
          <a:p>
            <a:pPr marL="285750" indent="-285750">
              <a:spcBef>
                <a:spcPts val="800"/>
              </a:spcBef>
              <a:buFont typeface="Calibri"/>
              <a:buChar char="•"/>
            </a:pPr>
            <a:r>
              <a:rPr lang="en-US" sz="1600" b="1" dirty="0">
                <a:solidFill>
                  <a:srgbClr val="5E3A8C"/>
                </a:solidFill>
                <a:latin typeface="Calibri"/>
                <a:cs typeface="Calibri"/>
              </a:rPr>
              <a:t>Key Benefits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Less manual effort, higher locator reliability, faster automation, and production-ready POM code.</a:t>
            </a:r>
          </a:p>
        </p:txBody>
      </p:sp>
      <p:sp>
        <p:nvSpPr>
          <p:cNvPr id="104" name="FlowLabel"/>
          <p:cNvSpPr txBox="1"/>
          <p:nvPr/>
        </p:nvSpPr>
        <p:spPr>
          <a:xfrm>
            <a:off x="700000" y="3180000"/>
            <a:ext cx="10792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spc="200" dirty="0">
                <a:solidFill>
                  <a:srgbClr val="0E7C7B"/>
                </a:solidFill>
                <a:latin typeface="Calibri"/>
                <a:cs typeface="Calibri"/>
              </a:rPr>
              <a:t>CORE MECHANISM OF AUTOPOM</a:t>
            </a:r>
          </a:p>
        </p:txBody>
      </p:sp>
      <p:sp>
        <p:nvSpPr>
          <p:cNvPr id="105" name="FlowCard1"/>
          <p:cNvSpPr/>
          <p:nvPr/>
        </p:nvSpPr>
        <p:spPr>
          <a:xfrm>
            <a:off x="7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1E2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Num1"/>
          <p:cNvSpPr/>
          <p:nvPr/>
        </p:nvSpPr>
        <p:spPr>
          <a:xfrm>
            <a:off x="2886000" y="3315000"/>
            <a:ext cx="620000" cy="62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FlowTitle1"/>
          <p:cNvSpPr txBox="1"/>
          <p:nvPr/>
        </p:nvSpPr>
        <p:spPr>
          <a:xfrm>
            <a:off x="911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E293B"/>
                </a:solidFill>
                <a:latin typeface="Calibri"/>
                <a:cs typeface="Calibri"/>
              </a:rPr>
              <a:t>Locator Priority</a:t>
            </a:r>
          </a:p>
        </p:txBody>
      </p:sp>
      <p:sp>
        <p:nvSpPr>
          <p:cNvPr id="108" name="FlowDesc1"/>
          <p:cNvSpPr txBox="1"/>
          <p:nvPr/>
        </p:nvSpPr>
        <p:spPr>
          <a:xfrm>
            <a:off x="10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Prioritizes ID, Name, Data &amp; Accessibility attributes, CSS selectors, then XPath — resolving the most reliable locator before any AI is invoked.</a:t>
            </a:r>
          </a:p>
        </p:txBody>
      </p:sp>
      <p:sp>
        <p:nvSpPr>
          <p:cNvPr id="109" name="FlowCard2"/>
          <p:cNvSpPr/>
          <p:nvPr/>
        </p:nvSpPr>
        <p:spPr>
          <a:xfrm>
            <a:off x="65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C282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Num2"/>
          <p:cNvSpPr/>
          <p:nvPr/>
        </p:nvSpPr>
        <p:spPr>
          <a:xfrm>
            <a:off x="8709000" y="3355000"/>
            <a:ext cx="620000" cy="620000"/>
          </a:xfrm>
          <a:prstGeom prst="ellipse">
            <a:avLst/>
          </a:prstGeom>
          <a:solidFill>
            <a:srgbClr val="C2820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1" name="FlowTitle2"/>
          <p:cNvSpPr txBox="1"/>
          <p:nvPr/>
        </p:nvSpPr>
        <p:spPr>
          <a:xfrm>
            <a:off x="6696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2820B"/>
                </a:solidFill>
                <a:latin typeface="Calibri"/>
                <a:cs typeface="Calibri"/>
              </a:rPr>
              <a:t>AI Fallback</a:t>
            </a:r>
          </a:p>
        </p:txBody>
      </p:sp>
      <p:sp>
        <p:nvSpPr>
          <p:cNvPr id="112" name="FlowDesc2"/>
          <p:cNvSpPr txBox="1"/>
          <p:nvPr/>
        </p:nvSpPr>
        <p:spPr>
          <a:xfrm>
            <a:off x="68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When deterministic strategies fail or score low-confidence, AI reads the DOM, element attributes &amp; surrounding context to propose stable, maintainable locators.</a:t>
            </a:r>
          </a:p>
        </p:txBody>
      </p:sp>
      <p:sp>
        <p:nvSpPr>
          <p:cNvPr id="113" name="FlowArrow"/>
          <p:cNvSpPr/>
          <p:nvPr/>
        </p:nvSpPr>
        <p:spPr>
          <a:xfrm>
            <a:off x="5786000" y="4925000"/>
            <a:ext cx="620000" cy="24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00" name="Brai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00" y="4170000"/>
            <a:ext cx="540000" cy="540000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51F10AF3-7EFD-0B96-3D86-10E73AC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72" y="4046536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438105" y="1127659"/>
            <a:ext cx="11553895" cy="5670451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813" y="290000"/>
            <a:ext cx="11172375" cy="468526"/>
          </a:xfr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AUTO POM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3A1D5C"/>
                </a:solidFill>
              </a:rPr>
              <a:t>Self Healing – Test Automation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6B3FA0"/>
                </a:solidFill>
              </a:rPr>
              <a:t>A self-correcting suite that recovers from UI changes on its own, cutting flakiness and manual upkeep.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ointers BG"/>
          <p:cNvSpPr/>
          <p:nvPr/>
        </p:nvSpPr>
        <p:spPr>
          <a:xfrm>
            <a:off x="470000" y="1990672"/>
            <a:ext cx="5550000" cy="2200000"/>
          </a:xfrm>
          <a:prstGeom prst="roundRect">
            <a:avLst>
              <a:gd name="adj" fmla="val 5000"/>
            </a:avLst>
          </a:prstGeom>
          <a:solidFill>
            <a:srgbClr val="F4EF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 dirty="0">
              <a:solidFill>
                <a:srgbClr val="6B3FA0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5E3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3976" y="1106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 · Chrome Extension</a:t>
            </a:r>
            <a:endParaRPr lang="en-US" sz="1700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5E3A8C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E9E0F5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3A8C"/>
                </a:solidFill>
                <a:latin typeface="Calibri"/>
                <a:ea typeface="Calibri" pitchFamily="34" charset="-122"/>
                <a:cs typeface="Calibri"/>
              </a:rPr>
              <a:t>DB Primary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700" b="1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7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822" y="502005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3A8C"/>
                </a:solidFill>
                <a:latin typeface="Calibri"/>
                <a:ea typeface="Calibri" pitchFamily="34" charset="-122"/>
                <a:cs typeface="Calibri"/>
              </a:rPr>
              <a:t> Smart Locators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role 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 → text 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7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700" b="1" dirty="0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3A8C"/>
                </a:solidFill>
                <a:latin typeface="Calibri"/>
                <a:ea typeface="Calibri" pitchFamily="34" charset="-122"/>
                <a:cs typeface="Calibri"/>
              </a:rPr>
              <a:t>  AI Healing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context, confidence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-gated</a:t>
            </a:r>
            <a:endParaRPr lang="en-US" sz="17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94360" y="180771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5E3A8C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893921" y="57035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6B3FA0"/>
                </a:solidFill>
                <a:latin typeface="Calibri"/>
                <a:ea typeface="Calibri"/>
              </a:rPr>
              <a:t>Business value – Fixing flaky tests on its own – Less maintenance - Faster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477012" y="950000"/>
            <a:ext cx="6808191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5E3A8C"/>
              </a:solidFill>
              <a:latin typeface="Calibri"/>
              <a:ea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5E3A8C"/>
              </a:solidFill>
              <a:latin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37012" y="916923"/>
            <a:ext cx="6488191" cy="5783077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SELF HEALING ARCHITECTURE</a:t>
            </a:r>
            <a:b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</a:b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3A1D5C"/>
                </a:solidFill>
              </a:rPr>
              <a:t>Image Based Automation Tool – Visor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6B3FA0"/>
                </a:solidFill>
              </a:rPr>
              <a:t>Visual automation framework that combines OpenCV image matching, OCR, and input control into one Node.js package — enabling automation of Windows applications without DOM or browser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d Title"/>
          <p:cNvSpPr txBox="1"/>
          <p:nvPr/>
        </p:nvSpPr>
        <p:spPr>
          <a:xfrm>
            <a:off x="509813" y="200000"/>
            <a:ext cx="11172375" cy="64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IMAGE BASED AUTOMATION TOOL – VISOR</a:t>
            </a:r>
          </a:p>
        </p:txBody>
      </p:sp>
      <p:sp>
        <p:nvSpPr>
          <p:cNvPr id="203" name="KeyFeaturesLabel"/>
          <p:cNvSpPr txBox="1"/>
          <p:nvPr/>
        </p:nvSpPr>
        <p:spPr>
          <a:xfrm>
            <a:off x="900000" y="1550000"/>
            <a:ext cx="10392000" cy="3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spc="200">
                <a:solidFill>
                  <a:srgbClr val="6B3FA0"/>
                </a:solidFill>
                <a:latin typeface="Calibri"/>
                <a:cs typeface="Calibri"/>
              </a:rPr>
              <a:t>KEY FEATURES</a:t>
            </a:r>
          </a:p>
        </p:txBody>
      </p:sp>
      <p:sp>
        <p:nvSpPr>
          <p:cNvPr id="204" name="PNum1"/>
          <p:cNvSpPr/>
          <p:nvPr/>
        </p:nvSpPr>
        <p:spPr>
          <a:xfrm>
            <a:off x="1050000" y="215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5" name="PText1"/>
          <p:cNvSpPr txBox="1"/>
          <p:nvPr/>
        </p:nvSpPr>
        <p:spPr>
          <a:xfrm>
            <a:off x="1750000" y="215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E3A8C"/>
                </a:solidFill>
                <a:latin typeface="Calibri"/>
                <a:cs typeface="Calibri"/>
              </a:rPr>
              <a:t>Multi-scale image matching</a:t>
            </a:r>
          </a:p>
        </p:txBody>
      </p:sp>
      <p:sp>
        <p:nvSpPr>
          <p:cNvPr id="206" name="PNum2"/>
          <p:cNvSpPr/>
          <p:nvPr/>
        </p:nvSpPr>
        <p:spPr>
          <a:xfrm>
            <a:off x="1050000" y="287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7" name="PText2"/>
          <p:cNvSpPr txBox="1"/>
          <p:nvPr/>
        </p:nvSpPr>
        <p:spPr>
          <a:xfrm>
            <a:off x="1750000" y="287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E3A8C"/>
                </a:solidFill>
                <a:latin typeface="Calibri"/>
                <a:cs typeface="Calibri"/>
              </a:rPr>
              <a:t>Full-screen and region-based OCR</a:t>
            </a:r>
          </a:p>
        </p:txBody>
      </p:sp>
      <p:sp>
        <p:nvSpPr>
          <p:cNvPr id="208" name="PNum3"/>
          <p:cNvSpPr/>
          <p:nvPr/>
        </p:nvSpPr>
        <p:spPr>
          <a:xfrm>
            <a:off x="1050000" y="359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9" name="PText3"/>
          <p:cNvSpPr txBox="1"/>
          <p:nvPr/>
        </p:nvSpPr>
        <p:spPr>
          <a:xfrm>
            <a:off x="1750000" y="359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E3A8C"/>
                </a:solidFill>
                <a:latin typeface="Calibri"/>
                <a:cs typeface="Calibri"/>
              </a:rPr>
              <a:t>Automated mouse and keyboard input</a:t>
            </a:r>
          </a:p>
        </p:txBody>
      </p:sp>
      <p:sp>
        <p:nvSpPr>
          <p:cNvPr id="210" name="PNum4"/>
          <p:cNvSpPr/>
          <p:nvPr/>
        </p:nvSpPr>
        <p:spPr>
          <a:xfrm>
            <a:off x="1050000" y="431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1" name="PText4"/>
          <p:cNvSpPr txBox="1"/>
          <p:nvPr/>
        </p:nvSpPr>
        <p:spPr>
          <a:xfrm>
            <a:off x="1750000" y="431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E3A8C"/>
                </a:solidFill>
                <a:latin typeface="Calibri"/>
                <a:cs typeface="Calibri"/>
              </a:rPr>
              <a:t>Barcode scanning</a:t>
            </a:r>
          </a:p>
        </p:txBody>
      </p:sp>
      <p:sp>
        <p:nvSpPr>
          <p:cNvPr id="212" name="PNum5"/>
          <p:cNvSpPr/>
          <p:nvPr/>
        </p:nvSpPr>
        <p:spPr>
          <a:xfrm>
            <a:off x="1050000" y="503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3" name="PText5"/>
          <p:cNvSpPr txBox="1"/>
          <p:nvPr/>
        </p:nvSpPr>
        <p:spPr>
          <a:xfrm>
            <a:off x="1750000" y="503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E3A8C"/>
                </a:solidFill>
                <a:latin typeface="Calibri"/>
                <a:cs typeface="Calibri"/>
              </a:rPr>
              <a:t>Built-in display scaling detection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960" name="Page Number"/>
          <p:cNvSpPr txBox="1"/>
          <p:nvPr/>
        </p:nvSpPr>
        <p:spPr>
          <a:xfrm>
            <a:off x="11500000" y="6420000"/>
            <a:ext cx="500000" cy="3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endParaRPr lang="en-US" sz="1000" dirty="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AAE73F4-B00F-F35E-6B47-5E4DD203674C}"/>
              </a:ext>
            </a:extLst>
          </p:cNvPr>
          <p:cNvSpPr/>
          <p:nvPr/>
        </p:nvSpPr>
        <p:spPr>
          <a:xfrm>
            <a:off x="6101600" y="1939876"/>
            <a:ext cx="5734050" cy="1512908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E9E0F5"/>
            </a:solidFill>
            <a:prstDash val="solid"/>
          </a:ln>
        </p:spPr>
        <p:txBody>
          <a:bodyPr/>
          <a:lstStyle/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Install via npm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Run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npm install@aspiresys/visor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Launch it with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npx visor-inspector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`.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00000" y="950000"/>
            <a:ext cx="10731505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Calibri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" y="1030331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VISOR ARCHITECTURE</a:t>
            </a: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6B3FA0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AFTA DASHBOARD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 dirty="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400" b="1" dirty="0">
              <a:solidFill>
                <a:srgbClr val="5E3A8C"/>
              </a:solidFill>
              <a:latin typeface="Calibri"/>
              <a:ea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601556" y="88839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6B3FA0"/>
                </a:solidFill>
                <a:latin typeface="Calibri"/>
                <a:ea typeface="Calibri"/>
              </a:rPr>
              <a:t>Unified Test Automation Platform for Execution, Reporting and Analytics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5E3A8C"/>
              </a:solidFill>
              <a:latin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6B3FA0"/>
                </a:solidFill>
                <a:latin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5E3A8C"/>
              </a:solidFill>
              <a:latin typeface="Calibri"/>
              <a:cs typeface="Calibri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5E3A8C"/>
              </a:solidFill>
              <a:latin typeface="Calibri"/>
              <a:cs typeface="Calibri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1217083" y="155749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B3FA0"/>
                </a:solidFill>
                <a:latin typeface="Calibri"/>
                <a:ea typeface="Calibri"/>
              </a:rPr>
              <a:t>Features in AFTA</a:t>
            </a:r>
            <a:endParaRPr lang="en-US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90974" y="1869355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217083" y="195165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Runner</a:t>
            </a:r>
            <a:endParaRPr lang="en-US" dirty="0">
              <a:latin typeface="Calibri" panose="020B0004020202020204"/>
              <a:cs typeface="Calibri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217083" y="22760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/>
                <a:cs typeface="Calibri"/>
              </a:rPr>
              <a:t>Execute and monitor test suites with build history and report access</a:t>
            </a:r>
            <a:endParaRPr lang="en-US" dirty="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90974" y="2680715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217083" y="276301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Data Generator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217083" y="294978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Generate reusable test data for faster execution.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590974" y="3248659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217083" y="3330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5E3A8C"/>
                </a:solidFill>
                <a:latin typeface="Calibri"/>
                <a:cs typeface="Calibri"/>
              </a:rPr>
              <a:t>Reports</a:t>
            </a:r>
            <a:endParaRPr 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217083" y="347539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Centralized insights into execution results and trends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452362" y="1806828"/>
            <a:ext cx="5480050" cy="1089575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E9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69" y="191506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7083251" y="196008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7066407" y="217770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Calibri"/>
                <a:cs typeface="Calibri"/>
              </a:rPr>
              <a:t>Implementation of multiple user login and User scheduling history with timestamp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452362" y="3549974"/>
            <a:ext cx="5480049" cy="1184826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28" y="3577921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82289" y="362137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6958541" y="396196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AI-Powered Test Summaries 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AI-Based Failure Analysis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Root Cause Suggestions </a:t>
            </a:r>
          </a:p>
          <a:p>
            <a:pPr marL="171450" indent="-171450">
              <a:lnSpc>
                <a:spcPct val="105000"/>
              </a:lnSpc>
              <a:buFont typeface="Calibri" panose="020B0604020202020204" pitchFamily="34" charset="0"/>
              <a:buChar char="•"/>
            </a:pPr>
            <a:endParaRPr lang="en-US" sz="1500" b="1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590974" y="3854704"/>
            <a:ext cx="457200" cy="457200"/>
          </a:xfrm>
          <a:prstGeom prst="ellipse">
            <a:avLst/>
          </a:prstGeom>
          <a:solidFill>
            <a:srgbClr val="4A287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90083" y="3937000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Scheduler </a:t>
            </a:r>
            <a:endParaRPr lang="en-US" sz="1600" b="1">
              <a:latin typeface="Calibri"/>
              <a:cs typeface="Calibri"/>
            </a:endParaRPr>
          </a:p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Automate recurring and parameterized test executions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318322" y="385706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Test Data Management Tool​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Email &amp;Teams Notifications​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Flaky Test Detection ​</a:t>
            </a:r>
          </a:p>
          <a:p>
            <a:pPr algn="ctr"/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74716"/>
              </p:ext>
            </p:extLst>
          </p:nvPr>
        </p:nvGraphicFramePr>
        <p:xfrm>
          <a:off x="789785" y="5697505"/>
          <a:ext cx="10604378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endParaRPr lang="en-US" sz="1600" err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Reports    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Integrations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916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Angular, TypeScript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Node.js, Express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Jenkins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JUnit XML, Allure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 Portal, SVN, Lambda Test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502073" y="1839017"/>
            <a:ext cx="635001" cy="657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▶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71346" y="2656150"/>
            <a:ext cx="496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▤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513619" y="3830139"/>
            <a:ext cx="611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◷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42482" y="3224094"/>
            <a:ext cx="5541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▦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4EFFA"/>
          </a:solidFill>
          <a:ln w="12700">
            <a:solidFill>
              <a:srgbClr val="6B3FA0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 dirty="0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4EFFA"/>
          </a:solidFill>
          <a:ln w="12700">
            <a:solidFill>
              <a:srgbClr val="6B3FA0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1800" b="1" kern="0" spc="200" dirty="0">
              <a:solidFill>
                <a:srgbClr val="6B3FA0"/>
              </a:solidFill>
              <a:latin typeface="Calibri"/>
              <a:ea typeface="Calibri"/>
              <a:cs typeface="Calibri"/>
            </a:endParaRPr>
          </a:p>
          <a:p>
            <a:endParaRPr lang="en-US" sz="1800" b="1" kern="0" spc="200" dirty="0">
              <a:solidFill>
                <a:srgbClr val="6B3F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6000" y="1005155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4EFFA"/>
          </a:solidFill>
          <a:ln w="12700">
            <a:solidFill>
              <a:srgbClr val="6B3FA0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1800" b="1" i="0" u="none" strike="noStrike" baseline="0" dirty="0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REGRESSION SUITE — SPRINT 26.16 </a:t>
            </a:r>
            <a:r>
              <a:rPr lang="en-US" sz="1800" b="1" i="0" u="none" strike="noStrike" baseline="0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/26.17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 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6B3FA0"/>
                </a:solidFill>
                <a:ea typeface="Calibri"/>
                <a:cs typeface="Calibri"/>
              </a:rPr>
              <a:t>84–85% 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for approval on </a:t>
            </a:r>
            <a:r>
              <a:rPr lang="en-US" sz="1600" b="1" dirty="0">
                <a:solidFill>
                  <a:srgbClr val="5E3A8C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6B3F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6B3F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 dirty="0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1800" b="1" dirty="0">
              <a:solidFill>
                <a:srgbClr val="6B3FA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playwright/typescript(AFTA FRAMEWORK)</a:t>
            </a:r>
            <a:b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600" dirty="0">
                <a:latin typeface="Calibri"/>
                <a:ea typeface="Calibri"/>
                <a:cs typeface="Calibri"/>
              </a:rPr>
            </a:br>
            <a:br>
              <a:rPr lang="en-US" sz="1600" dirty="0">
                <a:latin typeface="Calibri"/>
                <a:ea typeface="Calibri"/>
                <a:cs typeface="Calibri"/>
              </a:rPr>
            </a:b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6B3F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/>
            <a:endParaRPr lang="en-US" sz="1800" b="1" dirty="0">
              <a:solidFill>
                <a:srgbClr val="6B3FA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Framework analysis is currently underway, with shadowing of the Chicos suites scheduled to begin shortly.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6B3FA0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/>
            <a:endParaRPr lang="en-US" sz="1000" b="1" dirty="0">
              <a:solidFill>
                <a:srgbClr val="6B3FA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Implementation of multiple user login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User scheduling history with timestamp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AI-powered test summaries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710" name="TY Sub"/>
          <p:cNvSpPr txBox="1"/>
          <p:nvPr/>
        </p:nvSpPr>
        <p:spPr>
          <a:xfrm>
            <a:off x="1525712" y="4520000"/>
            <a:ext cx="9142288" cy="4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6B3FA0"/>
                </a:solidFill>
                <a:latin typeface="Calibri"/>
                <a:cs typeface="Calibri"/>
              </a:rPr>
              <a:t>Questions &amp; Discussion</a:t>
            </a:r>
          </a:p>
        </p:txBody>
      </p:sp>
      <p:sp>
        <p:nvSpPr>
          <p:cNvPr id="711" name="TY Contact"/>
          <p:cNvSpPr txBox="1"/>
          <p:nvPr/>
        </p:nvSpPr>
        <p:spPr>
          <a:xfrm>
            <a:off x="1525712" y="5080000"/>
            <a:ext cx="9142288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>
                <a:solidFill>
                  <a:srgbClr val="64748B"/>
                </a:solidFill>
                <a:latin typeface="Calibri"/>
                <a:cs typeface="Calibri"/>
              </a:rPr>
              <a:t>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1106</Words>
  <Application>Microsoft Office PowerPoint</Application>
  <PresentationFormat>Widescreen</PresentationFormat>
  <Paragraphs>176</Paragraphs>
  <Slides>19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poeyahmozhi tholkappian</cp:lastModifiedBy>
  <cp:revision>626</cp:revision>
  <dcterms:created xsi:type="dcterms:W3CDTF">2026-06-17T07:36:54Z</dcterms:created>
  <dcterms:modified xsi:type="dcterms:W3CDTF">2026-06-18T04:07:04Z</dcterms:modified>
</cp:coreProperties>
</file>