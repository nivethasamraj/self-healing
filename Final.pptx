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147481700" r:id="rId2"/>
    <p:sldId id="2147481710" r:id="rId3"/>
    <p:sldId id="2147481714" r:id="rId4"/>
    <p:sldId id="2147481715" r:id="rId5"/>
    <p:sldId id="2147481711" r:id="rId6"/>
    <p:sldId id="2147481688" r:id="rId7"/>
    <p:sldId id="2147481712" r:id="rId8"/>
    <p:sldId id="2147481685" r:id="rId9"/>
    <p:sldId id="2147481686" r:id="rId10"/>
    <p:sldId id="2147481713" r:id="rId11"/>
    <p:sldId id="256" r:id="rId12"/>
    <p:sldId id="258" r:id="rId13"/>
    <p:sldId id="2147481720" r:id="rId14"/>
    <p:sldId id="259" r:id="rId15"/>
    <p:sldId id="547" r:id="rId16"/>
    <p:sldId id="257" r:id="rId17"/>
    <p:sldId id="548" r:id="rId18"/>
    <p:sldId id="2147481689" r:id="rId19"/>
    <p:sldId id="214748170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98810-69C9-14B1-48A4-690314317EE1}" v="1246" dt="2026-06-17T12:40:26.849"/>
    <p1510:client id="{B15EBFFE-349D-8C10-95E0-E424CBE9D32E}" v="165" dt="2026-06-17T10:31:27.693"/>
    <p1510:client id="{B645BBBD-947A-7C72-9DBC-22B83B255327}" v="125" dt="2026-06-17T13:42:19.524"/>
    <p1510:client id="{B7263528-15EF-B1DA-ED32-01E89E2FDEFB}" v="4" dt="2026-06-17T10:16:06.111"/>
    <p1510:client id="{FCD48506-F5B4-4785-CBCD-152FACEC2516}" v="24" dt="2026-06-18T04:05:41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1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6C11-E66C-A678-53C8-199576AF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5B1D7-E5C1-A8A2-D146-005C4705B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EE276-6D80-56F5-8422-B297E2E0E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AC62C-F3A6-80C3-E222-6AAACDFC3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89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Calibri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Calibri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libri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alibri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alibri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"/>
          <p:cNvSpPr txBox="1"/>
          <p:nvPr/>
        </p:nvSpPr>
        <p:spPr>
          <a:xfrm>
            <a:off x="735841" y="2050000"/>
            <a:ext cx="8949440" cy="3162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>
                <a:latin typeface="+mj-lt"/>
                <a:ea typeface="+mj-ea"/>
                <a:cs typeface="+mj-cs"/>
              </a:rPr>
              <a:t>AUTOMATION</a:t>
            </a:r>
            <a:r>
              <a:rPr lang="en-US" sz="5200" b="1" kern="1200">
                <a:latin typeface="+mj-lt"/>
                <a:ea typeface="+mj-ea"/>
                <a:cs typeface="+mj-cs"/>
              </a:rPr>
              <a:t> </a:t>
            </a:r>
            <a:r>
              <a:rPr lang="en-US" sz="5200" b="1" kern="1200" dirty="0">
                <a:latin typeface="+mj-lt"/>
                <a:ea typeface="+mj-ea"/>
                <a:cs typeface="+mj-cs"/>
              </a:rPr>
              <a:t>ASSESSMENT &amp; ROADMAP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" name="Subtitle"/>
          <p:cNvSpPr txBox="1"/>
          <p:nvPr/>
        </p:nvSpPr>
        <p:spPr>
          <a:xfrm>
            <a:off x="733806" y="4350000"/>
            <a:ext cx="8337135" cy="31807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rgbClr val="4A1D6B"/>
                </a:solidFill>
                <a:latin typeface="+mn-lt"/>
                <a:ea typeface="+mn-ea"/>
                <a:cs typeface="+mn-cs"/>
              </a:rPr>
              <a:t>Assessing </a:t>
            </a:r>
            <a:r>
              <a:rPr lang="en-US" sz="2000" dirty="0">
                <a:solidFill>
                  <a:srgbClr val="4A1D6B"/>
                </a:solidFill>
              </a:rPr>
              <a:t>current</a:t>
            </a:r>
            <a:r>
              <a:rPr lang="en-US" sz="2000" kern="1200" dirty="0">
                <a:solidFill>
                  <a:srgbClr val="4A1D6B"/>
                </a:solidFill>
                <a:latin typeface="+mn-lt"/>
                <a:ea typeface="+mn-ea"/>
                <a:cs typeface="+mn-cs"/>
              </a:rPr>
              <a:t> automation landscape and charting the path to a unified, AI-powered framework.</a:t>
            </a:r>
          </a:p>
        </p:txBody>
      </p:sp>
      <p:pic>
        <p:nvPicPr>
          <p:cNvPr id="5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217" y="300000"/>
            <a:ext cx="958087" cy="11284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Challenges in the Current Framework Landscape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E8DAF2"/>
                </a:solidFill>
              </a:rPr>
              <a:t>Our research shows the current framework has significant drawbacks — a strong case for moving to a unified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51093" y="1067557"/>
            <a:ext cx="10120191" cy="1140124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ea typeface="Calibri"/>
                <a:cs typeface="Calibri"/>
              </a:rPr>
              <a:t>Multiple Frameworks Across Applications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0B1F3A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Different implementations and standards across projects (BDD, TestNG, etc.).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089784" y="2389328"/>
            <a:ext cx="10269405" cy="113508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Obsolete and Redundant Components</a:t>
            </a:r>
            <a:endParaRPr lang="en-US" dirty="0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Some suites and utilities are no longer actively maintained, and deprecated test cases continue to exist in execution suites.</a:t>
            </a: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Fragmented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Business logic, element interactions, and utilities are distributed across multiple layers, increasing complexity.</a:t>
            </a: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324244" y="5133180"/>
            <a:ext cx="9865611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4933" y="5274520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High Maintenance Effort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Frequent locator updates increase maintenance overhead.</a:t>
            </a: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970" name="Contd"/>
          <p:cNvSpPr txBox="1"/>
          <p:nvPr/>
        </p:nvSpPr>
        <p:spPr>
          <a:xfrm>
            <a:off x="4671889" y="6396862"/>
            <a:ext cx="11172375" cy="5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800" b="1" i="1" dirty="0">
                <a:solidFill>
                  <a:srgbClr val="64748B"/>
                </a:solidFill>
                <a:latin typeface="Calibri"/>
                <a:cs typeface="Calibri"/>
              </a:rPr>
              <a:t>(contd.)</a:t>
            </a:r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389184" y="1146541"/>
            <a:ext cx="9982099" cy="106113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ea typeface="Calibri"/>
                <a:cs typeface="Calibri"/>
              </a:rPr>
              <a:t>Inconsistent Test Data Management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0B1F3A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Multiple test data sources and synchronization issues impact test reliability.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Limited Test Traceability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Test cases are not functionally grouped, making maintenance and impact analysis difficult.</a:t>
            </a: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Insufficient Validation and Visibility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Limited step-level verification and debugging capabilities.</a:t>
            </a: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389184" y="5133180"/>
            <a:ext cx="9800672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4933" y="5344200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Lack of AI Adoption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No AI-assisted failure analysis, test insights, or intelligent reporting.</a:t>
            </a: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Why Aspire Unified Framework (AFTA)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E8DAF2"/>
                </a:solidFill>
              </a:rPr>
              <a:t>Here is why a single, AI-powered framework across all brands is the right way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81079" y="1005031"/>
            <a:ext cx="9908777" cy="120264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ea typeface="Calibri"/>
                <a:cs typeface="Calibri"/>
              </a:rPr>
              <a:t>  AI-Powered Automation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0B1F3A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4677" y="1373578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Self-Healing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for automatic recovery from locator changes.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Auto POM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to generate and maintain page objects automatically.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Report Portal-Powered </a:t>
            </a:r>
            <a:r>
              <a:rPr lang="en-US" sz="1600" b="1" dirty="0">
                <a:ea typeface="+mn-lt"/>
                <a:cs typeface="+mn-lt"/>
              </a:rPr>
              <a:t>Analytics</a:t>
            </a:r>
            <a:r>
              <a:rPr lang="en-US" sz="1600" dirty="0">
                <a:ea typeface="+mn-lt"/>
                <a:cs typeface="+mn-lt"/>
              </a:rPr>
              <a:t> for AI-driven failure analysis, execution insights, and trend identification.</a:t>
            </a:r>
            <a:endParaRPr lang="en-US" dirty="0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86477"/>
            <a:ext cx="9938763" cy="103793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One Framework Across Brands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Standardized automation framework across all brands, including </a:t>
            </a:r>
            <a:r>
              <a:rPr lang="en-US" sz="1600" dirty="0" err="1">
                <a:solidFill>
                  <a:srgbClr val="334155"/>
                </a:solidFill>
                <a:ea typeface="+mn-lt"/>
                <a:cs typeface="+mn-lt"/>
              </a:rPr>
              <a:t>Orpos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Reduced framework duplication and maintenance effort.</a:t>
            </a:r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9" y="3708430"/>
            <a:ext cx="9917728" cy="1166906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Modern Playwright-Based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Faster execution with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up to 60% improvement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compared to the current Selenium-based approach.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Built-in auto-wait mechanisms for improved stability.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Supports parallel execution for reduced regression cycle time.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081760" y="5133180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3578" y="5247207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Enhanced Debugging and Observability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Trace Viewer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– Replay test execution step-by-step with screenshots, network calls, DOM snapshots, and timings for faster root cause analysis.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Rich execution reports with screenshots and detailed logs.</a:t>
            </a:r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Auto POM – Intelligent Locator &amp; AI Fallback Strategy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E8DAF2"/>
                </a:solidFill>
              </a:rPr>
              <a:t>How intelligent, multi-level locator generation with AI fallback makes automation faster and far easier to maintain.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BizValue"/>
          <p:cNvSpPr txBox="1"/>
          <p:nvPr/>
        </p:nvSpPr>
        <p:spPr>
          <a:xfrm>
            <a:off x="900000" y="360000"/>
            <a:ext cx="9500000" cy="7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7030A0"/>
                </a:solidFill>
                <a:latin typeface="Calibri"/>
                <a:cs typeface="Calibri"/>
              </a:rPr>
              <a:t>Business Value :</a:t>
            </a:r>
            <a:br>
              <a:rPr lang="en-US" sz="1600" b="1" dirty="0">
                <a:solidFill>
                  <a:srgbClr val="7030A0"/>
                </a:solidFill>
                <a:latin typeface="Calibri"/>
                <a:cs typeface="Calibri"/>
              </a:rPr>
            </a:br>
            <a:r>
              <a:rPr lang="en-US" sz="1600" b="1" dirty="0">
                <a:solidFill>
                  <a:srgbClr val="7030A0"/>
                </a:solidFill>
                <a:latin typeface="Calibri"/>
                <a:cs typeface="Calibri"/>
              </a:rPr>
              <a:t>Auto POM is a Chrome extension that creates production-ready Page functions — eliminating manual locator management and reducing script failures.</a:t>
            </a:r>
          </a:p>
        </p:txBody>
      </p:sp>
      <p:sp>
        <p:nvSpPr>
          <p:cNvPr id="850" name="Bullets BG"/>
          <p:cNvSpPr/>
          <p:nvPr/>
        </p:nvSpPr>
        <p:spPr>
          <a:xfrm>
            <a:off x="520000" y="1140000"/>
            <a:ext cx="10868774" cy="1505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Bullets"/>
          <p:cNvSpPr txBox="1"/>
          <p:nvPr/>
        </p:nvSpPr>
        <p:spPr>
          <a:xfrm>
            <a:off x="700000" y="1300000"/>
            <a:ext cx="10508774" cy="1185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285750">
              <a:buFont typeface="Calibri"/>
              <a:buChar char="•"/>
            </a:pPr>
            <a:r>
              <a:rPr lang="en-US" sz="1600" b="1" dirty="0">
                <a:solidFill>
                  <a:srgbClr val="0F2742"/>
                </a:solidFill>
                <a:latin typeface="Calibri"/>
                <a:cs typeface="Calibri"/>
              </a:rPr>
              <a:t>Objective — </a:t>
            </a:r>
            <a:r>
              <a:rPr lang="en-US" sz="1600" dirty="0">
                <a:solidFill>
                  <a:srgbClr val="334155"/>
                </a:solidFill>
                <a:latin typeface="Calibri"/>
                <a:cs typeface="Calibri"/>
              </a:rPr>
              <a:t>Generate robust, maintainable POM locators and automation-ready code via a multi-level fallback strategy with AI assistance.</a:t>
            </a:r>
          </a:p>
          <a:p>
            <a:pPr marL="285750" indent="-285750">
              <a:spcBef>
                <a:spcPts val="800"/>
              </a:spcBef>
              <a:buFont typeface="Calibri"/>
              <a:buChar char="•"/>
            </a:pPr>
            <a:r>
              <a:rPr lang="en-US" sz="1600" b="1" dirty="0">
                <a:solidFill>
                  <a:srgbClr val="0F2742"/>
                </a:solidFill>
                <a:latin typeface="Calibri"/>
                <a:cs typeface="Calibri"/>
              </a:rPr>
              <a:t>Key Benefits — </a:t>
            </a:r>
            <a:r>
              <a:rPr lang="en-US" sz="1600" dirty="0">
                <a:solidFill>
                  <a:srgbClr val="334155"/>
                </a:solidFill>
                <a:latin typeface="Calibri"/>
                <a:cs typeface="Calibri"/>
              </a:rPr>
              <a:t>Less manual effort, higher locator reliability, faster automation, and production-ready POM code.</a:t>
            </a:r>
          </a:p>
        </p:txBody>
      </p:sp>
      <p:sp>
        <p:nvSpPr>
          <p:cNvPr id="104" name="FlowLabel"/>
          <p:cNvSpPr txBox="1"/>
          <p:nvPr/>
        </p:nvSpPr>
        <p:spPr>
          <a:xfrm>
            <a:off x="700000" y="3180000"/>
            <a:ext cx="10792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 spc="200" dirty="0">
                <a:solidFill>
                  <a:srgbClr val="0E7C7B"/>
                </a:solidFill>
                <a:latin typeface="Calibri"/>
                <a:cs typeface="Calibri"/>
              </a:rPr>
              <a:t>CORE MECHANISM OF AUTOPOM</a:t>
            </a:r>
          </a:p>
        </p:txBody>
      </p:sp>
      <p:sp>
        <p:nvSpPr>
          <p:cNvPr id="105" name="FlowCard1"/>
          <p:cNvSpPr/>
          <p:nvPr/>
        </p:nvSpPr>
        <p:spPr>
          <a:xfrm>
            <a:off x="746000" y="3720000"/>
            <a:ext cx="4900000" cy="26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22225">
            <a:solidFill>
              <a:srgbClr val="1E2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FlowNum1"/>
          <p:cNvSpPr/>
          <p:nvPr/>
        </p:nvSpPr>
        <p:spPr>
          <a:xfrm>
            <a:off x="2886000" y="3315000"/>
            <a:ext cx="620000" cy="62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7" name="FlowTitle1"/>
          <p:cNvSpPr txBox="1"/>
          <p:nvPr/>
        </p:nvSpPr>
        <p:spPr>
          <a:xfrm>
            <a:off x="911000" y="4496536"/>
            <a:ext cx="46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1E293B"/>
                </a:solidFill>
                <a:latin typeface="Calibri"/>
                <a:cs typeface="Calibri"/>
              </a:rPr>
              <a:t>Locator Priority</a:t>
            </a:r>
          </a:p>
        </p:txBody>
      </p:sp>
      <p:sp>
        <p:nvSpPr>
          <p:cNvPr id="108" name="FlowDesc1"/>
          <p:cNvSpPr txBox="1"/>
          <p:nvPr/>
        </p:nvSpPr>
        <p:spPr>
          <a:xfrm>
            <a:off x="1026000" y="4920000"/>
            <a:ext cx="4340000" cy="1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600">
                <a:solidFill>
                  <a:srgbClr val="334155"/>
                </a:solidFill>
                <a:latin typeface="Calibri"/>
                <a:cs typeface="Calibri"/>
              </a:rPr>
              <a:t>Prioritizes ID, Name, Data &amp; Accessibility attributes, CSS selectors, then XPath — resolving the most reliable locator before any AI is invoked.</a:t>
            </a:r>
          </a:p>
        </p:txBody>
      </p:sp>
      <p:sp>
        <p:nvSpPr>
          <p:cNvPr id="109" name="FlowCard2"/>
          <p:cNvSpPr/>
          <p:nvPr/>
        </p:nvSpPr>
        <p:spPr>
          <a:xfrm>
            <a:off x="6546000" y="3720000"/>
            <a:ext cx="4900000" cy="26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22225">
            <a:solidFill>
              <a:srgbClr val="C282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FlowNum2"/>
          <p:cNvSpPr/>
          <p:nvPr/>
        </p:nvSpPr>
        <p:spPr>
          <a:xfrm>
            <a:off x="8709000" y="3355000"/>
            <a:ext cx="620000" cy="620000"/>
          </a:xfrm>
          <a:prstGeom prst="ellipse">
            <a:avLst/>
          </a:prstGeom>
          <a:solidFill>
            <a:srgbClr val="C2820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1" name="FlowTitle2"/>
          <p:cNvSpPr txBox="1"/>
          <p:nvPr/>
        </p:nvSpPr>
        <p:spPr>
          <a:xfrm>
            <a:off x="6696000" y="4560000"/>
            <a:ext cx="46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b="1">
                <a:solidFill>
                  <a:srgbClr val="C2820B"/>
                </a:solidFill>
                <a:latin typeface="Calibri"/>
                <a:cs typeface="Calibri"/>
              </a:rPr>
              <a:t>AI Fallback</a:t>
            </a:r>
          </a:p>
        </p:txBody>
      </p:sp>
      <p:sp>
        <p:nvSpPr>
          <p:cNvPr id="112" name="FlowDesc2"/>
          <p:cNvSpPr txBox="1"/>
          <p:nvPr/>
        </p:nvSpPr>
        <p:spPr>
          <a:xfrm>
            <a:off x="6826000" y="5160000"/>
            <a:ext cx="4340000" cy="1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600">
                <a:solidFill>
                  <a:srgbClr val="334155"/>
                </a:solidFill>
                <a:latin typeface="Calibri"/>
                <a:cs typeface="Calibri"/>
              </a:rPr>
              <a:t>When deterministic strategies fail or score low-confidence, AI reads the DOM, element attributes &amp; surrounding context to propose stable, maintainable locators.</a:t>
            </a:r>
          </a:p>
        </p:txBody>
      </p:sp>
      <p:sp>
        <p:nvSpPr>
          <p:cNvPr id="113" name="FlowArrow"/>
          <p:cNvSpPr/>
          <p:nvPr/>
        </p:nvSpPr>
        <p:spPr>
          <a:xfrm>
            <a:off x="5786000" y="4925000"/>
            <a:ext cx="620000" cy="24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00" name="Brain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000" y="4170000"/>
            <a:ext cx="540000" cy="540000"/>
          </a:xfrm>
          <a:prstGeom prst="rect">
            <a:avLst/>
          </a:prstGeom>
        </p:spPr>
      </p:pic>
      <p:pic>
        <p:nvPicPr>
          <p:cNvPr id="3" name="Image 3" descr="preencoded.png">
            <a:extLst>
              <a:ext uri="{FF2B5EF4-FFF2-40B4-BE49-F238E27FC236}">
                <a16:creationId xmlns:a16="http://schemas.microsoft.com/office/drawing/2014/main" id="{51F10AF3-7EFD-0B96-3D86-10E73AC20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072" y="4046536"/>
            <a:ext cx="566928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438105" y="1127659"/>
            <a:ext cx="11553895" cy="5670451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813" y="290000"/>
            <a:ext cx="11172375" cy="468526"/>
          </a:xfr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  <a:t>AUTO POM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" y="1327659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Self Healing – Test Automation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E8DAF2"/>
                </a:solidFill>
              </a:rPr>
              <a:t>A self-correcting suite that recovers from UI changes on its own, cutting flakiness and manual upkeep.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ointers BG"/>
          <p:cNvSpPr/>
          <p:nvPr/>
        </p:nvSpPr>
        <p:spPr>
          <a:xfrm>
            <a:off x="470000" y="1990672"/>
            <a:ext cx="5550000" cy="22000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03421" y="64598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7030A0"/>
              </a:solidFill>
              <a:latin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7390" y="-114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b="1" dirty="0">
              <a:solidFill>
                <a:srgbClr val="0F27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93976" y="11064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6000"/>
                  </a:schemeClr>
                </a:solidFill>
                <a:latin typeface="Calibri"/>
                <a:ea typeface="Calibri" pitchFamily="34" charset="-122"/>
                <a:cs typeface="Calibri"/>
              </a:rPr>
              <a:t>Playwright · TypeScript · Azure OpenAI GPT-4.1 · Chrome Extension</a:t>
            </a:r>
            <a:endParaRPr lang="en-US" sz="1600" b="1" dirty="0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0F2742"/>
              </a:solidFill>
              <a:latin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FALLBACK CHAIN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5B2080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2"/>
                </a:solidFill>
                <a:latin typeface="Calibri"/>
                <a:ea typeface="Calibri" pitchFamily="34" charset="-122"/>
                <a:cs typeface="Calibri"/>
              </a:rPr>
              <a:t>DB Primary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Stored locator resolved</a:t>
            </a:r>
            <a:endParaRPr lang="en-US" sz="1600" b="1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direct from elements table</a:t>
            </a:r>
            <a:endParaRPr lang="en-US" sz="1600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822" y="502005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4808" y="4898232"/>
            <a:ext cx="2506026" cy="667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2"/>
                </a:solidFill>
                <a:latin typeface="Calibri"/>
                <a:ea typeface="Calibri" pitchFamily="34" charset="-122"/>
                <a:cs typeface="Calibri"/>
              </a:rPr>
              <a:t> Smart Locators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role → </a:t>
            </a:r>
            <a:r>
              <a:rPr lang="en-US" sz="16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testId</a:t>
            </a:r>
            <a:r>
              <a:rPr lang="en-US" sz="16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 → text → </a:t>
            </a:r>
            <a:r>
              <a:rPr lang="en-US" sz="16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css</a:t>
            </a:r>
            <a:endParaRPr lang="en-US" sz="1600" b="1">
              <a:latin typeface="Calibri"/>
              <a:cs typeface="Calibri"/>
            </a:endParaRPr>
          </a:p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→ </a:t>
            </a:r>
            <a:r>
              <a:rPr lang="en-US" sz="16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xpath</a:t>
            </a:r>
            <a:r>
              <a:rPr lang="en-US" sz="16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600" b="1" dirty="0">
              <a:solidFill>
                <a:srgbClr val="334155"/>
              </a:solidFill>
              <a:latin typeface="Calibri"/>
              <a:cs typeface="Calibri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2"/>
                </a:solidFill>
                <a:latin typeface="Calibri"/>
                <a:ea typeface="Calibri" pitchFamily="34" charset="-122"/>
                <a:cs typeface="Calibri"/>
              </a:rPr>
              <a:t>  AI Healing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GPT-4.1 vision + DOM </a:t>
            </a:r>
            <a:r>
              <a:rPr lang="en-US" sz="16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context, confidence</a:t>
            </a:r>
            <a:r>
              <a:rPr lang="en-US" sz="16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-gated</a:t>
            </a:r>
            <a:endParaRPr lang="en-US" sz="1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94360" y="180771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5B208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Deterministic tiers absorb most UI changes; AI handles novel breaks.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5B208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F2742"/>
                </a:solidFill>
                <a:latin typeface="Calibri"/>
                <a:ea typeface="Calibri"/>
                <a:cs typeface="Calibri"/>
              </a:rPr>
              <a:t>Lower flakiness &amp; upkeep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Cuts manual selector maintenance and false failures substantially.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5B208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8100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Proven against the live Ann Taylor staging funnel.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F202ED5-DE62-30D2-B684-02AFBE2C4DD2}"/>
              </a:ext>
            </a:extLst>
          </p:cNvPr>
          <p:cNvSpPr/>
          <p:nvPr/>
        </p:nvSpPr>
        <p:spPr>
          <a:xfrm>
            <a:off x="893921" y="570355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7030A0"/>
                </a:solidFill>
                <a:latin typeface="Calibri"/>
                <a:ea typeface="Calibri"/>
              </a:rPr>
              <a:t>Business value – Fixing flaky tests on its own – Less maintenance - Faster releases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2477012" y="950000"/>
            <a:ext cx="6808191" cy="5850000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0F2742"/>
              </a:solidFill>
              <a:latin typeface="Calibri"/>
              <a:ea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Calibri"/>
              <a:cs typeface="Calibri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637012" y="916923"/>
            <a:ext cx="6488191" cy="5783077"/>
          </a:xfrm>
          <a:prstGeom prst="rect">
            <a:avLst/>
          </a:prstGeom>
        </p:spPr>
      </p:pic>
      <p:sp>
        <p:nvSpPr>
          <p:cNvPr id="5" name="Snip Diagonal Corner Rectangle 15">
            <a:extLst>
              <a:ext uri="{FF2B5EF4-FFF2-40B4-BE49-F238E27FC236}">
                <a16:creationId xmlns:a16="http://schemas.microsoft.com/office/drawing/2014/main" id="{2B4494C9-1FC5-409B-820E-DCE03D2FA86D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algn="ctr" defTabSz="355591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SELF HEALING ARCHITECTURE</a:t>
            </a:r>
            <a:b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</a:br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Image Based Automation Tool – Visor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E8DAF2"/>
                </a:solidFill>
              </a:rPr>
              <a:t>Visual automation framework that combines OpenCV image matching, OCR, and input control into one Node.js package — enabling automation of Windows applications without DOM or browser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d Title"/>
          <p:cNvSpPr txBox="1"/>
          <p:nvPr/>
        </p:nvSpPr>
        <p:spPr>
          <a:xfrm>
            <a:off x="509813" y="200000"/>
            <a:ext cx="11172375" cy="64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IMAGE BASED AUTOMATION TOOL – VISOR</a:t>
            </a:r>
          </a:p>
        </p:txBody>
      </p:sp>
      <p:sp>
        <p:nvSpPr>
          <p:cNvPr id="203" name="KeyFeaturesLabel"/>
          <p:cNvSpPr txBox="1"/>
          <p:nvPr/>
        </p:nvSpPr>
        <p:spPr>
          <a:xfrm>
            <a:off x="900000" y="1550000"/>
            <a:ext cx="10392000" cy="38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b="1" spc="200">
                <a:solidFill>
                  <a:srgbClr val="7030A0"/>
                </a:solidFill>
                <a:latin typeface="Calibri"/>
                <a:cs typeface="Calibri"/>
              </a:rPr>
              <a:t>KEY FEATURES</a:t>
            </a:r>
          </a:p>
        </p:txBody>
      </p:sp>
      <p:sp>
        <p:nvSpPr>
          <p:cNvPr id="204" name="PNum1"/>
          <p:cNvSpPr/>
          <p:nvPr/>
        </p:nvSpPr>
        <p:spPr>
          <a:xfrm>
            <a:off x="1050000" y="2150000"/>
            <a:ext cx="520000" cy="520000"/>
          </a:xfrm>
          <a:prstGeom prst="ellipse">
            <a:avLst/>
          </a:prstGeom>
          <a:solidFill>
            <a:srgbClr val="D4BB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5" name="PText1"/>
          <p:cNvSpPr txBox="1"/>
          <p:nvPr/>
        </p:nvSpPr>
        <p:spPr>
          <a:xfrm>
            <a:off x="1750000" y="215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2742"/>
                </a:solidFill>
                <a:latin typeface="Calibri"/>
                <a:cs typeface="Calibri"/>
              </a:rPr>
              <a:t>Multi-scale image matching</a:t>
            </a:r>
          </a:p>
        </p:txBody>
      </p:sp>
      <p:sp>
        <p:nvSpPr>
          <p:cNvPr id="206" name="PNum2"/>
          <p:cNvSpPr/>
          <p:nvPr/>
        </p:nvSpPr>
        <p:spPr>
          <a:xfrm>
            <a:off x="1050000" y="2870000"/>
            <a:ext cx="520000" cy="520000"/>
          </a:xfrm>
          <a:prstGeom prst="ellipse">
            <a:avLst/>
          </a:prstGeom>
          <a:solidFill>
            <a:srgbClr val="D4BB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07" name="PText2"/>
          <p:cNvSpPr txBox="1"/>
          <p:nvPr/>
        </p:nvSpPr>
        <p:spPr>
          <a:xfrm>
            <a:off x="1750000" y="287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2742"/>
                </a:solidFill>
                <a:latin typeface="Calibri"/>
                <a:cs typeface="Calibri"/>
              </a:rPr>
              <a:t>Full-screen and region-based OCR</a:t>
            </a:r>
          </a:p>
        </p:txBody>
      </p:sp>
      <p:sp>
        <p:nvSpPr>
          <p:cNvPr id="208" name="PNum3"/>
          <p:cNvSpPr/>
          <p:nvPr/>
        </p:nvSpPr>
        <p:spPr>
          <a:xfrm>
            <a:off x="1050000" y="3590000"/>
            <a:ext cx="520000" cy="520000"/>
          </a:xfrm>
          <a:prstGeom prst="ellipse">
            <a:avLst/>
          </a:prstGeom>
          <a:solidFill>
            <a:srgbClr val="D4BB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9" name="PText3"/>
          <p:cNvSpPr txBox="1"/>
          <p:nvPr/>
        </p:nvSpPr>
        <p:spPr>
          <a:xfrm>
            <a:off x="1750000" y="359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2742"/>
                </a:solidFill>
                <a:latin typeface="Calibri"/>
                <a:cs typeface="Calibri"/>
              </a:rPr>
              <a:t>Automated mouse and keyboard input</a:t>
            </a:r>
          </a:p>
        </p:txBody>
      </p:sp>
      <p:sp>
        <p:nvSpPr>
          <p:cNvPr id="210" name="PNum4"/>
          <p:cNvSpPr/>
          <p:nvPr/>
        </p:nvSpPr>
        <p:spPr>
          <a:xfrm>
            <a:off x="1050000" y="4310000"/>
            <a:ext cx="520000" cy="520000"/>
          </a:xfrm>
          <a:prstGeom prst="ellipse">
            <a:avLst/>
          </a:prstGeom>
          <a:solidFill>
            <a:srgbClr val="D4BB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11" name="PText4"/>
          <p:cNvSpPr txBox="1"/>
          <p:nvPr/>
        </p:nvSpPr>
        <p:spPr>
          <a:xfrm>
            <a:off x="1750000" y="431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2742"/>
                </a:solidFill>
                <a:latin typeface="Calibri"/>
                <a:cs typeface="Calibri"/>
              </a:rPr>
              <a:t>Barcode scanning</a:t>
            </a:r>
          </a:p>
        </p:txBody>
      </p:sp>
      <p:sp>
        <p:nvSpPr>
          <p:cNvPr id="212" name="PNum5"/>
          <p:cNvSpPr/>
          <p:nvPr/>
        </p:nvSpPr>
        <p:spPr>
          <a:xfrm>
            <a:off x="1050000" y="5030000"/>
            <a:ext cx="520000" cy="520000"/>
          </a:xfrm>
          <a:prstGeom prst="ellipse">
            <a:avLst/>
          </a:prstGeom>
          <a:solidFill>
            <a:srgbClr val="D4BB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13" name="PText5"/>
          <p:cNvSpPr txBox="1"/>
          <p:nvPr/>
        </p:nvSpPr>
        <p:spPr>
          <a:xfrm>
            <a:off x="1750000" y="503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2742"/>
                </a:solidFill>
                <a:latin typeface="Calibri"/>
                <a:cs typeface="Calibri"/>
              </a:rPr>
              <a:t>Built-in display scaling detection</a:t>
            </a: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960" name="Page Number"/>
          <p:cNvSpPr txBox="1"/>
          <p:nvPr/>
        </p:nvSpPr>
        <p:spPr>
          <a:xfrm>
            <a:off x="11500000" y="6420000"/>
            <a:ext cx="500000" cy="3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endParaRPr lang="en-US" sz="1000" dirty="0">
              <a:solidFill>
                <a:srgbClr val="94A3B8"/>
              </a:solidFill>
              <a:latin typeface="Calibri"/>
              <a:cs typeface="Calibri"/>
            </a:endParaRPr>
          </a:p>
        </p:txBody>
      </p:sp>
      <p:sp>
        <p:nvSpPr>
          <p:cNvPr id="4" name="Shape 26">
            <a:extLst>
              <a:ext uri="{FF2B5EF4-FFF2-40B4-BE49-F238E27FC236}">
                <a16:creationId xmlns:a16="http://schemas.microsoft.com/office/drawing/2014/main" id="{FAAE73F4-B00F-F35E-6B47-5E4DD203674C}"/>
              </a:ext>
            </a:extLst>
          </p:cNvPr>
          <p:cNvSpPr/>
          <p:nvPr/>
        </p:nvSpPr>
        <p:spPr>
          <a:xfrm>
            <a:off x="6101600" y="1939876"/>
            <a:ext cx="5734050" cy="1512908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5B2080"/>
            </a:solidFill>
            <a:prstDash val="solid"/>
          </a:ln>
        </p:spPr>
        <p:txBody>
          <a:bodyPr/>
          <a:lstStyle/>
          <a:p>
            <a:pPr algn="l" rtl="0"/>
            <a:r>
              <a:rPr lang="en-US" sz="1600" b="1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Install via npm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endParaRPr lang="en-US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Run `</a:t>
            </a:r>
            <a:r>
              <a:rPr lang="en-US" sz="16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npm install@aspiresys/visor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`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Launch it with `</a:t>
            </a:r>
            <a:r>
              <a:rPr lang="en-US" sz="16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npx visor-inspector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`.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endParaRPr lang="en-US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200000" y="950000"/>
            <a:ext cx="10731505" cy="5850000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Calibri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7" y="1030331"/>
            <a:ext cx="11042248" cy="5689337"/>
          </a:xfrm>
          <a:prstGeom prst="rect">
            <a:avLst/>
          </a:prstGeom>
        </p:spPr>
      </p:pic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algn="ctr" defTabSz="355591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VISOR ARCHITECTURE</a:t>
            </a:r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61139-2DF3-5811-5EAB-538996CC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92399E-B3E9-BBA7-7AF0-B3327EA5F28E}"/>
              </a:ext>
            </a:extLst>
          </p:cNvPr>
          <p:cNvSpPr/>
          <p:nvPr/>
        </p:nvSpPr>
        <p:spPr>
          <a:xfrm>
            <a:off x="0" y="5028353"/>
            <a:ext cx="12196156" cy="223181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3EBDFA-C7C7-F40A-D879-AAC5DADB807A}"/>
              </a:ext>
            </a:extLst>
          </p:cNvPr>
          <p:cNvSpPr/>
          <p:nvPr/>
        </p:nvSpPr>
        <p:spPr>
          <a:xfrm>
            <a:off x="548640" y="66113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>
              <a:solidFill>
                <a:srgbClr val="7030A0"/>
              </a:solidFill>
              <a:latin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21923-09F3-02D8-1245-89AB1A580F45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  <a:t>AFTA DASHBOARD</a:t>
            </a: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 </a:t>
            </a:r>
            <a:endParaRPr lang="en-US" sz="2800" dirty="0">
              <a:solidFill>
                <a:schemeClr val="accent5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3400" b="1" dirty="0">
              <a:solidFill>
                <a:srgbClr val="0F2742"/>
              </a:solidFill>
              <a:latin typeface="Calibri"/>
              <a:ea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C708ED-431B-572B-510F-F2E4280C8915}"/>
              </a:ext>
            </a:extLst>
          </p:cNvPr>
          <p:cNvSpPr/>
          <p:nvPr/>
        </p:nvSpPr>
        <p:spPr>
          <a:xfrm>
            <a:off x="601556" y="88839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7030A0"/>
                </a:solidFill>
                <a:latin typeface="Calibri"/>
                <a:ea typeface="Calibri"/>
              </a:rPr>
              <a:t>Unified Test Automation Platform for Execution, Reporting and Analytics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04CA27-054F-2DC5-675B-73B6B8A434DC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>
              <a:solidFill>
                <a:srgbClr val="0F2742"/>
              </a:solidFill>
              <a:latin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20DE9D-76D8-D7AD-3E9B-3B53BF4D8E91}"/>
              </a:ext>
            </a:extLst>
          </p:cNvPr>
          <p:cNvSpPr/>
          <p:nvPr/>
        </p:nvSpPr>
        <p:spPr>
          <a:xfrm>
            <a:off x="485140" y="513665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300">
                <a:solidFill>
                  <a:srgbClr val="7030A0"/>
                </a:solidFill>
                <a:latin typeface="Calibri"/>
                <a:cs typeface="Calibri"/>
              </a:rPr>
              <a:t>TECH STACK</a:t>
            </a:r>
            <a:endParaRPr lang="en-US"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E0FD926-50E5-6AA1-BCF6-4A8331671995}"/>
              </a:ext>
            </a:extLst>
          </p:cNvPr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0F2742"/>
              </a:solidFill>
              <a:latin typeface="Calibri"/>
              <a:cs typeface="Calibri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B9D6C9C-99CC-A1BA-F9B7-708B7E87C675}"/>
              </a:ext>
            </a:extLst>
          </p:cNvPr>
          <p:cNvSpPr/>
          <p:nvPr/>
        </p:nvSpPr>
        <p:spPr>
          <a:xfrm>
            <a:off x="4707867" y="5294745"/>
            <a:ext cx="509386" cy="340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0F2742"/>
              </a:solidFill>
              <a:latin typeface="Calibri"/>
              <a:cs typeface="Calibri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90A8B79-4B7B-0668-B7A1-D8C466C4A41D}"/>
              </a:ext>
            </a:extLst>
          </p:cNvPr>
          <p:cNvSpPr/>
          <p:nvPr/>
        </p:nvSpPr>
        <p:spPr>
          <a:xfrm>
            <a:off x="1217083" y="155749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7030A0"/>
                </a:solidFill>
                <a:latin typeface="Calibri"/>
                <a:ea typeface="Calibri"/>
              </a:rPr>
              <a:t>Features in AFTA</a:t>
            </a:r>
            <a:endParaRPr lang="en-US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D9712328-0FF8-D35C-83DB-521B576FF969}"/>
              </a:ext>
            </a:extLst>
          </p:cNvPr>
          <p:cNvSpPr/>
          <p:nvPr/>
        </p:nvSpPr>
        <p:spPr>
          <a:xfrm>
            <a:off x="590974" y="1869355"/>
            <a:ext cx="457200" cy="457200"/>
          </a:xfrm>
          <a:prstGeom prst="ellipse">
            <a:avLst/>
          </a:prstGeom>
          <a:solidFill>
            <a:srgbClr val="5B208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EE84D1DB-6D33-6FB9-4142-CE43B7F7D326}"/>
              </a:ext>
            </a:extLst>
          </p:cNvPr>
          <p:cNvSpPr/>
          <p:nvPr/>
        </p:nvSpPr>
        <p:spPr>
          <a:xfrm>
            <a:off x="1217083" y="195165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Runner</a:t>
            </a:r>
            <a:endParaRPr lang="en-US" dirty="0">
              <a:latin typeface="Calibri" panose="020B0004020202020204"/>
              <a:cs typeface="Calibri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6F055932-9141-8068-E36E-78FB40DD3092}"/>
              </a:ext>
            </a:extLst>
          </p:cNvPr>
          <p:cNvSpPr/>
          <p:nvPr/>
        </p:nvSpPr>
        <p:spPr>
          <a:xfrm>
            <a:off x="1217083" y="2276009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64748B"/>
                </a:solidFill>
                <a:latin typeface="Calibri"/>
                <a:cs typeface="Calibri"/>
              </a:rPr>
              <a:t>Execute and monitor test suites with build history and report access</a:t>
            </a:r>
            <a:endParaRPr lang="en-US" dirty="0"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50344F6F-FBBF-41F0-D249-0A1FDE102CB9}"/>
              </a:ext>
            </a:extLst>
          </p:cNvPr>
          <p:cNvSpPr/>
          <p:nvPr/>
        </p:nvSpPr>
        <p:spPr>
          <a:xfrm>
            <a:off x="590974" y="2680715"/>
            <a:ext cx="457200" cy="457200"/>
          </a:xfrm>
          <a:prstGeom prst="ellipse">
            <a:avLst/>
          </a:prstGeom>
          <a:solidFill>
            <a:srgbClr val="5B208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9BC1B32A-1724-9C4E-64AC-4000B4BA779A}"/>
              </a:ext>
            </a:extLst>
          </p:cNvPr>
          <p:cNvSpPr/>
          <p:nvPr/>
        </p:nvSpPr>
        <p:spPr>
          <a:xfrm>
            <a:off x="1217083" y="276301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Data Generator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664B4-5C26-F399-63F6-162C7EDF5B80}"/>
              </a:ext>
            </a:extLst>
          </p:cNvPr>
          <p:cNvSpPr/>
          <p:nvPr/>
        </p:nvSpPr>
        <p:spPr>
          <a:xfrm>
            <a:off x="1217083" y="294978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Generate reusable test data for faster execution.</a:t>
            </a:r>
            <a:r>
              <a:rPr lang="en-US" sz="14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5A606240-7C8F-4C2F-6999-2192624A0B82}"/>
              </a:ext>
            </a:extLst>
          </p:cNvPr>
          <p:cNvSpPr/>
          <p:nvPr/>
        </p:nvSpPr>
        <p:spPr>
          <a:xfrm>
            <a:off x="590974" y="3248659"/>
            <a:ext cx="457200" cy="457200"/>
          </a:xfrm>
          <a:prstGeom prst="ellipse">
            <a:avLst/>
          </a:prstGeom>
          <a:solidFill>
            <a:srgbClr val="5B208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5A29979B-DAAF-77AA-DA08-BEFC195C51E0}"/>
              </a:ext>
            </a:extLst>
          </p:cNvPr>
          <p:cNvSpPr/>
          <p:nvPr/>
        </p:nvSpPr>
        <p:spPr>
          <a:xfrm>
            <a:off x="1217083" y="3330955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2742"/>
                </a:solidFill>
                <a:latin typeface="Calibri"/>
                <a:cs typeface="Calibri"/>
              </a:rPr>
              <a:t>Reports</a:t>
            </a:r>
            <a:endParaRPr lang="en-US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A41189EB-3191-151C-B349-5C1B8ADEE126}"/>
              </a:ext>
            </a:extLst>
          </p:cNvPr>
          <p:cNvSpPr/>
          <p:nvPr/>
        </p:nvSpPr>
        <p:spPr>
          <a:xfrm>
            <a:off x="1217083" y="347539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Centralized insights into execution results and trends</a:t>
            </a:r>
            <a:r>
              <a:rPr lang="en-US" sz="1400" b="1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.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83DBE46C-B019-76A7-A02F-BA868E4FF9B3}"/>
              </a:ext>
            </a:extLst>
          </p:cNvPr>
          <p:cNvSpPr/>
          <p:nvPr/>
        </p:nvSpPr>
        <p:spPr>
          <a:xfrm>
            <a:off x="6452362" y="1806828"/>
            <a:ext cx="5480050" cy="1089575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5B2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CEF4D328-341C-DD15-428C-56B247CEC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369" y="1915064"/>
            <a:ext cx="384048" cy="384048"/>
          </a:xfrm>
          <a:prstGeom prst="rect">
            <a:avLst/>
          </a:prstGeom>
        </p:spPr>
      </p:pic>
      <p:sp>
        <p:nvSpPr>
          <p:cNvPr id="39" name="Text 27">
            <a:extLst>
              <a:ext uri="{FF2B5EF4-FFF2-40B4-BE49-F238E27FC236}">
                <a16:creationId xmlns:a16="http://schemas.microsoft.com/office/drawing/2014/main" id="{964FF14B-65C6-1E60-6EEB-8EC21B86F474}"/>
              </a:ext>
            </a:extLst>
          </p:cNvPr>
          <p:cNvSpPr/>
          <p:nvPr/>
        </p:nvSpPr>
        <p:spPr>
          <a:xfrm>
            <a:off x="7083251" y="196008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0D57A0E7-D665-6D4F-26BC-F69353495F89}"/>
              </a:ext>
            </a:extLst>
          </p:cNvPr>
          <p:cNvSpPr/>
          <p:nvPr/>
        </p:nvSpPr>
        <p:spPr>
          <a:xfrm>
            <a:off x="7066407" y="217770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b="1" dirty="0">
                <a:solidFill>
                  <a:srgbClr val="334155"/>
                </a:solidFill>
                <a:latin typeface="Calibri"/>
                <a:cs typeface="Calibri"/>
              </a:rPr>
              <a:t>Implementation of multiple user login and User scheduling history with timestamp</a:t>
            </a:r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49B89240-3AE8-1714-2950-2C2787D1127C}"/>
              </a:ext>
            </a:extLst>
          </p:cNvPr>
          <p:cNvSpPr/>
          <p:nvPr/>
        </p:nvSpPr>
        <p:spPr>
          <a:xfrm>
            <a:off x="6452362" y="3549974"/>
            <a:ext cx="5480049" cy="1184826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9651B394-3069-F8F0-603C-9D77F71C4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428" y="3577921"/>
            <a:ext cx="384048" cy="384048"/>
          </a:xfrm>
          <a:prstGeom prst="rect">
            <a:avLst/>
          </a:prstGeom>
        </p:spPr>
      </p:pic>
      <p:sp>
        <p:nvSpPr>
          <p:cNvPr id="43" name="Text 30">
            <a:extLst>
              <a:ext uri="{FF2B5EF4-FFF2-40B4-BE49-F238E27FC236}">
                <a16:creationId xmlns:a16="http://schemas.microsoft.com/office/drawing/2014/main" id="{B8DEA60E-10CF-66FA-FE0E-89E61D42233E}"/>
              </a:ext>
            </a:extLst>
          </p:cNvPr>
          <p:cNvSpPr/>
          <p:nvPr/>
        </p:nvSpPr>
        <p:spPr>
          <a:xfrm>
            <a:off x="7082289" y="362137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F7B20EB5-4E9B-AC9B-2303-B128B09312BC}"/>
              </a:ext>
            </a:extLst>
          </p:cNvPr>
          <p:cNvSpPr/>
          <p:nvPr/>
        </p:nvSpPr>
        <p:spPr>
          <a:xfrm>
            <a:off x="6958541" y="3961969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alibri"/>
                <a:cs typeface="Calibri"/>
              </a:rPr>
              <a:t>AI-Powered Test Summaries 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alibri"/>
                <a:cs typeface="Calibri"/>
              </a:rPr>
              <a:t>AI-Based Failure Analysis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alibri"/>
                <a:cs typeface="Calibri"/>
              </a:rPr>
              <a:t>Root Cause Suggestions </a:t>
            </a:r>
          </a:p>
          <a:p>
            <a:pPr marL="171450" indent="-171450">
              <a:lnSpc>
                <a:spcPct val="105000"/>
              </a:lnSpc>
              <a:buFont typeface="Calibri" panose="020B0604020202020204" pitchFamily="34" charset="0"/>
              <a:buChar char="•"/>
            </a:pPr>
            <a:endParaRPr lang="en-US" sz="1400" b="1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7745F82A-3CE8-06BA-57B8-898AC1440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6" name="Shape 23">
            <a:extLst>
              <a:ext uri="{FF2B5EF4-FFF2-40B4-BE49-F238E27FC236}">
                <a16:creationId xmlns:a16="http://schemas.microsoft.com/office/drawing/2014/main" id="{43DBA775-111E-B9DD-D506-FFA237E8D645}"/>
              </a:ext>
            </a:extLst>
          </p:cNvPr>
          <p:cNvSpPr/>
          <p:nvPr/>
        </p:nvSpPr>
        <p:spPr>
          <a:xfrm>
            <a:off x="590974" y="3854704"/>
            <a:ext cx="457200" cy="457200"/>
          </a:xfrm>
          <a:prstGeom prst="ellipse">
            <a:avLst/>
          </a:prstGeom>
          <a:solidFill>
            <a:srgbClr val="5B208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3DE75C-B7D3-B5D6-78FB-DD9F6119AFB2}"/>
              </a:ext>
            </a:extLst>
          </p:cNvPr>
          <p:cNvSpPr txBox="1"/>
          <p:nvPr/>
        </p:nvSpPr>
        <p:spPr>
          <a:xfrm>
            <a:off x="1090083" y="3937000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Scheduler </a:t>
            </a:r>
            <a:endParaRPr lang="en-US" sz="1400" b="1">
              <a:latin typeface="Calibri"/>
              <a:cs typeface="Calibri"/>
            </a:endParaRPr>
          </a:p>
          <a:p>
            <a:r>
              <a:rPr lang="en-US" sz="14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Automate recurring and parameterized test executions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77C648-F961-D0DF-5D9D-956E2044DF79}"/>
              </a:ext>
            </a:extLst>
          </p:cNvPr>
          <p:cNvSpPr txBox="1"/>
          <p:nvPr/>
        </p:nvSpPr>
        <p:spPr>
          <a:xfrm>
            <a:off x="9318322" y="385706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 panose="020B0604020202020204" pitchFamily="34" charset="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alibri"/>
                <a:cs typeface="Calibri"/>
              </a:rPr>
              <a:t>Test Data Management Tool​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alibri"/>
                <a:cs typeface="Calibri"/>
              </a:rPr>
              <a:t>   Email &amp;Teams Notifications​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alibri"/>
                <a:cs typeface="Calibri"/>
              </a:rPr>
              <a:t>   Flaky Test Detection ​</a:t>
            </a:r>
          </a:p>
          <a:p>
            <a:pPr algn="ctr"/>
            <a:endParaRPr lang="en-US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0160280E-DB53-16A6-5204-13A139E46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574716"/>
              </p:ext>
            </p:extLst>
          </p:nvPr>
        </p:nvGraphicFramePr>
        <p:xfrm>
          <a:off x="789785" y="5697505"/>
          <a:ext cx="10604378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962">
                  <a:extLst>
                    <a:ext uri="{9D8B030D-6E8A-4147-A177-3AD203B41FA5}">
                      <a16:colId xmlns:a16="http://schemas.microsoft.com/office/drawing/2014/main" val="257991179"/>
                    </a:ext>
                  </a:extLst>
                </a:gridCol>
                <a:gridCol w="1468861">
                  <a:extLst>
                    <a:ext uri="{9D8B030D-6E8A-4147-A177-3AD203B41FA5}">
                      <a16:colId xmlns:a16="http://schemas.microsoft.com/office/drawing/2014/main" val="3737988962"/>
                    </a:ext>
                  </a:extLst>
                </a:gridCol>
                <a:gridCol w="1514912">
                  <a:extLst>
                    <a:ext uri="{9D8B030D-6E8A-4147-A177-3AD203B41FA5}">
                      <a16:colId xmlns:a16="http://schemas.microsoft.com/office/drawing/2014/main" val="3234516299"/>
                    </a:ext>
                  </a:extLst>
                </a:gridCol>
                <a:gridCol w="1305066">
                  <a:extLst>
                    <a:ext uri="{9D8B030D-6E8A-4147-A177-3AD203B41FA5}">
                      <a16:colId xmlns:a16="http://schemas.microsoft.com/office/drawing/2014/main" val="64408704"/>
                    </a:ext>
                  </a:extLst>
                </a:gridCol>
                <a:gridCol w="1317858">
                  <a:extLst>
                    <a:ext uri="{9D8B030D-6E8A-4147-A177-3AD203B41FA5}">
                      <a16:colId xmlns:a16="http://schemas.microsoft.com/office/drawing/2014/main" val="2113656067"/>
                    </a:ext>
                  </a:extLst>
                </a:gridCol>
                <a:gridCol w="2123932">
                  <a:extLst>
                    <a:ext uri="{9D8B030D-6E8A-4147-A177-3AD203B41FA5}">
                      <a16:colId xmlns:a16="http://schemas.microsoft.com/office/drawing/2014/main" val="3742892743"/>
                    </a:ext>
                  </a:extLst>
                </a:gridCol>
                <a:gridCol w="1312787">
                  <a:extLst>
                    <a:ext uri="{9D8B030D-6E8A-4147-A177-3AD203B41FA5}">
                      <a16:colId xmlns:a16="http://schemas.microsoft.com/office/drawing/2014/main" val="4235273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Layer</a:t>
                      </a:r>
                      <a:endParaRPr lang="en-US"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8B5FB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UI</a:t>
                      </a:r>
                    </a:p>
                  </a:txBody>
                  <a:tcPr anchor="ctr">
                    <a:solidFill>
                      <a:srgbClr val="8B5FB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Backend</a:t>
                      </a:r>
                      <a:endParaRPr lang="en-US" sz="1400" err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8B5FB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CI/CD</a:t>
                      </a:r>
                      <a:endParaRPr lang="en-US"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8B5FB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Reports    </a:t>
                      </a:r>
                      <a:endParaRPr lang="en-US"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8B5FB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Integrations</a:t>
                      </a:r>
                      <a:endParaRPr lang="en-US"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8B5FB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Storage</a:t>
                      </a:r>
                      <a:endParaRPr lang="en-US"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8B5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58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Angular, TypeScript</a:t>
                      </a:r>
                      <a:endParaRPr lang="en-US"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Node.js, Express</a:t>
                      </a:r>
                      <a:endParaRPr lang="en-US"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Jenkins</a:t>
                      </a:r>
                      <a:endParaRPr lang="en-US"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JUnit XML, Allure</a:t>
                      </a:r>
                      <a:endParaRPr lang="en-US"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Report Portal, SVN, Lambda Test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SQLite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2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F04572-779B-6134-91B7-E6C774B41335}"/>
              </a:ext>
            </a:extLst>
          </p:cNvPr>
          <p:cNvSpPr txBox="1"/>
          <p:nvPr/>
        </p:nvSpPr>
        <p:spPr>
          <a:xfrm>
            <a:off x="502073" y="1839017"/>
            <a:ext cx="635001" cy="657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▶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7244D0-EA26-9882-3737-76F744AF8487}"/>
              </a:ext>
            </a:extLst>
          </p:cNvPr>
          <p:cNvSpPr txBox="1"/>
          <p:nvPr/>
        </p:nvSpPr>
        <p:spPr>
          <a:xfrm>
            <a:off x="571346" y="2656150"/>
            <a:ext cx="4964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▤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AD1A0-9BAF-37D9-15FF-3E9107BDC6B1}"/>
              </a:ext>
            </a:extLst>
          </p:cNvPr>
          <p:cNvSpPr txBox="1"/>
          <p:nvPr/>
        </p:nvSpPr>
        <p:spPr>
          <a:xfrm>
            <a:off x="513619" y="3830139"/>
            <a:ext cx="6119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◷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AFA1F-29FA-749F-A4D1-EEA68393879D}"/>
              </a:ext>
            </a:extLst>
          </p:cNvPr>
          <p:cNvSpPr txBox="1"/>
          <p:nvPr/>
        </p:nvSpPr>
        <p:spPr>
          <a:xfrm>
            <a:off x="542482" y="3224094"/>
            <a:ext cx="5541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▦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09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452225" y="978500"/>
            <a:ext cx="5241345" cy="3084063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7030A0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645762" y="998939"/>
            <a:ext cx="5228337" cy="7167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800" b="1" kern="0" spc="200" dirty="0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633855" y="1682313"/>
            <a:ext cx="4406809" cy="1744001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Received KT from the Everest team on test suites across all brands — suite ownership, execution strategy, and Jenkins auto-scheduled jobs.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Understood daily execution processes, regression cycles, and automation maintenance workflows.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Analyzing daily Sanity Suite failures and performing RCA across automation, environment, and application issues.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351758" y="4612746"/>
            <a:ext cx="10689428" cy="208109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7030A0"/>
            </a:solidFill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Automated validation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variables using Playwright across end-to-end user journeys.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Dynamic comparison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values against UI data, business rules, and expected behavior.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Comprehensive reporting with PASS / FAIL / MISSING status, detailed comparison results, and HTML/CSV reports for faster analysis</a:t>
            </a:r>
            <a:endParaRPr lang="en-US"/>
          </a:p>
          <a:p>
            <a:pPr>
              <a:lnSpc>
                <a:spcPct val="110000"/>
              </a:lnSpc>
              <a:spcBef>
                <a:spcPts val="700"/>
              </a:spcBef>
            </a:pPr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13445-88F5-3CCD-A580-5656CDABBA6E}"/>
              </a:ext>
            </a:extLst>
          </p:cNvPr>
          <p:cNvSpPr txBox="1">
            <a:spLocks/>
          </p:cNvSpPr>
          <p:nvPr/>
        </p:nvSpPr>
        <p:spPr>
          <a:xfrm>
            <a:off x="509813" y="290000"/>
            <a:ext cx="11172375" cy="900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  ONGOING ACTIVITIES – AUTOMATION TEAM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4" name="Left Header">
            <a:extLst>
              <a:ext uri="{FF2B5EF4-FFF2-40B4-BE49-F238E27FC236}">
                <a16:creationId xmlns:a16="http://schemas.microsoft.com/office/drawing/2014/main" id="{F8FE0781-AA24-AA16-D142-444AF3AEAD2C}"/>
              </a:ext>
            </a:extLst>
          </p:cNvPr>
          <p:cNvSpPr/>
          <p:nvPr/>
        </p:nvSpPr>
        <p:spPr>
          <a:xfrm>
            <a:off x="3824731" y="4916096"/>
            <a:ext cx="4525868" cy="5619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800" b="1" kern="0" spc="200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DATA LAYER VALIDATION</a:t>
            </a:r>
            <a:endParaRPr lang="en-US" sz="1800" b="1" kern="0" spc="200" dirty="0">
              <a:solidFill>
                <a:srgbClr val="7030A0"/>
              </a:solidFill>
              <a:latin typeface="Calibri"/>
              <a:ea typeface="Calibri"/>
              <a:cs typeface="Calibri"/>
            </a:endParaRPr>
          </a:p>
          <a:p>
            <a:endParaRPr lang="en-US" sz="1800" b="1" kern="0" spc="200" dirty="0">
              <a:solidFill>
                <a:srgbClr val="7030A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ight Card">
            <a:extLst>
              <a:ext uri="{FF2B5EF4-FFF2-40B4-BE49-F238E27FC236}">
                <a16:creationId xmlns:a16="http://schemas.microsoft.com/office/drawing/2014/main" id="{84071B8F-44F9-56F3-21D8-F9610E1A35AC}"/>
              </a:ext>
            </a:extLst>
          </p:cNvPr>
          <p:cNvSpPr/>
          <p:nvPr/>
        </p:nvSpPr>
        <p:spPr>
          <a:xfrm>
            <a:off x="6096000" y="1005155"/>
            <a:ext cx="4795835" cy="305740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7030A0"/>
            </a:solidFill>
          </a:ln>
        </p:spPr>
        <p:txBody>
          <a:bodyPr lIns="91440" tIns="45720" rIns="91440" bIns="45720" anchor="t"/>
          <a:lstStyle/>
          <a:p>
            <a:pPr>
              <a:lnSpc>
                <a:spcPct val="110000"/>
              </a:lnSpc>
              <a:spcBef>
                <a:spcPts val="700"/>
              </a:spcBef>
            </a:pPr>
            <a:r>
              <a:rPr lang="en-US" sz="1800" b="1" i="0" u="none" strike="noStrike" baseline="0" dirty="0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REGRESSION SUITE — SPRINT 26.16 </a:t>
            </a:r>
            <a:r>
              <a:rPr lang="en-US" sz="1800" b="1" i="0" u="none" strike="noStrike" baseline="0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/26.17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scripting completed in Sprint 26.16 for 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AT and Loft — both Desktop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and Mobile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 Web.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Jenkins job triggered, achieving an </a:t>
            </a:r>
            <a:r>
              <a:rPr lang="en-US" sz="1600" b="1">
                <a:solidFill>
                  <a:srgbClr val="7030A0"/>
                </a:solidFill>
                <a:ea typeface="Calibri"/>
                <a:cs typeface="Calibri"/>
              </a:rPr>
              <a:t>84–85% pass rate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Report shared with the Everest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team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 for approval on </a:t>
            </a:r>
            <a:r>
              <a:rPr lang="en-US" sz="1600" b="1" dirty="0">
                <a:solidFill>
                  <a:srgbClr val="0F2742"/>
                </a:solidFill>
                <a:ea typeface="Calibri"/>
                <a:cs typeface="Calibri"/>
              </a:rPr>
              <a:t>PR #1652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endParaRPr lang="en-US" sz="1600" dirty="0">
              <a:ea typeface="Calibri"/>
              <a:cs typeface="Calibri"/>
            </a:endParaRPr>
          </a:p>
          <a:p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30C6D-E6FF-13BC-53F5-6276E890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E93F4655-80AE-DFCA-B255-E38B5ED2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E5F6DD8-DB3F-DCF8-080F-92094E22CCFB}"/>
              </a:ext>
            </a:extLst>
          </p:cNvPr>
          <p:cNvSpPr txBox="1">
            <a:spLocks/>
          </p:cNvSpPr>
          <p:nvPr/>
        </p:nvSpPr>
        <p:spPr>
          <a:xfrm>
            <a:off x="509813" y="290000"/>
            <a:ext cx="11172375" cy="900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PLANNED ACTIVITIES – AUTOMATION TEAM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0" name="ORPOS Card"/>
          <p:cNvSpPr/>
          <p:nvPr/>
        </p:nvSpPr>
        <p:spPr>
          <a:xfrm>
            <a:off x="8382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7030A0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ORPOS MIGRATION</a:t>
            </a:r>
          </a:p>
          <a:p>
            <a:pPr algn="ctr">
              <a:lnSpc>
                <a:spcPct val="112000"/>
              </a:lnSpc>
              <a:spcBef>
                <a:spcPts val="900"/>
              </a:spcBef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built on Java and Sikuli to be migrated to Playwright and Visor.</a:t>
            </a:r>
          </a:p>
        </p:txBody>
      </p:sp>
      <p:sp>
        <p:nvSpPr>
          <p:cNvPr id="6" name="ECOMM Card"/>
          <p:cNvSpPr/>
          <p:nvPr/>
        </p:nvSpPr>
        <p:spPr>
          <a:xfrm>
            <a:off x="66294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7030A0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 dirty="0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ECOMM MIGRATION</a:t>
            </a:r>
          </a:p>
          <a:p>
            <a:pPr algn="ctr"/>
            <a:endParaRPr lang="en-US" sz="1800" b="1" dirty="0">
              <a:solidFill>
                <a:srgbClr val="7030A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is built on selenium/java to be migrated to playwright/typescript(AFTA FRAMEWORK)</a:t>
            </a:r>
            <a:b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</a:b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Execution will be based on priority based testcases.</a:t>
            </a:r>
            <a:br>
              <a:rPr lang="en-US" sz="1600" dirty="0">
                <a:latin typeface="Calibri"/>
                <a:ea typeface="Calibri"/>
                <a:cs typeface="Calibri"/>
              </a:rPr>
            </a:br>
            <a:br>
              <a:rPr lang="en-US" sz="1600" dirty="0">
                <a:latin typeface="Calibri"/>
                <a:ea typeface="Calibri"/>
                <a:cs typeface="Calibri"/>
              </a:rPr>
            </a:b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</p:txBody>
      </p:sp>
      <p:sp>
        <p:nvSpPr>
          <p:cNvPr id="2" name="CHICOS Card"/>
          <p:cNvSpPr/>
          <p:nvPr/>
        </p:nvSpPr>
        <p:spPr>
          <a:xfrm>
            <a:off x="8382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7030A0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CHICOS SHADOWING/MAINTAINANCE</a:t>
            </a:r>
          </a:p>
          <a:p>
            <a:pPr algn="ctr"/>
            <a:endParaRPr lang="en-US" sz="1800" b="1" dirty="0">
              <a:solidFill>
                <a:srgbClr val="7030A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Framework analysis is currently underway, with shadowing of the Chicos suites scheduled to begin shortly.</a:t>
            </a:r>
          </a:p>
        </p:txBody>
      </p:sp>
      <p:sp>
        <p:nvSpPr>
          <p:cNvPr id="5" name="UIDASH Card"/>
          <p:cNvSpPr/>
          <p:nvPr/>
        </p:nvSpPr>
        <p:spPr>
          <a:xfrm>
            <a:off x="66294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7030A0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UI DASHBOARD – PHASE 2</a:t>
            </a:r>
          </a:p>
          <a:p>
            <a:pPr algn="ctr"/>
            <a:endParaRPr lang="en-US" sz="1000" b="1" dirty="0">
              <a:solidFill>
                <a:srgbClr val="7030A0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Implementation of multiple user login</a:t>
            </a: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User scheduling history with timestamp</a:t>
            </a: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AI-powered test summaries</a:t>
            </a:r>
          </a:p>
        </p:txBody>
      </p:sp>
    </p:spTree>
    <p:extLst>
      <p:ext uri="{BB962C8B-B14F-4D97-AF65-F5344CB8AC3E}">
        <p14:creationId xmlns:p14="http://schemas.microsoft.com/office/powerpoint/2010/main" val="3339516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hankYou"/>
          <p:cNvSpPr txBox="1"/>
          <p:nvPr/>
        </p:nvSpPr>
        <p:spPr>
          <a:xfrm>
            <a:off x="1525712" y="2400475"/>
            <a:ext cx="9142288" cy="20682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14" y="1121797"/>
            <a:ext cx="933572" cy="1099541"/>
          </a:xfrm>
          <a:prstGeom prst="rect">
            <a:avLst/>
          </a:prstGeom>
        </p:spPr>
      </p:pic>
      <p:sp>
        <p:nvSpPr>
          <p:cNvPr id="710" name="TY Sub"/>
          <p:cNvSpPr txBox="1"/>
          <p:nvPr/>
        </p:nvSpPr>
        <p:spPr>
          <a:xfrm>
            <a:off x="1525712" y="4520000"/>
            <a:ext cx="9142288" cy="4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>
                <a:solidFill>
                  <a:srgbClr val="7030A0"/>
                </a:solidFill>
                <a:latin typeface="Calibri"/>
                <a:cs typeface="Calibri"/>
              </a:rPr>
              <a:t>Questions &amp; Discussion</a:t>
            </a:r>
          </a:p>
        </p:txBody>
      </p:sp>
      <p:sp>
        <p:nvSpPr>
          <p:cNvPr id="711" name="TY Contact"/>
          <p:cNvSpPr txBox="1"/>
          <p:nvPr/>
        </p:nvSpPr>
        <p:spPr>
          <a:xfrm>
            <a:off x="1525712" y="5080000"/>
            <a:ext cx="9142288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>
                <a:solidFill>
                  <a:srgbClr val="64748B"/>
                </a:solidFill>
                <a:latin typeface="Calibri"/>
                <a:cs typeface="Calibri"/>
              </a:rPr>
              <a:t>Automation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5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1106</Words>
  <Application>Microsoft Office PowerPoint</Application>
  <PresentationFormat>Widescreen</PresentationFormat>
  <Paragraphs>176</Paragraphs>
  <Slides>19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 POM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poeyahmozhi tholkappian</cp:lastModifiedBy>
  <cp:revision>626</cp:revision>
  <dcterms:created xsi:type="dcterms:W3CDTF">2026-06-17T07:36:54Z</dcterms:created>
  <dcterms:modified xsi:type="dcterms:W3CDTF">2026-06-18T04:07:04Z</dcterms:modified>
</cp:coreProperties>
</file>