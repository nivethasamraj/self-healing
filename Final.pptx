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147481700" r:id="rId2"/>
    <p:sldId id="2147481710" r:id="rId3"/>
    <p:sldId id="2147481714" r:id="rId4"/>
    <p:sldId id="2147481715" r:id="rId5"/>
    <p:sldId id="2147481711" r:id="rId6"/>
    <p:sldId id="2147481688" r:id="rId7"/>
    <p:sldId id="2147481712" r:id="rId8"/>
    <p:sldId id="2147481685" r:id="rId9"/>
    <p:sldId id="2147481686" r:id="rId10"/>
    <p:sldId id="2147481713" r:id="rId11"/>
    <p:sldId id="256" r:id="rId12"/>
    <p:sldId id="258" r:id="rId13"/>
    <p:sldId id="2147481720" r:id="rId14"/>
    <p:sldId id="259" r:id="rId15"/>
    <p:sldId id="547" r:id="rId16"/>
    <p:sldId id="257" r:id="rId17"/>
    <p:sldId id="548" r:id="rId18"/>
    <p:sldId id="2147481689" r:id="rId19"/>
    <p:sldId id="214748170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698810-69C9-14B1-48A4-690314317EE1}" v="1246" dt="2026-06-17T12:40:26.849"/>
    <p1510:client id="{B15EBFFE-349D-8C10-95E0-E424CBE9D32E}" v="165" dt="2026-06-17T10:31:27.693"/>
    <p1510:client id="{B645BBBD-947A-7C72-9DBC-22B83B255327}" v="125" dt="2026-06-17T13:42:19.524"/>
    <p1510:client id="{B7263528-15EF-B1DA-ED32-01E89E2FDEFB}" v="4" dt="2026-06-17T10:16:06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1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EA6CB-C57E-491A-96CE-B952AE6437D0}" type="datetimeFigureOut"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C2779D-6FF1-4F24-9B7E-68862E79B22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138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15CF0-9107-1E7A-7813-E1EEEC21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74EB5-6A95-EA33-5112-482F1E9B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B44D8-5E48-3DAC-292F-754773A5D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BD95B-5EE6-87AB-09AA-805ED285E9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85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A6C11-E66C-A678-53C8-199576AF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5B1D7-E5C1-A8A2-D146-005C4705B7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9EE276-6D80-56F5-8422-B297E2E0E5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AC62C-F3A6-80C3-E222-6AAACDFC3F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389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19149" y="508006"/>
            <a:ext cx="10334627" cy="5073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ts val="3867"/>
              </a:lnSpc>
              <a:defRPr sz="4000" b="1" cap="all" baseline="0">
                <a:solidFill>
                  <a:schemeClr val="bg1">
                    <a:lumMod val="1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SLIDE TITLE, CALIBRI BOLD, 60 PT</a:t>
            </a:r>
          </a:p>
        </p:txBody>
      </p:sp>
      <p:sp>
        <p:nvSpPr>
          <p:cNvPr id="4" name="Oval 3"/>
          <p:cNvSpPr>
            <a:spLocks noChangeAspect="1"/>
          </p:cNvSpPr>
          <p:nvPr userDrawn="1"/>
        </p:nvSpPr>
        <p:spPr>
          <a:xfrm>
            <a:off x="11484236" y="6246687"/>
            <a:ext cx="384000" cy="384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24000" rIns="0" bIns="24000" rtlCol="0" anchor="ctr"/>
          <a:lstStyle/>
          <a:p>
            <a:pPr algn="ctr"/>
            <a:fld id="{E5B4EB64-54DE-40F8-9354-51A55C032A93}" type="slidenum">
              <a:rPr lang="pl-PL" sz="1600" smtClean="0">
                <a:solidFill>
                  <a:schemeClr val="bg1">
                    <a:lumMod val="10000"/>
                  </a:schemeClr>
                </a:solidFill>
                <a:latin typeface="+mn-lt"/>
                <a:cs typeface="Calibri" panose="020B0604020202020204" pitchFamily="34" charset="0"/>
              </a:rPr>
              <a:t>‹#›</a:t>
            </a:fld>
            <a:endParaRPr lang="pl-PL" sz="1600">
              <a:solidFill>
                <a:schemeClr val="bg1">
                  <a:lumMod val="10000"/>
                </a:schemeClr>
              </a:solidFill>
              <a:latin typeface="+mn-lt"/>
              <a:cs typeface="Calibri" panose="020B0604020202020204" pitchFamily="34" charset="0"/>
            </a:endParaRPr>
          </a:p>
        </p:txBody>
      </p:sp>
      <p:pic>
        <p:nvPicPr>
          <p:cNvPr id="5" name="Graphic 4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83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Calibri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Calibri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Calibri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Calibri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Calibri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Calibri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Calibri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Calibri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10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"/>
          <p:cNvSpPr txBox="1"/>
          <p:nvPr/>
        </p:nvSpPr>
        <p:spPr>
          <a:xfrm>
            <a:off x="735841" y="2050000"/>
            <a:ext cx="8949440" cy="3162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b="1">
                <a:latin typeface="+mj-lt"/>
                <a:ea typeface="+mj-ea"/>
                <a:cs typeface="+mj-cs"/>
              </a:rPr>
              <a:t>AUTOMATION</a:t>
            </a:r>
            <a:r>
              <a:rPr lang="en-US" sz="5200" b="1" kern="1200">
                <a:latin typeface="+mj-lt"/>
                <a:ea typeface="+mj-ea"/>
                <a:cs typeface="+mj-cs"/>
              </a:rPr>
              <a:t> </a:t>
            </a:r>
            <a:r>
              <a:rPr lang="en-US" sz="5200" b="1" kern="1200" dirty="0">
                <a:latin typeface="+mj-lt"/>
                <a:ea typeface="+mj-ea"/>
                <a:cs typeface="+mj-cs"/>
              </a:rPr>
              <a:t>ASSESSMENT &amp; ROADMAP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2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3" name="Subtitle"/>
          <p:cNvSpPr txBox="1"/>
          <p:nvPr/>
        </p:nvSpPr>
        <p:spPr>
          <a:xfrm>
            <a:off x="733806" y="4350000"/>
            <a:ext cx="8337135" cy="31807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 dirty="0">
                <a:solidFill>
                  <a:srgbClr val="4A1D6B"/>
                </a:solidFill>
                <a:latin typeface="+mn-lt"/>
                <a:ea typeface="+mn-ea"/>
                <a:cs typeface="+mn-cs"/>
              </a:rPr>
              <a:t>Assessing </a:t>
            </a:r>
            <a:r>
              <a:rPr lang="en-US" sz="2000" dirty="0">
                <a:solidFill>
                  <a:srgbClr val="4A1D6B"/>
                </a:solidFill>
              </a:rPr>
              <a:t>current</a:t>
            </a:r>
            <a:r>
              <a:rPr lang="en-US" sz="2000" kern="1200" dirty="0">
                <a:solidFill>
                  <a:srgbClr val="4A1D6B"/>
                </a:solidFill>
                <a:latin typeface="+mn-lt"/>
                <a:ea typeface="+mn-ea"/>
                <a:cs typeface="+mn-cs"/>
              </a:rPr>
              <a:t> automation landscape and charting the path to a unified, AI-powered framework.</a:t>
            </a:r>
          </a:p>
        </p:txBody>
      </p:sp>
      <p:pic>
        <p:nvPicPr>
          <p:cNvPr id="50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0217" y="300000"/>
            <a:ext cx="958087" cy="11284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1219200" y="2895600"/>
            <a:ext cx="9753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4000" b="1" dirty="0">
                <a:solidFill>
                  <a:srgbClr val="FFFFFF"/>
                </a:solidFill>
              </a:rPr>
              <a:t>Challenges in the Current Framework Landscape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1219200" y="4724400"/>
            <a:ext cx="9296400" cy="8001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E8DAF2"/>
                </a:solidFill>
              </a:rPr>
              <a:t>Our research shows the current framework has significant drawbacks — a strong case for moving to a unified approach.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2AFC7-C01D-1404-9F5F-6D51CD9A6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6">
            <a:extLst>
              <a:ext uri="{FF2B5EF4-FFF2-40B4-BE49-F238E27FC236}">
                <a16:creationId xmlns:a16="http://schemas.microsoft.com/office/drawing/2014/main" id="{87841572-52F5-26BC-5699-83F5D0C96D10}"/>
              </a:ext>
            </a:extLst>
          </p:cNvPr>
          <p:cNvSpPr/>
          <p:nvPr/>
        </p:nvSpPr>
        <p:spPr>
          <a:xfrm>
            <a:off x="650872" y="1413329"/>
            <a:ext cx="438912" cy="438912"/>
          </a:xfrm>
          <a:prstGeom prst="ellipse">
            <a:avLst/>
          </a:prstGeom>
          <a:solidFill>
            <a:srgbClr val="0B7B8A"/>
          </a:solidFill>
          <a:ln w="12700">
            <a:solidFill>
              <a:srgbClr val="0B7B8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6" name="Text 27">
            <a:extLst>
              <a:ext uri="{FF2B5EF4-FFF2-40B4-BE49-F238E27FC236}">
                <a16:creationId xmlns:a16="http://schemas.microsoft.com/office/drawing/2014/main" id="{709D1FA7-9B89-6503-4328-DFA746AE6CF9}"/>
              </a:ext>
            </a:extLst>
          </p:cNvPr>
          <p:cNvSpPr/>
          <p:nvPr/>
        </p:nvSpPr>
        <p:spPr>
          <a:xfrm>
            <a:off x="641493" y="14133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28">
            <a:extLst>
              <a:ext uri="{FF2B5EF4-FFF2-40B4-BE49-F238E27FC236}">
                <a16:creationId xmlns:a16="http://schemas.microsoft.com/office/drawing/2014/main" id="{AA4C2150-0DAB-9BC8-99E4-BFAC70F55839}"/>
              </a:ext>
            </a:extLst>
          </p:cNvPr>
          <p:cNvSpPr/>
          <p:nvPr/>
        </p:nvSpPr>
        <p:spPr>
          <a:xfrm>
            <a:off x="1251093" y="1067557"/>
            <a:ext cx="10120191" cy="1140124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 lIns="121920" tIns="60960" rIns="121920" bIns="6096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>
                <a:ea typeface="Calibri"/>
                <a:cs typeface="Calibri"/>
              </a:rPr>
              <a:t>Multiple Frameworks Across Applications</a:t>
            </a:r>
          </a:p>
          <a:p>
            <a:endParaRPr lang="en-IN" sz="1600" dirty="0">
              <a:ea typeface="Calibri"/>
              <a:cs typeface="Calibri"/>
            </a:endParaRPr>
          </a:p>
        </p:txBody>
      </p:sp>
      <p:sp>
        <p:nvSpPr>
          <p:cNvPr id="8" name="Shape 29">
            <a:extLst>
              <a:ext uri="{FF2B5EF4-FFF2-40B4-BE49-F238E27FC236}">
                <a16:creationId xmlns:a16="http://schemas.microsoft.com/office/drawing/2014/main" id="{DC8ECF27-A7D6-452B-8433-19784D08AAC6}"/>
              </a:ext>
            </a:extLst>
          </p:cNvPr>
          <p:cNvSpPr/>
          <p:nvPr/>
        </p:nvSpPr>
        <p:spPr>
          <a:xfrm>
            <a:off x="1251093" y="1110401"/>
            <a:ext cx="73152" cy="1097280"/>
          </a:xfrm>
          <a:prstGeom prst="rect">
            <a:avLst/>
          </a:prstGeom>
          <a:solidFill>
            <a:srgbClr val="0B7B8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1" name="Text 31">
            <a:extLst>
              <a:ext uri="{FF2B5EF4-FFF2-40B4-BE49-F238E27FC236}">
                <a16:creationId xmlns:a16="http://schemas.microsoft.com/office/drawing/2014/main" id="{900D0600-7DDC-C526-2013-6637C4E63893}"/>
              </a:ext>
            </a:extLst>
          </p:cNvPr>
          <p:cNvSpPr/>
          <p:nvPr/>
        </p:nvSpPr>
        <p:spPr>
          <a:xfrm>
            <a:off x="1514677" y="124041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50" b="1" dirty="0">
              <a:solidFill>
                <a:srgbClr val="0B1F3A"/>
              </a:solidFill>
              <a:ea typeface="Calibri"/>
              <a:cs typeface="Calibri"/>
            </a:endParaRPr>
          </a:p>
        </p:txBody>
      </p:sp>
      <p:sp>
        <p:nvSpPr>
          <p:cNvPr id="12" name="Text 32">
            <a:extLst>
              <a:ext uri="{FF2B5EF4-FFF2-40B4-BE49-F238E27FC236}">
                <a16:creationId xmlns:a16="http://schemas.microsoft.com/office/drawing/2014/main" id="{E3D33E17-FD40-E116-48FE-BBE2604DC4E8}"/>
              </a:ext>
            </a:extLst>
          </p:cNvPr>
          <p:cNvSpPr/>
          <p:nvPr/>
        </p:nvSpPr>
        <p:spPr>
          <a:xfrm>
            <a:off x="1515540" y="1251174"/>
            <a:ext cx="10319616" cy="814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Different implementations and standards across projects (BDD, TestNG, etc.).</a:t>
            </a:r>
          </a:p>
        </p:txBody>
      </p:sp>
      <p:sp>
        <p:nvSpPr>
          <p:cNvPr id="15" name="Shape 35">
            <a:extLst>
              <a:ext uri="{FF2B5EF4-FFF2-40B4-BE49-F238E27FC236}">
                <a16:creationId xmlns:a16="http://schemas.microsoft.com/office/drawing/2014/main" id="{2F815899-6A7D-243D-87C4-428BE3D55DDF}"/>
              </a:ext>
            </a:extLst>
          </p:cNvPr>
          <p:cNvSpPr/>
          <p:nvPr/>
        </p:nvSpPr>
        <p:spPr>
          <a:xfrm>
            <a:off x="641493" y="2730065"/>
            <a:ext cx="438912" cy="43891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6" name="Text 36">
            <a:extLst>
              <a:ext uri="{FF2B5EF4-FFF2-40B4-BE49-F238E27FC236}">
                <a16:creationId xmlns:a16="http://schemas.microsoft.com/office/drawing/2014/main" id="{4C6A08F4-04C3-E156-FC3D-700DA6437DE3}"/>
              </a:ext>
            </a:extLst>
          </p:cNvPr>
          <p:cNvSpPr/>
          <p:nvPr/>
        </p:nvSpPr>
        <p:spPr>
          <a:xfrm>
            <a:off x="641493" y="272068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DC29027D-EC50-336E-22E4-0F7098899710}"/>
              </a:ext>
            </a:extLst>
          </p:cNvPr>
          <p:cNvSpPr/>
          <p:nvPr/>
        </p:nvSpPr>
        <p:spPr>
          <a:xfrm>
            <a:off x="1089784" y="2389328"/>
            <a:ext cx="10269405" cy="113508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8" name="Shape 38">
            <a:extLst>
              <a:ext uri="{FF2B5EF4-FFF2-40B4-BE49-F238E27FC236}">
                <a16:creationId xmlns:a16="http://schemas.microsoft.com/office/drawing/2014/main" id="{E1CA6206-071B-6C52-EC90-B3280644920E}"/>
              </a:ext>
            </a:extLst>
          </p:cNvPr>
          <p:cNvSpPr/>
          <p:nvPr/>
        </p:nvSpPr>
        <p:spPr>
          <a:xfrm>
            <a:off x="1251093" y="2427137"/>
            <a:ext cx="73152" cy="109728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1" name="Text 40">
            <a:extLst>
              <a:ext uri="{FF2B5EF4-FFF2-40B4-BE49-F238E27FC236}">
                <a16:creationId xmlns:a16="http://schemas.microsoft.com/office/drawing/2014/main" id="{779D3D3C-F0A3-E475-2325-65429321F181}"/>
              </a:ext>
            </a:extLst>
          </p:cNvPr>
          <p:cNvSpPr/>
          <p:nvPr/>
        </p:nvSpPr>
        <p:spPr>
          <a:xfrm>
            <a:off x="1527533" y="2544463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Obsolete and Redundant Components</a:t>
            </a:r>
            <a:endParaRPr lang="en-US" dirty="0"/>
          </a:p>
        </p:txBody>
      </p:sp>
      <p:sp>
        <p:nvSpPr>
          <p:cNvPr id="22" name="Text 41">
            <a:extLst>
              <a:ext uri="{FF2B5EF4-FFF2-40B4-BE49-F238E27FC236}">
                <a16:creationId xmlns:a16="http://schemas.microsoft.com/office/drawing/2014/main" id="{14FEE72C-F858-2520-4BC1-22A9A9BEB682}"/>
              </a:ext>
            </a:extLst>
          </p:cNvPr>
          <p:cNvSpPr/>
          <p:nvPr/>
        </p:nvSpPr>
        <p:spPr>
          <a:xfrm>
            <a:off x="1525807" y="2854429"/>
            <a:ext cx="9524587" cy="49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Some suites and utilities are no longer actively maintained, and deprecated test cases continue to exist in execution suites.</a:t>
            </a:r>
          </a:p>
        </p:txBody>
      </p:sp>
      <p:sp>
        <p:nvSpPr>
          <p:cNvPr id="25" name="Shape 44">
            <a:extLst>
              <a:ext uri="{FF2B5EF4-FFF2-40B4-BE49-F238E27FC236}">
                <a16:creationId xmlns:a16="http://schemas.microsoft.com/office/drawing/2014/main" id="{26E884E6-B5F2-BAE3-2231-42411D8E01E7}"/>
              </a:ext>
            </a:extLst>
          </p:cNvPr>
          <p:cNvSpPr/>
          <p:nvPr/>
        </p:nvSpPr>
        <p:spPr>
          <a:xfrm>
            <a:off x="641493" y="3999908"/>
            <a:ext cx="438912" cy="438912"/>
          </a:xfrm>
          <a:prstGeom prst="ellipse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6" name="Text 45">
            <a:extLst>
              <a:ext uri="{FF2B5EF4-FFF2-40B4-BE49-F238E27FC236}">
                <a16:creationId xmlns:a16="http://schemas.microsoft.com/office/drawing/2014/main" id="{1B6C6D9E-DDB2-5F5B-70CB-19FF898AE93F}"/>
              </a:ext>
            </a:extLst>
          </p:cNvPr>
          <p:cNvSpPr/>
          <p:nvPr/>
        </p:nvSpPr>
        <p:spPr>
          <a:xfrm>
            <a:off x="641493" y="39905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2F80FCC7-155B-8199-CB9A-1F735D093641}"/>
              </a:ext>
            </a:extLst>
          </p:cNvPr>
          <p:cNvSpPr/>
          <p:nvPr/>
        </p:nvSpPr>
        <p:spPr>
          <a:xfrm>
            <a:off x="1272128" y="3610827"/>
            <a:ext cx="10097053" cy="126450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8" name="Shape 47">
            <a:extLst>
              <a:ext uri="{FF2B5EF4-FFF2-40B4-BE49-F238E27FC236}">
                <a16:creationId xmlns:a16="http://schemas.microsoft.com/office/drawing/2014/main" id="{13D98402-2055-D79E-605C-7E3DEB8B634F}"/>
              </a:ext>
            </a:extLst>
          </p:cNvPr>
          <p:cNvSpPr/>
          <p:nvPr/>
        </p:nvSpPr>
        <p:spPr>
          <a:xfrm>
            <a:off x="1251093" y="3743873"/>
            <a:ext cx="73152" cy="1097280"/>
          </a:xfrm>
          <a:prstGeom prst="rect">
            <a:avLst/>
          </a:prstGeom>
          <a:solidFill>
            <a:srgbClr val="C8860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1" name="Text 49">
            <a:extLst>
              <a:ext uri="{FF2B5EF4-FFF2-40B4-BE49-F238E27FC236}">
                <a16:creationId xmlns:a16="http://schemas.microsoft.com/office/drawing/2014/main" id="{724B9BE5-0460-1FA0-83A5-2AF94630C376}"/>
              </a:ext>
            </a:extLst>
          </p:cNvPr>
          <p:cNvSpPr/>
          <p:nvPr/>
        </p:nvSpPr>
        <p:spPr>
          <a:xfrm>
            <a:off x="866503" y="360719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08965" lvl="1"/>
            <a:endParaRPr lang="en-US" sz="1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marL="608965" lvl="1"/>
            <a:r>
              <a:rPr lang="en-US" sz="1800" b="1">
                <a:solidFill>
                  <a:srgbClr val="000000"/>
                </a:solidFill>
                <a:ea typeface="+mn-lt"/>
                <a:cs typeface="+mn-lt"/>
              </a:rPr>
              <a:t>Fragmented Architecture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2" name="Text 50">
            <a:extLst>
              <a:ext uri="{FF2B5EF4-FFF2-40B4-BE49-F238E27FC236}">
                <a16:creationId xmlns:a16="http://schemas.microsoft.com/office/drawing/2014/main" id="{CEDBA29A-A263-2D99-6AC1-0B828D77F3E8}"/>
              </a:ext>
            </a:extLst>
          </p:cNvPr>
          <p:cNvSpPr/>
          <p:nvPr/>
        </p:nvSpPr>
        <p:spPr>
          <a:xfrm>
            <a:off x="1532794" y="4017369"/>
            <a:ext cx="9529847" cy="8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Business logic, element interactions, and utilities are distributed across multiple layers, increasing complexity.</a:t>
            </a:r>
          </a:p>
        </p:txBody>
      </p:sp>
      <p:sp>
        <p:nvSpPr>
          <p:cNvPr id="35" name="Shape 53">
            <a:extLst>
              <a:ext uri="{FF2B5EF4-FFF2-40B4-BE49-F238E27FC236}">
                <a16:creationId xmlns:a16="http://schemas.microsoft.com/office/drawing/2014/main" id="{877C3937-3FA8-996A-568B-0DE6FF783085}"/>
              </a:ext>
            </a:extLst>
          </p:cNvPr>
          <p:cNvSpPr/>
          <p:nvPr/>
        </p:nvSpPr>
        <p:spPr>
          <a:xfrm>
            <a:off x="641493" y="5316644"/>
            <a:ext cx="438912" cy="43891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6" name="Text 54">
            <a:extLst>
              <a:ext uri="{FF2B5EF4-FFF2-40B4-BE49-F238E27FC236}">
                <a16:creationId xmlns:a16="http://schemas.microsoft.com/office/drawing/2014/main" id="{33C79688-7C3C-0A91-D9B9-FBF522FCF790}"/>
              </a:ext>
            </a:extLst>
          </p:cNvPr>
          <p:cNvSpPr/>
          <p:nvPr/>
        </p:nvSpPr>
        <p:spPr>
          <a:xfrm>
            <a:off x="641493" y="5307265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7" name="Shape 55">
            <a:extLst>
              <a:ext uri="{FF2B5EF4-FFF2-40B4-BE49-F238E27FC236}">
                <a16:creationId xmlns:a16="http://schemas.microsoft.com/office/drawing/2014/main" id="{56269013-25E6-9A94-BF4B-0AEB3798EF2E}"/>
              </a:ext>
            </a:extLst>
          </p:cNvPr>
          <p:cNvSpPr/>
          <p:nvPr/>
        </p:nvSpPr>
        <p:spPr>
          <a:xfrm>
            <a:off x="1324244" y="5133180"/>
            <a:ext cx="9865611" cy="1097280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8" name="Shape 56">
            <a:extLst>
              <a:ext uri="{FF2B5EF4-FFF2-40B4-BE49-F238E27FC236}">
                <a16:creationId xmlns:a16="http://schemas.microsoft.com/office/drawing/2014/main" id="{D86BF7B7-8BCB-C44B-7BD0-11F19455E63C}"/>
              </a:ext>
            </a:extLst>
          </p:cNvPr>
          <p:cNvSpPr/>
          <p:nvPr/>
        </p:nvSpPr>
        <p:spPr>
          <a:xfrm>
            <a:off x="1251093" y="5060609"/>
            <a:ext cx="73152" cy="109728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41" name="Text 58">
            <a:extLst>
              <a:ext uri="{FF2B5EF4-FFF2-40B4-BE49-F238E27FC236}">
                <a16:creationId xmlns:a16="http://schemas.microsoft.com/office/drawing/2014/main" id="{BCE8CB76-ED5B-658D-5AD3-6D89E81E931D}"/>
              </a:ext>
            </a:extLst>
          </p:cNvPr>
          <p:cNvSpPr/>
          <p:nvPr/>
        </p:nvSpPr>
        <p:spPr>
          <a:xfrm>
            <a:off x="1494933" y="5274520"/>
            <a:ext cx="5691998" cy="15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High Maintenance Effort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9">
            <a:extLst>
              <a:ext uri="{FF2B5EF4-FFF2-40B4-BE49-F238E27FC236}">
                <a16:creationId xmlns:a16="http://schemas.microsoft.com/office/drawing/2014/main" id="{5A87C387-C464-94C3-8D37-F91929225CA0}"/>
              </a:ext>
            </a:extLst>
          </p:cNvPr>
          <p:cNvSpPr/>
          <p:nvPr/>
        </p:nvSpPr>
        <p:spPr>
          <a:xfrm>
            <a:off x="1534896" y="5211373"/>
            <a:ext cx="10302788" cy="1286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Frequent locator updates increase maintenance overhead.</a:t>
            </a:r>
          </a:p>
        </p:txBody>
      </p:sp>
      <p:sp>
        <p:nvSpPr>
          <p:cNvPr id="46" name="Text 1">
            <a:extLst>
              <a:ext uri="{FF2B5EF4-FFF2-40B4-BE49-F238E27FC236}">
                <a16:creationId xmlns:a16="http://schemas.microsoft.com/office/drawing/2014/main" id="{BD3BD119-D15F-561B-F812-1B91AC737EF9}"/>
              </a:ext>
            </a:extLst>
          </p:cNvPr>
          <p:cNvSpPr/>
          <p:nvPr/>
        </p:nvSpPr>
        <p:spPr>
          <a:xfrm>
            <a:off x="463296" y="97536"/>
            <a:ext cx="8534400" cy="63398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200"/>
          </a:p>
        </p:txBody>
      </p:sp>
      <p:sp>
        <p:nvSpPr>
          <p:cNvPr id="970" name="Contd"/>
          <p:cNvSpPr txBox="1"/>
          <p:nvPr/>
        </p:nvSpPr>
        <p:spPr>
          <a:xfrm>
            <a:off x="4671889" y="6396862"/>
            <a:ext cx="11172375" cy="5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800" b="1" i="1" dirty="0">
                <a:solidFill>
                  <a:srgbClr val="64748B"/>
                </a:solidFill>
                <a:latin typeface="Calibri"/>
                <a:cs typeface="Calibri"/>
              </a:rPr>
              <a:t>(contd.)</a:t>
            </a:r>
          </a:p>
        </p:txBody>
      </p:sp>
    </p:spTree>
    <p:extLst>
      <p:ext uri="{BB962C8B-B14F-4D97-AF65-F5344CB8AC3E}">
        <p14:creationId xmlns:p14="http://schemas.microsoft.com/office/powerpoint/2010/main" val="47669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2AFC7-C01D-1404-9F5F-6D51CD9A6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6">
            <a:extLst>
              <a:ext uri="{FF2B5EF4-FFF2-40B4-BE49-F238E27FC236}">
                <a16:creationId xmlns:a16="http://schemas.microsoft.com/office/drawing/2014/main" id="{87841572-52F5-26BC-5699-83F5D0C96D10}"/>
              </a:ext>
            </a:extLst>
          </p:cNvPr>
          <p:cNvSpPr/>
          <p:nvPr/>
        </p:nvSpPr>
        <p:spPr>
          <a:xfrm>
            <a:off x="650872" y="1413329"/>
            <a:ext cx="438912" cy="438912"/>
          </a:xfrm>
          <a:prstGeom prst="ellipse">
            <a:avLst/>
          </a:prstGeom>
          <a:solidFill>
            <a:srgbClr val="0B7B8A"/>
          </a:solidFill>
          <a:ln w="12700">
            <a:solidFill>
              <a:srgbClr val="0B7B8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6" name="Text 27">
            <a:extLst>
              <a:ext uri="{FF2B5EF4-FFF2-40B4-BE49-F238E27FC236}">
                <a16:creationId xmlns:a16="http://schemas.microsoft.com/office/drawing/2014/main" id="{709D1FA7-9B89-6503-4328-DFA746AE6CF9}"/>
              </a:ext>
            </a:extLst>
          </p:cNvPr>
          <p:cNvSpPr/>
          <p:nvPr/>
        </p:nvSpPr>
        <p:spPr>
          <a:xfrm>
            <a:off x="641493" y="14133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28">
            <a:extLst>
              <a:ext uri="{FF2B5EF4-FFF2-40B4-BE49-F238E27FC236}">
                <a16:creationId xmlns:a16="http://schemas.microsoft.com/office/drawing/2014/main" id="{AA4C2150-0DAB-9BC8-99E4-BFAC70F55839}"/>
              </a:ext>
            </a:extLst>
          </p:cNvPr>
          <p:cNvSpPr/>
          <p:nvPr/>
        </p:nvSpPr>
        <p:spPr>
          <a:xfrm>
            <a:off x="1389184" y="1146541"/>
            <a:ext cx="9982099" cy="106113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 lIns="121920" tIns="60960" rIns="121920" bIns="6096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>
                <a:ea typeface="Calibri"/>
                <a:cs typeface="Calibri"/>
              </a:rPr>
              <a:t>Inconsistent Test Data Management</a:t>
            </a:r>
          </a:p>
          <a:p>
            <a:endParaRPr lang="en-IN" sz="1600" dirty="0">
              <a:ea typeface="Calibri"/>
              <a:cs typeface="Calibri"/>
            </a:endParaRPr>
          </a:p>
        </p:txBody>
      </p:sp>
      <p:sp>
        <p:nvSpPr>
          <p:cNvPr id="8" name="Shape 29">
            <a:extLst>
              <a:ext uri="{FF2B5EF4-FFF2-40B4-BE49-F238E27FC236}">
                <a16:creationId xmlns:a16="http://schemas.microsoft.com/office/drawing/2014/main" id="{DC8ECF27-A7D6-452B-8433-19784D08AAC6}"/>
              </a:ext>
            </a:extLst>
          </p:cNvPr>
          <p:cNvSpPr/>
          <p:nvPr/>
        </p:nvSpPr>
        <p:spPr>
          <a:xfrm>
            <a:off x="1251093" y="1110401"/>
            <a:ext cx="73152" cy="1097280"/>
          </a:xfrm>
          <a:prstGeom prst="rect">
            <a:avLst/>
          </a:prstGeom>
          <a:solidFill>
            <a:srgbClr val="0B7B8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1" name="Text 31">
            <a:extLst>
              <a:ext uri="{FF2B5EF4-FFF2-40B4-BE49-F238E27FC236}">
                <a16:creationId xmlns:a16="http://schemas.microsoft.com/office/drawing/2014/main" id="{900D0600-7DDC-C526-2013-6637C4E63893}"/>
              </a:ext>
            </a:extLst>
          </p:cNvPr>
          <p:cNvSpPr/>
          <p:nvPr/>
        </p:nvSpPr>
        <p:spPr>
          <a:xfrm>
            <a:off x="1514677" y="124041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50" b="1" dirty="0">
              <a:solidFill>
                <a:srgbClr val="0B1F3A"/>
              </a:solidFill>
              <a:ea typeface="Calibri"/>
              <a:cs typeface="Calibri"/>
            </a:endParaRPr>
          </a:p>
        </p:txBody>
      </p:sp>
      <p:sp>
        <p:nvSpPr>
          <p:cNvPr id="12" name="Text 32">
            <a:extLst>
              <a:ext uri="{FF2B5EF4-FFF2-40B4-BE49-F238E27FC236}">
                <a16:creationId xmlns:a16="http://schemas.microsoft.com/office/drawing/2014/main" id="{E3D33E17-FD40-E116-48FE-BBE2604DC4E8}"/>
              </a:ext>
            </a:extLst>
          </p:cNvPr>
          <p:cNvSpPr/>
          <p:nvPr/>
        </p:nvSpPr>
        <p:spPr>
          <a:xfrm>
            <a:off x="1515540" y="1251174"/>
            <a:ext cx="10319616" cy="814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Multiple test data sources and synchronization issues impact test reliability.</a:t>
            </a:r>
          </a:p>
        </p:txBody>
      </p:sp>
      <p:sp>
        <p:nvSpPr>
          <p:cNvPr id="15" name="Shape 35">
            <a:extLst>
              <a:ext uri="{FF2B5EF4-FFF2-40B4-BE49-F238E27FC236}">
                <a16:creationId xmlns:a16="http://schemas.microsoft.com/office/drawing/2014/main" id="{2F815899-6A7D-243D-87C4-428BE3D55DDF}"/>
              </a:ext>
            </a:extLst>
          </p:cNvPr>
          <p:cNvSpPr/>
          <p:nvPr/>
        </p:nvSpPr>
        <p:spPr>
          <a:xfrm>
            <a:off x="641493" y="2730065"/>
            <a:ext cx="438912" cy="43891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6" name="Text 36">
            <a:extLst>
              <a:ext uri="{FF2B5EF4-FFF2-40B4-BE49-F238E27FC236}">
                <a16:creationId xmlns:a16="http://schemas.microsoft.com/office/drawing/2014/main" id="{4C6A08F4-04C3-E156-FC3D-700DA6437DE3}"/>
              </a:ext>
            </a:extLst>
          </p:cNvPr>
          <p:cNvSpPr/>
          <p:nvPr/>
        </p:nvSpPr>
        <p:spPr>
          <a:xfrm>
            <a:off x="641493" y="272068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DC29027D-EC50-336E-22E4-0F7098899710}"/>
              </a:ext>
            </a:extLst>
          </p:cNvPr>
          <p:cNvSpPr/>
          <p:nvPr/>
        </p:nvSpPr>
        <p:spPr>
          <a:xfrm>
            <a:off x="1251093" y="2427137"/>
            <a:ext cx="10108096" cy="1097280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8" name="Shape 38">
            <a:extLst>
              <a:ext uri="{FF2B5EF4-FFF2-40B4-BE49-F238E27FC236}">
                <a16:creationId xmlns:a16="http://schemas.microsoft.com/office/drawing/2014/main" id="{E1CA6206-071B-6C52-EC90-B3280644920E}"/>
              </a:ext>
            </a:extLst>
          </p:cNvPr>
          <p:cNvSpPr/>
          <p:nvPr/>
        </p:nvSpPr>
        <p:spPr>
          <a:xfrm>
            <a:off x="1251093" y="2427137"/>
            <a:ext cx="73152" cy="109728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1" name="Text 40">
            <a:extLst>
              <a:ext uri="{FF2B5EF4-FFF2-40B4-BE49-F238E27FC236}">
                <a16:creationId xmlns:a16="http://schemas.microsoft.com/office/drawing/2014/main" id="{779D3D3C-F0A3-E475-2325-65429321F181}"/>
              </a:ext>
            </a:extLst>
          </p:cNvPr>
          <p:cNvSpPr/>
          <p:nvPr/>
        </p:nvSpPr>
        <p:spPr>
          <a:xfrm>
            <a:off x="1527533" y="2544463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000000"/>
                </a:solidFill>
                <a:ea typeface="+mn-lt"/>
                <a:cs typeface="+mn-lt"/>
              </a:rPr>
              <a:t>Limited Test Traceability</a:t>
            </a:r>
            <a:endParaRPr lang="en-US"/>
          </a:p>
        </p:txBody>
      </p:sp>
      <p:sp>
        <p:nvSpPr>
          <p:cNvPr id="22" name="Text 41">
            <a:extLst>
              <a:ext uri="{FF2B5EF4-FFF2-40B4-BE49-F238E27FC236}">
                <a16:creationId xmlns:a16="http://schemas.microsoft.com/office/drawing/2014/main" id="{14FEE72C-F858-2520-4BC1-22A9A9BEB682}"/>
              </a:ext>
            </a:extLst>
          </p:cNvPr>
          <p:cNvSpPr/>
          <p:nvPr/>
        </p:nvSpPr>
        <p:spPr>
          <a:xfrm>
            <a:off x="1525807" y="2854429"/>
            <a:ext cx="9524587" cy="49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Test cases are not functionally grouped, making maintenance and impact analysis difficult.</a:t>
            </a:r>
          </a:p>
        </p:txBody>
      </p:sp>
      <p:sp>
        <p:nvSpPr>
          <p:cNvPr id="25" name="Shape 44">
            <a:extLst>
              <a:ext uri="{FF2B5EF4-FFF2-40B4-BE49-F238E27FC236}">
                <a16:creationId xmlns:a16="http://schemas.microsoft.com/office/drawing/2014/main" id="{26E884E6-B5F2-BAE3-2231-42411D8E01E7}"/>
              </a:ext>
            </a:extLst>
          </p:cNvPr>
          <p:cNvSpPr/>
          <p:nvPr/>
        </p:nvSpPr>
        <p:spPr>
          <a:xfrm>
            <a:off x="641493" y="3999908"/>
            <a:ext cx="438912" cy="438912"/>
          </a:xfrm>
          <a:prstGeom prst="ellipse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6" name="Text 45">
            <a:extLst>
              <a:ext uri="{FF2B5EF4-FFF2-40B4-BE49-F238E27FC236}">
                <a16:creationId xmlns:a16="http://schemas.microsoft.com/office/drawing/2014/main" id="{1B6C6D9E-DDB2-5F5B-70CB-19FF898AE93F}"/>
              </a:ext>
            </a:extLst>
          </p:cNvPr>
          <p:cNvSpPr/>
          <p:nvPr/>
        </p:nvSpPr>
        <p:spPr>
          <a:xfrm>
            <a:off x="641493" y="39905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2F80FCC7-155B-8199-CB9A-1F735D093641}"/>
              </a:ext>
            </a:extLst>
          </p:cNvPr>
          <p:cNvSpPr/>
          <p:nvPr/>
        </p:nvSpPr>
        <p:spPr>
          <a:xfrm>
            <a:off x="1272128" y="3610827"/>
            <a:ext cx="10097053" cy="126450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8" name="Shape 47">
            <a:extLst>
              <a:ext uri="{FF2B5EF4-FFF2-40B4-BE49-F238E27FC236}">
                <a16:creationId xmlns:a16="http://schemas.microsoft.com/office/drawing/2014/main" id="{13D98402-2055-D79E-605C-7E3DEB8B634F}"/>
              </a:ext>
            </a:extLst>
          </p:cNvPr>
          <p:cNvSpPr/>
          <p:nvPr/>
        </p:nvSpPr>
        <p:spPr>
          <a:xfrm>
            <a:off x="1251093" y="3743873"/>
            <a:ext cx="73152" cy="1097280"/>
          </a:xfrm>
          <a:prstGeom prst="rect">
            <a:avLst/>
          </a:prstGeom>
          <a:solidFill>
            <a:srgbClr val="C8860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1" name="Text 49">
            <a:extLst>
              <a:ext uri="{FF2B5EF4-FFF2-40B4-BE49-F238E27FC236}">
                <a16:creationId xmlns:a16="http://schemas.microsoft.com/office/drawing/2014/main" id="{724B9BE5-0460-1FA0-83A5-2AF94630C376}"/>
              </a:ext>
            </a:extLst>
          </p:cNvPr>
          <p:cNvSpPr/>
          <p:nvPr/>
        </p:nvSpPr>
        <p:spPr>
          <a:xfrm>
            <a:off x="866503" y="360719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08965" lvl="1"/>
            <a:endParaRPr lang="en-US" sz="1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marL="608965" lvl="1"/>
            <a:r>
              <a:rPr lang="en-US" sz="1800" b="1">
                <a:solidFill>
                  <a:srgbClr val="000000"/>
                </a:solidFill>
                <a:ea typeface="+mn-lt"/>
                <a:cs typeface="+mn-lt"/>
              </a:rPr>
              <a:t>Insufficient Validation and Visibility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2" name="Text 50">
            <a:extLst>
              <a:ext uri="{FF2B5EF4-FFF2-40B4-BE49-F238E27FC236}">
                <a16:creationId xmlns:a16="http://schemas.microsoft.com/office/drawing/2014/main" id="{CEDBA29A-A263-2D99-6AC1-0B828D77F3E8}"/>
              </a:ext>
            </a:extLst>
          </p:cNvPr>
          <p:cNvSpPr/>
          <p:nvPr/>
        </p:nvSpPr>
        <p:spPr>
          <a:xfrm>
            <a:off x="1532794" y="4017369"/>
            <a:ext cx="9529847" cy="8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Limited step-level verification and debugging capabilities.</a:t>
            </a:r>
          </a:p>
        </p:txBody>
      </p:sp>
      <p:sp>
        <p:nvSpPr>
          <p:cNvPr id="35" name="Shape 53">
            <a:extLst>
              <a:ext uri="{FF2B5EF4-FFF2-40B4-BE49-F238E27FC236}">
                <a16:creationId xmlns:a16="http://schemas.microsoft.com/office/drawing/2014/main" id="{877C3937-3FA8-996A-568B-0DE6FF783085}"/>
              </a:ext>
            </a:extLst>
          </p:cNvPr>
          <p:cNvSpPr/>
          <p:nvPr/>
        </p:nvSpPr>
        <p:spPr>
          <a:xfrm>
            <a:off x="641493" y="5316644"/>
            <a:ext cx="438912" cy="43891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6" name="Text 54">
            <a:extLst>
              <a:ext uri="{FF2B5EF4-FFF2-40B4-BE49-F238E27FC236}">
                <a16:creationId xmlns:a16="http://schemas.microsoft.com/office/drawing/2014/main" id="{33C79688-7C3C-0A91-D9B9-FBF522FCF790}"/>
              </a:ext>
            </a:extLst>
          </p:cNvPr>
          <p:cNvSpPr/>
          <p:nvPr/>
        </p:nvSpPr>
        <p:spPr>
          <a:xfrm>
            <a:off x="641493" y="5307265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7" name="Shape 55">
            <a:extLst>
              <a:ext uri="{FF2B5EF4-FFF2-40B4-BE49-F238E27FC236}">
                <a16:creationId xmlns:a16="http://schemas.microsoft.com/office/drawing/2014/main" id="{56269013-25E6-9A94-BF4B-0AEB3798EF2E}"/>
              </a:ext>
            </a:extLst>
          </p:cNvPr>
          <p:cNvSpPr/>
          <p:nvPr/>
        </p:nvSpPr>
        <p:spPr>
          <a:xfrm>
            <a:off x="1389184" y="5133180"/>
            <a:ext cx="9800672" cy="1097280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8" name="Shape 56">
            <a:extLst>
              <a:ext uri="{FF2B5EF4-FFF2-40B4-BE49-F238E27FC236}">
                <a16:creationId xmlns:a16="http://schemas.microsoft.com/office/drawing/2014/main" id="{D86BF7B7-8BCB-C44B-7BD0-11F19455E63C}"/>
              </a:ext>
            </a:extLst>
          </p:cNvPr>
          <p:cNvSpPr/>
          <p:nvPr/>
        </p:nvSpPr>
        <p:spPr>
          <a:xfrm>
            <a:off x="1251093" y="5060609"/>
            <a:ext cx="73152" cy="109728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41" name="Text 58">
            <a:extLst>
              <a:ext uri="{FF2B5EF4-FFF2-40B4-BE49-F238E27FC236}">
                <a16:creationId xmlns:a16="http://schemas.microsoft.com/office/drawing/2014/main" id="{BCE8CB76-ED5B-658D-5AD3-6D89E81E931D}"/>
              </a:ext>
            </a:extLst>
          </p:cNvPr>
          <p:cNvSpPr/>
          <p:nvPr/>
        </p:nvSpPr>
        <p:spPr>
          <a:xfrm>
            <a:off x="1494933" y="5344200"/>
            <a:ext cx="5691998" cy="15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Lack of AI Adoption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9">
            <a:extLst>
              <a:ext uri="{FF2B5EF4-FFF2-40B4-BE49-F238E27FC236}">
                <a16:creationId xmlns:a16="http://schemas.microsoft.com/office/drawing/2014/main" id="{5A87C387-C464-94C3-8D37-F91929225CA0}"/>
              </a:ext>
            </a:extLst>
          </p:cNvPr>
          <p:cNvSpPr/>
          <p:nvPr/>
        </p:nvSpPr>
        <p:spPr>
          <a:xfrm>
            <a:off x="1534896" y="5211373"/>
            <a:ext cx="10302788" cy="1286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No AI-assisted failure analysis, test insights, or intelligent reporting.</a:t>
            </a:r>
          </a:p>
        </p:txBody>
      </p:sp>
      <p:sp>
        <p:nvSpPr>
          <p:cNvPr id="46" name="Text 1">
            <a:extLst>
              <a:ext uri="{FF2B5EF4-FFF2-40B4-BE49-F238E27FC236}">
                <a16:creationId xmlns:a16="http://schemas.microsoft.com/office/drawing/2014/main" id="{BD3BD119-D15F-561B-F812-1B91AC737EF9}"/>
              </a:ext>
            </a:extLst>
          </p:cNvPr>
          <p:cNvSpPr/>
          <p:nvPr/>
        </p:nvSpPr>
        <p:spPr>
          <a:xfrm>
            <a:off x="463296" y="97536"/>
            <a:ext cx="8534400" cy="63398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76698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1219200" y="2895600"/>
            <a:ext cx="9753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4000" b="1" dirty="0">
                <a:solidFill>
                  <a:srgbClr val="FFFFFF"/>
                </a:solidFill>
              </a:rPr>
              <a:t>Why Aspire Unified Framework (AFTA)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1219200" y="4724400"/>
            <a:ext cx="9296400" cy="8001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E8DAF2"/>
                </a:solidFill>
              </a:rPr>
              <a:t>Here is why a single, AI-powered framework across all brands is the right way forward.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2AFC7-C01D-1404-9F5F-6D51CD9A6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6">
            <a:extLst>
              <a:ext uri="{FF2B5EF4-FFF2-40B4-BE49-F238E27FC236}">
                <a16:creationId xmlns:a16="http://schemas.microsoft.com/office/drawing/2014/main" id="{87841572-52F5-26BC-5699-83F5D0C96D10}"/>
              </a:ext>
            </a:extLst>
          </p:cNvPr>
          <p:cNvSpPr/>
          <p:nvPr/>
        </p:nvSpPr>
        <p:spPr>
          <a:xfrm>
            <a:off x="650872" y="1413329"/>
            <a:ext cx="438912" cy="438912"/>
          </a:xfrm>
          <a:prstGeom prst="ellipse">
            <a:avLst/>
          </a:prstGeom>
          <a:solidFill>
            <a:srgbClr val="0B7B8A"/>
          </a:solidFill>
          <a:ln w="12700">
            <a:solidFill>
              <a:srgbClr val="0B7B8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6" name="Text 27">
            <a:extLst>
              <a:ext uri="{FF2B5EF4-FFF2-40B4-BE49-F238E27FC236}">
                <a16:creationId xmlns:a16="http://schemas.microsoft.com/office/drawing/2014/main" id="{709D1FA7-9B89-6503-4328-DFA746AE6CF9}"/>
              </a:ext>
            </a:extLst>
          </p:cNvPr>
          <p:cNvSpPr/>
          <p:nvPr/>
        </p:nvSpPr>
        <p:spPr>
          <a:xfrm>
            <a:off x="641493" y="14133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28">
            <a:extLst>
              <a:ext uri="{FF2B5EF4-FFF2-40B4-BE49-F238E27FC236}">
                <a16:creationId xmlns:a16="http://schemas.microsoft.com/office/drawing/2014/main" id="{AA4C2150-0DAB-9BC8-99E4-BFAC70F55839}"/>
              </a:ext>
            </a:extLst>
          </p:cNvPr>
          <p:cNvSpPr/>
          <p:nvPr/>
        </p:nvSpPr>
        <p:spPr>
          <a:xfrm>
            <a:off x="1281079" y="1005031"/>
            <a:ext cx="9908777" cy="120264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 lIns="121920" tIns="60960" rIns="121920" bIns="6096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>
                <a:ea typeface="Calibri"/>
                <a:cs typeface="Calibri"/>
              </a:rPr>
              <a:t>  AI-Powered Automation</a:t>
            </a:r>
          </a:p>
          <a:p>
            <a:endParaRPr lang="en-IN" sz="1600" dirty="0">
              <a:ea typeface="Calibri"/>
              <a:cs typeface="Calibri"/>
            </a:endParaRPr>
          </a:p>
        </p:txBody>
      </p:sp>
      <p:sp>
        <p:nvSpPr>
          <p:cNvPr id="8" name="Shape 29">
            <a:extLst>
              <a:ext uri="{FF2B5EF4-FFF2-40B4-BE49-F238E27FC236}">
                <a16:creationId xmlns:a16="http://schemas.microsoft.com/office/drawing/2014/main" id="{DC8ECF27-A7D6-452B-8433-19784D08AAC6}"/>
              </a:ext>
            </a:extLst>
          </p:cNvPr>
          <p:cNvSpPr/>
          <p:nvPr/>
        </p:nvSpPr>
        <p:spPr>
          <a:xfrm>
            <a:off x="1251093" y="1110401"/>
            <a:ext cx="73152" cy="1097280"/>
          </a:xfrm>
          <a:prstGeom prst="rect">
            <a:avLst/>
          </a:prstGeom>
          <a:solidFill>
            <a:srgbClr val="0B7B8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1" name="Text 31">
            <a:extLst>
              <a:ext uri="{FF2B5EF4-FFF2-40B4-BE49-F238E27FC236}">
                <a16:creationId xmlns:a16="http://schemas.microsoft.com/office/drawing/2014/main" id="{900D0600-7DDC-C526-2013-6637C4E63893}"/>
              </a:ext>
            </a:extLst>
          </p:cNvPr>
          <p:cNvSpPr/>
          <p:nvPr/>
        </p:nvSpPr>
        <p:spPr>
          <a:xfrm>
            <a:off x="1514677" y="124041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50" b="1" dirty="0">
              <a:solidFill>
                <a:srgbClr val="0B1F3A"/>
              </a:solidFill>
              <a:ea typeface="Calibri"/>
              <a:cs typeface="Calibri"/>
            </a:endParaRPr>
          </a:p>
        </p:txBody>
      </p:sp>
      <p:sp>
        <p:nvSpPr>
          <p:cNvPr id="12" name="Text 32">
            <a:extLst>
              <a:ext uri="{FF2B5EF4-FFF2-40B4-BE49-F238E27FC236}">
                <a16:creationId xmlns:a16="http://schemas.microsoft.com/office/drawing/2014/main" id="{E3D33E17-FD40-E116-48FE-BBE2604DC4E8}"/>
              </a:ext>
            </a:extLst>
          </p:cNvPr>
          <p:cNvSpPr/>
          <p:nvPr/>
        </p:nvSpPr>
        <p:spPr>
          <a:xfrm>
            <a:off x="1514677" y="1373578"/>
            <a:ext cx="10319616" cy="814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 b="1" dirty="0">
                <a:solidFill>
                  <a:srgbClr val="334155"/>
                </a:solidFill>
                <a:ea typeface="+mn-lt"/>
                <a:cs typeface="+mn-lt"/>
              </a:rPr>
              <a:t>AI Self-Healing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 for automatic recovery from locator changes.</a:t>
            </a:r>
            <a:endParaRPr lang="en-US" sz="1600" dirty="0"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 b="1" dirty="0">
                <a:solidFill>
                  <a:srgbClr val="334155"/>
                </a:solidFill>
                <a:ea typeface="+mn-lt"/>
                <a:cs typeface="+mn-lt"/>
              </a:rPr>
              <a:t>AI Auto POM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 to generate and maintain page objects automatically.</a:t>
            </a:r>
            <a:endParaRPr lang="en-US" sz="1600" dirty="0">
              <a:solidFill>
                <a:srgbClr val="000000"/>
              </a:solidFill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 b="1" dirty="0">
                <a:solidFill>
                  <a:srgbClr val="000000"/>
                </a:solidFill>
                <a:ea typeface="+mn-lt"/>
                <a:cs typeface="+mn-lt"/>
              </a:rPr>
              <a:t>Report Portal-Powered </a:t>
            </a:r>
            <a:r>
              <a:rPr lang="en-US" sz="1600" b="1" dirty="0">
                <a:ea typeface="+mn-lt"/>
                <a:cs typeface="+mn-lt"/>
              </a:rPr>
              <a:t>Analytics</a:t>
            </a:r>
            <a:r>
              <a:rPr lang="en-US" sz="1600" dirty="0">
                <a:ea typeface="+mn-lt"/>
                <a:cs typeface="+mn-lt"/>
              </a:rPr>
              <a:t> for AI-driven failure analysis, execution insights, and trend identification.</a:t>
            </a:r>
            <a:endParaRPr lang="en-US" dirty="0"/>
          </a:p>
        </p:txBody>
      </p:sp>
      <p:sp>
        <p:nvSpPr>
          <p:cNvPr id="15" name="Shape 35">
            <a:extLst>
              <a:ext uri="{FF2B5EF4-FFF2-40B4-BE49-F238E27FC236}">
                <a16:creationId xmlns:a16="http://schemas.microsoft.com/office/drawing/2014/main" id="{2F815899-6A7D-243D-87C4-428BE3D55DDF}"/>
              </a:ext>
            </a:extLst>
          </p:cNvPr>
          <p:cNvSpPr/>
          <p:nvPr/>
        </p:nvSpPr>
        <p:spPr>
          <a:xfrm>
            <a:off x="641493" y="2730065"/>
            <a:ext cx="438912" cy="43891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6" name="Text 36">
            <a:extLst>
              <a:ext uri="{FF2B5EF4-FFF2-40B4-BE49-F238E27FC236}">
                <a16:creationId xmlns:a16="http://schemas.microsoft.com/office/drawing/2014/main" id="{4C6A08F4-04C3-E156-FC3D-700DA6437DE3}"/>
              </a:ext>
            </a:extLst>
          </p:cNvPr>
          <p:cNvSpPr/>
          <p:nvPr/>
        </p:nvSpPr>
        <p:spPr>
          <a:xfrm>
            <a:off x="641493" y="272068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DC29027D-EC50-336E-22E4-0F7098899710}"/>
              </a:ext>
            </a:extLst>
          </p:cNvPr>
          <p:cNvSpPr/>
          <p:nvPr/>
        </p:nvSpPr>
        <p:spPr>
          <a:xfrm>
            <a:off x="1251093" y="2486477"/>
            <a:ext cx="9938763" cy="1037939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18" name="Shape 38">
            <a:extLst>
              <a:ext uri="{FF2B5EF4-FFF2-40B4-BE49-F238E27FC236}">
                <a16:creationId xmlns:a16="http://schemas.microsoft.com/office/drawing/2014/main" id="{E1CA6206-071B-6C52-EC90-B3280644920E}"/>
              </a:ext>
            </a:extLst>
          </p:cNvPr>
          <p:cNvSpPr/>
          <p:nvPr/>
        </p:nvSpPr>
        <p:spPr>
          <a:xfrm>
            <a:off x="1251093" y="2427137"/>
            <a:ext cx="73152" cy="109728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1" name="Text 40">
            <a:extLst>
              <a:ext uri="{FF2B5EF4-FFF2-40B4-BE49-F238E27FC236}">
                <a16:creationId xmlns:a16="http://schemas.microsoft.com/office/drawing/2014/main" id="{779D3D3C-F0A3-E475-2325-65429321F181}"/>
              </a:ext>
            </a:extLst>
          </p:cNvPr>
          <p:cNvSpPr/>
          <p:nvPr/>
        </p:nvSpPr>
        <p:spPr>
          <a:xfrm>
            <a:off x="1527533" y="2544463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000000"/>
                </a:solidFill>
                <a:ea typeface="+mn-lt"/>
                <a:cs typeface="+mn-lt"/>
              </a:rPr>
              <a:t>One Framework Across Brands</a:t>
            </a:r>
            <a:endParaRPr lang="en-US"/>
          </a:p>
        </p:txBody>
      </p:sp>
      <p:sp>
        <p:nvSpPr>
          <p:cNvPr id="22" name="Text 41">
            <a:extLst>
              <a:ext uri="{FF2B5EF4-FFF2-40B4-BE49-F238E27FC236}">
                <a16:creationId xmlns:a16="http://schemas.microsoft.com/office/drawing/2014/main" id="{14FEE72C-F858-2520-4BC1-22A9A9BEB682}"/>
              </a:ext>
            </a:extLst>
          </p:cNvPr>
          <p:cNvSpPr/>
          <p:nvPr/>
        </p:nvSpPr>
        <p:spPr>
          <a:xfrm>
            <a:off x="1525807" y="2854429"/>
            <a:ext cx="9524587" cy="49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Standardized automation framework across all brands, including </a:t>
            </a:r>
            <a:r>
              <a:rPr lang="en-US" sz="1600" dirty="0" err="1">
                <a:solidFill>
                  <a:srgbClr val="334155"/>
                </a:solidFill>
                <a:ea typeface="+mn-lt"/>
                <a:cs typeface="+mn-lt"/>
              </a:rPr>
              <a:t>Orpos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.</a:t>
            </a:r>
            <a:endParaRPr lang="en-US" sz="1600" dirty="0"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Reduced framework duplication and maintenance effort.</a:t>
            </a:r>
            <a:endParaRPr lang="en-US" dirty="0">
              <a:solidFill>
                <a:srgbClr val="334155"/>
              </a:solidFill>
            </a:endParaRPr>
          </a:p>
        </p:txBody>
      </p:sp>
      <p:sp>
        <p:nvSpPr>
          <p:cNvPr id="25" name="Shape 44">
            <a:extLst>
              <a:ext uri="{FF2B5EF4-FFF2-40B4-BE49-F238E27FC236}">
                <a16:creationId xmlns:a16="http://schemas.microsoft.com/office/drawing/2014/main" id="{26E884E6-B5F2-BAE3-2231-42411D8E01E7}"/>
              </a:ext>
            </a:extLst>
          </p:cNvPr>
          <p:cNvSpPr/>
          <p:nvPr/>
        </p:nvSpPr>
        <p:spPr>
          <a:xfrm>
            <a:off x="641493" y="3999908"/>
            <a:ext cx="438912" cy="438912"/>
          </a:xfrm>
          <a:prstGeom prst="ellipse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6" name="Text 45">
            <a:extLst>
              <a:ext uri="{FF2B5EF4-FFF2-40B4-BE49-F238E27FC236}">
                <a16:creationId xmlns:a16="http://schemas.microsoft.com/office/drawing/2014/main" id="{1B6C6D9E-DDB2-5F5B-70CB-19FF898AE93F}"/>
              </a:ext>
            </a:extLst>
          </p:cNvPr>
          <p:cNvSpPr/>
          <p:nvPr/>
        </p:nvSpPr>
        <p:spPr>
          <a:xfrm>
            <a:off x="641493" y="39905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2F80FCC7-155B-8199-CB9A-1F735D093641}"/>
              </a:ext>
            </a:extLst>
          </p:cNvPr>
          <p:cNvSpPr/>
          <p:nvPr/>
        </p:nvSpPr>
        <p:spPr>
          <a:xfrm>
            <a:off x="1272129" y="3708430"/>
            <a:ext cx="9917728" cy="1166906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28" name="Shape 47">
            <a:extLst>
              <a:ext uri="{FF2B5EF4-FFF2-40B4-BE49-F238E27FC236}">
                <a16:creationId xmlns:a16="http://schemas.microsoft.com/office/drawing/2014/main" id="{13D98402-2055-D79E-605C-7E3DEB8B634F}"/>
              </a:ext>
            </a:extLst>
          </p:cNvPr>
          <p:cNvSpPr/>
          <p:nvPr/>
        </p:nvSpPr>
        <p:spPr>
          <a:xfrm>
            <a:off x="1251093" y="3743873"/>
            <a:ext cx="73152" cy="1097280"/>
          </a:xfrm>
          <a:prstGeom prst="rect">
            <a:avLst/>
          </a:prstGeom>
          <a:solidFill>
            <a:srgbClr val="C8860A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1" name="Text 49">
            <a:extLst>
              <a:ext uri="{FF2B5EF4-FFF2-40B4-BE49-F238E27FC236}">
                <a16:creationId xmlns:a16="http://schemas.microsoft.com/office/drawing/2014/main" id="{724B9BE5-0460-1FA0-83A5-2AF94630C376}"/>
              </a:ext>
            </a:extLst>
          </p:cNvPr>
          <p:cNvSpPr/>
          <p:nvPr/>
        </p:nvSpPr>
        <p:spPr>
          <a:xfrm>
            <a:off x="866503" y="3607199"/>
            <a:ext cx="4754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08965" lvl="1"/>
            <a:endParaRPr lang="en-US" sz="1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marL="608965" lvl="1"/>
            <a:r>
              <a:rPr lang="en-US" sz="1800" b="1">
                <a:solidFill>
                  <a:srgbClr val="000000"/>
                </a:solidFill>
                <a:ea typeface="+mn-lt"/>
                <a:cs typeface="+mn-lt"/>
              </a:rPr>
              <a:t>Modern Playwright-Based Architecture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2" name="Text 50">
            <a:extLst>
              <a:ext uri="{FF2B5EF4-FFF2-40B4-BE49-F238E27FC236}">
                <a16:creationId xmlns:a16="http://schemas.microsoft.com/office/drawing/2014/main" id="{CEDBA29A-A263-2D99-6AC1-0B828D77F3E8}"/>
              </a:ext>
            </a:extLst>
          </p:cNvPr>
          <p:cNvSpPr/>
          <p:nvPr/>
        </p:nvSpPr>
        <p:spPr>
          <a:xfrm>
            <a:off x="1532794" y="4017369"/>
            <a:ext cx="9529847" cy="8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Faster execution with </a:t>
            </a:r>
            <a:r>
              <a:rPr lang="en-US" sz="1600" b="1">
                <a:solidFill>
                  <a:srgbClr val="334155"/>
                </a:solidFill>
                <a:ea typeface="+mn-lt"/>
                <a:cs typeface="+mn-lt"/>
              </a:rPr>
              <a:t>up to 60% improvement</a:t>
            </a: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 compared to the current Selenium-based approach.</a:t>
            </a:r>
            <a:endParaRPr lang="en-US" sz="1600"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Built-in auto-wait mechanisms for improved stability.</a:t>
            </a:r>
            <a:endParaRPr lang="en-US" sz="1600"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Supports parallel execution for reduced regression cycle time.</a:t>
            </a:r>
            <a:endParaRPr lang="en-US">
              <a:solidFill>
                <a:srgbClr val="334155"/>
              </a:solidFill>
            </a:endParaRPr>
          </a:p>
        </p:txBody>
      </p:sp>
      <p:sp>
        <p:nvSpPr>
          <p:cNvPr id="35" name="Shape 53">
            <a:extLst>
              <a:ext uri="{FF2B5EF4-FFF2-40B4-BE49-F238E27FC236}">
                <a16:creationId xmlns:a16="http://schemas.microsoft.com/office/drawing/2014/main" id="{877C3937-3FA8-996A-568B-0DE6FF783085}"/>
              </a:ext>
            </a:extLst>
          </p:cNvPr>
          <p:cNvSpPr/>
          <p:nvPr/>
        </p:nvSpPr>
        <p:spPr>
          <a:xfrm>
            <a:off x="641493" y="5316644"/>
            <a:ext cx="438912" cy="43891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6" name="Text 54">
            <a:extLst>
              <a:ext uri="{FF2B5EF4-FFF2-40B4-BE49-F238E27FC236}">
                <a16:creationId xmlns:a16="http://schemas.microsoft.com/office/drawing/2014/main" id="{33C79688-7C3C-0A91-D9B9-FBF522FCF790}"/>
              </a:ext>
            </a:extLst>
          </p:cNvPr>
          <p:cNvSpPr/>
          <p:nvPr/>
        </p:nvSpPr>
        <p:spPr>
          <a:xfrm>
            <a:off x="641493" y="5307265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7" name="Shape 55">
            <a:extLst>
              <a:ext uri="{FF2B5EF4-FFF2-40B4-BE49-F238E27FC236}">
                <a16:creationId xmlns:a16="http://schemas.microsoft.com/office/drawing/2014/main" id="{56269013-25E6-9A94-BF4B-0AEB3798EF2E}"/>
              </a:ext>
            </a:extLst>
          </p:cNvPr>
          <p:cNvSpPr/>
          <p:nvPr/>
        </p:nvSpPr>
        <p:spPr>
          <a:xfrm>
            <a:off x="1081760" y="5133180"/>
            <a:ext cx="10108096" cy="1097280"/>
          </a:xfrm>
          <a:prstGeom prst="rect">
            <a:avLst/>
          </a:prstGeom>
          <a:solidFill>
            <a:srgbClr val="F0F4F8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38" name="Shape 56">
            <a:extLst>
              <a:ext uri="{FF2B5EF4-FFF2-40B4-BE49-F238E27FC236}">
                <a16:creationId xmlns:a16="http://schemas.microsoft.com/office/drawing/2014/main" id="{D86BF7B7-8BCB-C44B-7BD0-11F19455E63C}"/>
              </a:ext>
            </a:extLst>
          </p:cNvPr>
          <p:cNvSpPr/>
          <p:nvPr/>
        </p:nvSpPr>
        <p:spPr>
          <a:xfrm>
            <a:off x="1251093" y="5060609"/>
            <a:ext cx="73152" cy="109728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/>
          </a:p>
        </p:txBody>
      </p:sp>
      <p:sp>
        <p:nvSpPr>
          <p:cNvPr id="41" name="Text 58">
            <a:extLst>
              <a:ext uri="{FF2B5EF4-FFF2-40B4-BE49-F238E27FC236}">
                <a16:creationId xmlns:a16="http://schemas.microsoft.com/office/drawing/2014/main" id="{BCE8CB76-ED5B-658D-5AD3-6D89E81E931D}"/>
              </a:ext>
            </a:extLst>
          </p:cNvPr>
          <p:cNvSpPr/>
          <p:nvPr/>
        </p:nvSpPr>
        <p:spPr>
          <a:xfrm>
            <a:off x="1493578" y="5247207"/>
            <a:ext cx="5691998" cy="15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Enhanced Debugging and Observability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9">
            <a:extLst>
              <a:ext uri="{FF2B5EF4-FFF2-40B4-BE49-F238E27FC236}">
                <a16:creationId xmlns:a16="http://schemas.microsoft.com/office/drawing/2014/main" id="{5A87C387-C464-94C3-8D37-F91929225CA0}"/>
              </a:ext>
            </a:extLst>
          </p:cNvPr>
          <p:cNvSpPr/>
          <p:nvPr/>
        </p:nvSpPr>
        <p:spPr>
          <a:xfrm>
            <a:off x="1534896" y="5211373"/>
            <a:ext cx="10302788" cy="1286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4715" lvl="1" indent="-285750">
              <a:buFont typeface="Calibri"/>
              <a:buChar char="•"/>
            </a:pPr>
            <a:r>
              <a:rPr lang="en-US" sz="1600" b="1" dirty="0">
                <a:solidFill>
                  <a:srgbClr val="334155"/>
                </a:solidFill>
                <a:ea typeface="+mn-lt"/>
                <a:cs typeface="+mn-lt"/>
              </a:rPr>
              <a:t>Trace Viewer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 – Replay test execution step-by-step with screenshots, network calls, DOM snapshots, and timings for faster root cause analysis.</a:t>
            </a:r>
            <a:endParaRPr lang="en-US" sz="1600" dirty="0">
              <a:ea typeface="+mn-lt"/>
              <a:cs typeface="+mn-lt"/>
            </a:endParaRPr>
          </a:p>
          <a:p>
            <a:pPr marL="894715" lvl="1" indent="-285750"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Rich execution reports with screenshots and detailed logs.</a:t>
            </a:r>
            <a:endParaRPr lang="en-US" dirty="0">
              <a:solidFill>
                <a:srgbClr val="334155"/>
              </a:solidFill>
            </a:endParaRPr>
          </a:p>
        </p:txBody>
      </p:sp>
      <p:sp>
        <p:nvSpPr>
          <p:cNvPr id="46" name="Text 1">
            <a:extLst>
              <a:ext uri="{FF2B5EF4-FFF2-40B4-BE49-F238E27FC236}">
                <a16:creationId xmlns:a16="http://schemas.microsoft.com/office/drawing/2014/main" id="{BD3BD119-D15F-561B-F812-1B91AC737EF9}"/>
              </a:ext>
            </a:extLst>
          </p:cNvPr>
          <p:cNvSpPr/>
          <p:nvPr/>
        </p:nvSpPr>
        <p:spPr>
          <a:xfrm>
            <a:off x="463296" y="97536"/>
            <a:ext cx="8534400" cy="63398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76698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1219200" y="2895600"/>
            <a:ext cx="9753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4000" b="1" dirty="0">
                <a:solidFill>
                  <a:srgbClr val="FFFFFF"/>
                </a:solidFill>
              </a:rPr>
              <a:t>Auto POM – Intelligent Locator &amp; AI Fallback Strategy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1219200" y="4724400"/>
            <a:ext cx="9296400" cy="8001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E8DAF2"/>
                </a:solidFill>
              </a:rPr>
              <a:t>How intelligent, multi-level locator generation with AI fallback makes automation faster and far easier to maintain.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2E174-C077-4DC5-F9F0-E22215293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BizValue"/>
          <p:cNvSpPr txBox="1"/>
          <p:nvPr/>
        </p:nvSpPr>
        <p:spPr>
          <a:xfrm>
            <a:off x="900000" y="360000"/>
            <a:ext cx="9500000" cy="78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600" b="1" dirty="0">
                <a:solidFill>
                  <a:srgbClr val="7030A0"/>
                </a:solidFill>
                <a:latin typeface="Calibri"/>
                <a:cs typeface="Calibri"/>
              </a:rPr>
              <a:t>Business Value :</a:t>
            </a:r>
            <a:br>
              <a:rPr lang="en-US" sz="1600" b="1" dirty="0">
                <a:solidFill>
                  <a:srgbClr val="7030A0"/>
                </a:solidFill>
                <a:latin typeface="Calibri"/>
                <a:cs typeface="Calibri"/>
              </a:rPr>
            </a:br>
            <a:r>
              <a:rPr lang="en-US" sz="1600" b="1" dirty="0">
                <a:solidFill>
                  <a:srgbClr val="7030A0"/>
                </a:solidFill>
                <a:latin typeface="Calibri"/>
                <a:cs typeface="Calibri"/>
              </a:rPr>
              <a:t>Auto POM is a Chrome extension that creates production-ready Page functions — eliminating manual locator management and reducing script failures.</a:t>
            </a:r>
          </a:p>
        </p:txBody>
      </p:sp>
      <p:sp>
        <p:nvSpPr>
          <p:cNvPr id="850" name="Bullets BG"/>
          <p:cNvSpPr/>
          <p:nvPr/>
        </p:nvSpPr>
        <p:spPr>
          <a:xfrm>
            <a:off x="520000" y="1140000"/>
            <a:ext cx="10868774" cy="1505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Bullets"/>
          <p:cNvSpPr txBox="1"/>
          <p:nvPr/>
        </p:nvSpPr>
        <p:spPr>
          <a:xfrm>
            <a:off x="700000" y="1300000"/>
            <a:ext cx="10508774" cy="1185000"/>
          </a:xfrm>
          <a:prstGeom prst="rect">
            <a:avLst/>
          </a:prstGeom>
          <a:noFill/>
        </p:spPr>
        <p:txBody>
          <a:bodyPr wrap="square" anchor="t"/>
          <a:lstStyle/>
          <a:p>
            <a:pPr marL="285750" indent="-285750">
              <a:buFont typeface="Calibri"/>
              <a:buChar char="•"/>
            </a:pPr>
            <a:r>
              <a:rPr lang="en-US" sz="1600" b="1" dirty="0">
                <a:solidFill>
                  <a:srgbClr val="0F2742"/>
                </a:solidFill>
                <a:latin typeface="Calibri"/>
                <a:cs typeface="Calibri"/>
              </a:rPr>
              <a:t>Objective — </a:t>
            </a:r>
            <a:r>
              <a:rPr lang="en-US" sz="1600" dirty="0">
                <a:solidFill>
                  <a:srgbClr val="334155"/>
                </a:solidFill>
                <a:latin typeface="Calibri"/>
                <a:cs typeface="Calibri"/>
              </a:rPr>
              <a:t>Generate robust, maintainable POM locators and automation-ready code via a multi-level fallback strategy with AI assistance.</a:t>
            </a:r>
          </a:p>
          <a:p>
            <a:pPr marL="285750" indent="-285750">
              <a:spcBef>
                <a:spcPts val="800"/>
              </a:spcBef>
              <a:buFont typeface="Calibri"/>
              <a:buChar char="•"/>
            </a:pPr>
            <a:r>
              <a:rPr lang="en-US" sz="1600" b="1" dirty="0">
                <a:solidFill>
                  <a:srgbClr val="0F2742"/>
                </a:solidFill>
                <a:latin typeface="Calibri"/>
                <a:cs typeface="Calibri"/>
              </a:rPr>
              <a:t>Key Benefits — </a:t>
            </a:r>
            <a:r>
              <a:rPr lang="en-US" sz="1600" dirty="0">
                <a:solidFill>
                  <a:srgbClr val="334155"/>
                </a:solidFill>
                <a:latin typeface="Calibri"/>
                <a:cs typeface="Calibri"/>
              </a:rPr>
              <a:t>Less manual effort, higher locator reliability, faster automation, and production-ready POM code.</a:t>
            </a:r>
          </a:p>
        </p:txBody>
      </p:sp>
      <p:sp>
        <p:nvSpPr>
          <p:cNvPr id="104" name="FlowLabel"/>
          <p:cNvSpPr txBox="1"/>
          <p:nvPr/>
        </p:nvSpPr>
        <p:spPr>
          <a:xfrm>
            <a:off x="700000" y="3180000"/>
            <a:ext cx="10792000" cy="4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600" b="1" spc="200" dirty="0">
                <a:solidFill>
                  <a:srgbClr val="0E7C7B"/>
                </a:solidFill>
                <a:latin typeface="Calibri"/>
                <a:cs typeface="Calibri"/>
              </a:rPr>
              <a:t>CORE MECHANISM OF AUTOPOM</a:t>
            </a:r>
          </a:p>
        </p:txBody>
      </p:sp>
      <p:sp>
        <p:nvSpPr>
          <p:cNvPr id="105" name="FlowCard1"/>
          <p:cNvSpPr/>
          <p:nvPr/>
        </p:nvSpPr>
        <p:spPr>
          <a:xfrm>
            <a:off x="746000" y="3720000"/>
            <a:ext cx="4900000" cy="26500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22225">
            <a:solidFill>
              <a:srgbClr val="1E293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FlowNum1"/>
          <p:cNvSpPr/>
          <p:nvPr/>
        </p:nvSpPr>
        <p:spPr>
          <a:xfrm>
            <a:off x="2886000" y="3315000"/>
            <a:ext cx="620000" cy="620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07" name="FlowTitle1"/>
          <p:cNvSpPr txBox="1"/>
          <p:nvPr/>
        </p:nvSpPr>
        <p:spPr>
          <a:xfrm>
            <a:off x="911000" y="4496536"/>
            <a:ext cx="4600000" cy="5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1E293B"/>
                </a:solidFill>
                <a:latin typeface="Calibri"/>
                <a:cs typeface="Calibri"/>
              </a:rPr>
              <a:t>Locator Priority</a:t>
            </a:r>
          </a:p>
        </p:txBody>
      </p:sp>
      <p:sp>
        <p:nvSpPr>
          <p:cNvPr id="108" name="FlowDesc1"/>
          <p:cNvSpPr txBox="1"/>
          <p:nvPr/>
        </p:nvSpPr>
        <p:spPr>
          <a:xfrm>
            <a:off x="1026000" y="4920000"/>
            <a:ext cx="4340000" cy="1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lang="en-US" sz="1600">
                <a:solidFill>
                  <a:srgbClr val="334155"/>
                </a:solidFill>
                <a:latin typeface="Calibri"/>
                <a:cs typeface="Calibri"/>
              </a:rPr>
              <a:t>Prioritizes ID, Name, Data &amp; Accessibility attributes, CSS selectors, then XPath — resolving the most reliable locator before any AI is invoked.</a:t>
            </a:r>
          </a:p>
        </p:txBody>
      </p:sp>
      <p:sp>
        <p:nvSpPr>
          <p:cNvPr id="109" name="FlowCard2"/>
          <p:cNvSpPr/>
          <p:nvPr/>
        </p:nvSpPr>
        <p:spPr>
          <a:xfrm>
            <a:off x="6546000" y="3720000"/>
            <a:ext cx="4900000" cy="26500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22225">
            <a:solidFill>
              <a:srgbClr val="C282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FlowNum2"/>
          <p:cNvSpPr/>
          <p:nvPr/>
        </p:nvSpPr>
        <p:spPr>
          <a:xfrm>
            <a:off x="8709000" y="3355000"/>
            <a:ext cx="620000" cy="620000"/>
          </a:xfrm>
          <a:prstGeom prst="ellipse">
            <a:avLst/>
          </a:prstGeom>
          <a:solidFill>
            <a:srgbClr val="C2820B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11" name="FlowTitle2"/>
          <p:cNvSpPr txBox="1"/>
          <p:nvPr/>
        </p:nvSpPr>
        <p:spPr>
          <a:xfrm>
            <a:off x="6696000" y="4560000"/>
            <a:ext cx="4600000" cy="5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800" b="1">
                <a:solidFill>
                  <a:srgbClr val="C2820B"/>
                </a:solidFill>
                <a:latin typeface="Calibri"/>
                <a:cs typeface="Calibri"/>
              </a:rPr>
              <a:t>AI Fallback</a:t>
            </a:r>
          </a:p>
        </p:txBody>
      </p:sp>
      <p:sp>
        <p:nvSpPr>
          <p:cNvPr id="112" name="FlowDesc2"/>
          <p:cNvSpPr txBox="1"/>
          <p:nvPr/>
        </p:nvSpPr>
        <p:spPr>
          <a:xfrm>
            <a:off x="6826000" y="5160000"/>
            <a:ext cx="4340000" cy="1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lang="en-US" sz="1600">
                <a:solidFill>
                  <a:srgbClr val="334155"/>
                </a:solidFill>
                <a:latin typeface="Calibri"/>
                <a:cs typeface="Calibri"/>
              </a:rPr>
              <a:t>When deterministic strategies fail or score low-confidence, AI reads the DOM, element attributes &amp; surrounding context to propose stable, maintainable locators.</a:t>
            </a:r>
          </a:p>
        </p:txBody>
      </p:sp>
      <p:sp>
        <p:nvSpPr>
          <p:cNvPr id="113" name="FlowArrow"/>
          <p:cNvSpPr/>
          <p:nvPr/>
        </p:nvSpPr>
        <p:spPr>
          <a:xfrm>
            <a:off x="5786000" y="4925000"/>
            <a:ext cx="620000" cy="2400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00" name="Brain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000" y="4170000"/>
            <a:ext cx="540000" cy="540000"/>
          </a:xfrm>
          <a:prstGeom prst="rect">
            <a:avLst/>
          </a:prstGeom>
        </p:spPr>
      </p:pic>
      <p:pic>
        <p:nvPicPr>
          <p:cNvPr id="3" name="Image 3" descr="preencoded.png">
            <a:extLst>
              <a:ext uri="{FF2B5EF4-FFF2-40B4-BE49-F238E27FC236}">
                <a16:creationId xmlns:a16="http://schemas.microsoft.com/office/drawing/2014/main" id="{51F10AF3-7EFD-0B96-3D86-10E73AC20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072" y="4046536"/>
            <a:ext cx="566928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35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Diagram Frame"/>
          <p:cNvSpPr/>
          <p:nvPr/>
        </p:nvSpPr>
        <p:spPr>
          <a:xfrm>
            <a:off x="438105" y="1127659"/>
            <a:ext cx="11553895" cy="5670451"/>
          </a:xfrm>
          <a:prstGeom prst="roundRect">
            <a:avLst>
              <a:gd name="adj" fmla="val 3000"/>
            </a:avLst>
          </a:prstGeom>
          <a:solidFill>
            <a:srgbClr val="FBFBFD"/>
          </a:solidFill>
          <a:ln w="9525">
            <a:solidFill>
              <a:srgbClr val="E2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665CF-361A-0552-347F-38E411489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813" y="290000"/>
            <a:ext cx="11172375" cy="468526"/>
          </a:xfrm>
        </p:spPr>
        <p:txBody>
          <a:bodyPr wrap="square" lIns="0" tIns="0" rIns="0" bIns="0" anchor="t">
            <a:spAutoFit/>
          </a:bodyPr>
          <a:lstStyle>
            <a:lvl1pPr marL="0" algn="ctr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chemeClr val="tx1"/>
                </a:solidFill>
                <a:latin typeface="Calibri"/>
                <a:cs typeface="Calibri"/>
              </a:rPr>
              <a:t>AUTO POM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1347B-E45D-8AE6-EDD4-1F6B0BF52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05" y="1327659"/>
            <a:ext cx="11153915" cy="527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1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1219200" y="2895600"/>
            <a:ext cx="9753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4000" b="1" dirty="0">
                <a:solidFill>
                  <a:srgbClr val="FFFFFF"/>
                </a:solidFill>
              </a:rPr>
              <a:t>Self Healing – Test Automation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1219200" y="4724400"/>
            <a:ext cx="9296400" cy="8001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E8DAF2"/>
                </a:solidFill>
              </a:rPr>
              <a:t>A self-correcting suite that recovers from UI changes on its own, cutting flakiness and manual upkeep.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ointers BG"/>
          <p:cNvSpPr/>
          <p:nvPr/>
        </p:nvSpPr>
        <p:spPr>
          <a:xfrm>
            <a:off x="470000" y="1990672"/>
            <a:ext cx="5550000" cy="220000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4160520"/>
            <a:ext cx="12161520" cy="2697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03421" y="645985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kern="0" spc="500" dirty="0">
              <a:solidFill>
                <a:srgbClr val="7030A0"/>
              </a:solidFill>
              <a:latin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977390" y="-1143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400" b="1" dirty="0">
              <a:solidFill>
                <a:srgbClr val="0F274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93976" y="110642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>
                    <a:lumMod val="76000"/>
                  </a:schemeClr>
                </a:solidFill>
                <a:latin typeface="Calibri"/>
                <a:ea typeface="Calibri" pitchFamily="34" charset="-122"/>
                <a:cs typeface="Calibri"/>
              </a:rPr>
              <a:t>Playwright · TypeScript · Azure OpenAI GPT-4.1 · Chrome Extension</a:t>
            </a:r>
            <a:endParaRPr lang="en-US" sz="1600" b="1" dirty="0">
              <a:solidFill>
                <a:schemeClr val="accent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9930000" y="566928"/>
            <a:ext cx="115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0F2742"/>
              </a:solidFill>
              <a:latin typeface="Calibri"/>
              <a:cs typeface="Calibri"/>
            </a:endParaRPr>
          </a:p>
        </p:txBody>
      </p:sp>
      <p:sp>
        <p:nvSpPr>
          <p:cNvPr id="9" name="Text 6"/>
          <p:cNvSpPr/>
          <p:nvPr/>
        </p:nvSpPr>
        <p:spPr>
          <a:xfrm>
            <a:off x="54864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FALLBACK CHAIN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3246120" cy="1600200"/>
          </a:xfrm>
          <a:prstGeom prst="roundRect">
            <a:avLst>
              <a:gd name="adj" fmla="val 5714"/>
            </a:avLst>
          </a:prstGeom>
          <a:solidFill>
            <a:srgbClr val="EAEFF5"/>
          </a:solidFill>
          <a:ln w="15875">
            <a:solidFill>
              <a:srgbClr val="5B2080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029200"/>
            <a:ext cx="566928" cy="5669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5029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2"/>
                </a:solidFill>
                <a:latin typeface="Calibri"/>
                <a:ea typeface="Calibri" pitchFamily="34" charset="-122"/>
                <a:cs typeface="Calibri"/>
              </a:rPr>
              <a:t>DB Primary</a:t>
            </a:r>
            <a:endParaRPr lang="en-US" sz="1800" dirty="0">
              <a:latin typeface="Calibri"/>
              <a:ea typeface="Calibri"/>
              <a:cs typeface="Calibri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22960" y="5669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Stored locator resolved</a:t>
            </a:r>
            <a:endParaRPr lang="en-US" sz="1600" b="1" dirty="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direct from elements table</a:t>
            </a:r>
            <a:endParaRPr lang="en-US" sz="1600" b="1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5426964"/>
            <a:ext cx="274320" cy="25603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105656" y="4754880"/>
            <a:ext cx="3246120" cy="1600200"/>
          </a:xfrm>
          <a:prstGeom prst="roundRect">
            <a:avLst>
              <a:gd name="adj" fmla="val 5714"/>
            </a:avLst>
          </a:prstGeom>
          <a:solidFill>
            <a:srgbClr val="EAEFF5"/>
          </a:solidFill>
          <a:ln w="15875">
            <a:solidFill>
              <a:srgbClr val="B45309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8822" y="5020056"/>
            <a:ext cx="566928" cy="5669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934808" y="4898232"/>
            <a:ext cx="2506026" cy="667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2"/>
                </a:solidFill>
                <a:latin typeface="Calibri"/>
                <a:ea typeface="Calibri" pitchFamily="34" charset="-122"/>
                <a:cs typeface="Calibri"/>
              </a:rPr>
              <a:t> Smart Locators</a:t>
            </a:r>
            <a:endParaRPr lang="en-US" sz="1800" dirty="0">
              <a:latin typeface="Calibri"/>
              <a:ea typeface="Calibri"/>
              <a:cs typeface="Calibri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379976" y="5669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role → </a:t>
            </a:r>
            <a:r>
              <a:rPr lang="en-US" sz="1600" b="1" dirty="0" err="1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testId</a:t>
            </a: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 → text → </a:t>
            </a:r>
            <a:r>
              <a:rPr lang="en-US" sz="1600" b="1" dirty="0" err="1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css</a:t>
            </a:r>
            <a:endParaRPr lang="en-US" sz="1600" b="1">
              <a:latin typeface="Calibri"/>
              <a:cs typeface="Calibri"/>
            </a:endParaRPr>
          </a:p>
          <a:p>
            <a:pPr>
              <a:lnSpc>
                <a:spcPct val="105000"/>
              </a:lnSpc>
            </a:pP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→ </a:t>
            </a:r>
            <a:r>
              <a:rPr lang="en-US" sz="1600" b="1" dirty="0" err="1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xpath</a:t>
            </a: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, placeholder</a:t>
            </a:r>
          </a:p>
          <a:p>
            <a:pPr marL="0" indent="0">
              <a:lnSpc>
                <a:spcPct val="105000"/>
              </a:lnSpc>
              <a:buNone/>
            </a:pPr>
            <a:endParaRPr lang="en-US" sz="1600" b="1" dirty="0">
              <a:solidFill>
                <a:srgbClr val="334155"/>
              </a:solidFill>
              <a:latin typeface="Calibri"/>
              <a:cs typeface="Calibri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5426964"/>
            <a:ext cx="274320" cy="25603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2672" y="4754880"/>
            <a:ext cx="3246120" cy="1600200"/>
          </a:xfrm>
          <a:prstGeom prst="roundRect">
            <a:avLst>
              <a:gd name="adj" fmla="val 5714"/>
            </a:avLst>
          </a:prstGeom>
          <a:solidFill>
            <a:srgbClr val="EAEFF5"/>
          </a:solidFill>
          <a:ln w="15875">
            <a:solidFill>
              <a:srgbClr val="DC2626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8704" y="5029200"/>
            <a:ext cx="566928" cy="56692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22792" y="5029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2"/>
                </a:solidFill>
                <a:latin typeface="Calibri"/>
                <a:ea typeface="Calibri" pitchFamily="34" charset="-122"/>
                <a:cs typeface="Calibri"/>
              </a:rPr>
              <a:t>  AI Healing</a:t>
            </a:r>
            <a:endParaRPr lang="en-US" sz="1800" dirty="0">
              <a:latin typeface="Calibri"/>
              <a:ea typeface="Calibri"/>
              <a:cs typeface="Calibri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7936992" y="5669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GPT-4.1 vision + DOM </a:t>
            </a:r>
            <a:r>
              <a:rPr lang="en-US" sz="1600" b="1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context, confidence</a:t>
            </a:r>
            <a:r>
              <a:rPr lang="en-US" sz="1600" b="1" dirty="0">
                <a:solidFill>
                  <a:srgbClr val="334155"/>
                </a:solidFill>
                <a:latin typeface="Calibri"/>
                <a:ea typeface="Calibri" pitchFamily="34" charset="-122"/>
                <a:cs typeface="Calibri"/>
              </a:rPr>
              <a:t>-gated</a:t>
            </a:r>
            <a:endParaRPr lang="en-US" sz="1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594360" y="180771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DELIVERS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548640" y="2295144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" y="2395728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1143000" y="22585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suite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1143000" y="25511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/>
                <a:ea typeface="Calibri" pitchFamily="34" charset="-122"/>
                <a:cs typeface="Calibri"/>
              </a:rPr>
              <a:t>Deterministic tiers absorb most UI changes; AI handles novel breaks.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29" name="Shape 20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" y="3090672"/>
            <a:ext cx="256032" cy="256032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143000" y="29535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F2742"/>
                </a:solidFill>
                <a:latin typeface="Calibri"/>
                <a:ea typeface="Calibri"/>
                <a:cs typeface="Calibri"/>
              </a:rPr>
              <a:t>Lower flakiness &amp; upkeep</a:t>
            </a:r>
            <a:endParaRPr lang="en-US" sz="1400">
              <a:ea typeface="Calibri"/>
              <a:cs typeface="Calibri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1143000" y="3246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/>
                <a:ea typeface="Calibri" pitchFamily="34" charset="-122"/>
                <a:cs typeface="Calibri"/>
              </a:rPr>
              <a:t>Cuts manual selector maintenance and false failures substantially.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" y="3785616"/>
            <a:ext cx="256032" cy="256032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1143000" y="36484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end-to-end</a:t>
            </a:r>
            <a:endParaRPr lang="en-US" sz="1400" dirty="0"/>
          </a:p>
        </p:txBody>
      </p:sp>
      <p:sp>
        <p:nvSpPr>
          <p:cNvPr id="36" name="Text 25"/>
          <p:cNvSpPr/>
          <p:nvPr/>
        </p:nvSpPr>
        <p:spPr>
          <a:xfrm>
            <a:off x="1143000" y="3810095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/>
                <a:ea typeface="Calibri" pitchFamily="34" charset="-122"/>
                <a:cs typeface="Calibri"/>
              </a:rPr>
              <a:t>Proven against the live Ann Taylor staging funnel.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pic>
        <p:nvPicPr>
          <p:cNvPr id="900" name="Brand Log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DF202ED5-DE62-30D2-B684-02AFBE2C4DD2}"/>
              </a:ext>
            </a:extLst>
          </p:cNvPr>
          <p:cNvSpPr/>
          <p:nvPr/>
        </p:nvSpPr>
        <p:spPr>
          <a:xfrm>
            <a:off x="893921" y="570355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7030A0"/>
                </a:solidFill>
                <a:latin typeface="Calibri"/>
                <a:ea typeface="Calibri"/>
              </a:rPr>
              <a:t>Business value – Fixing flaky tests on its own – Less maintenance - Faster releases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605CC-F4A4-E939-07E1-47E66D26C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Diagram Frame"/>
          <p:cNvSpPr/>
          <p:nvPr/>
        </p:nvSpPr>
        <p:spPr>
          <a:xfrm>
            <a:off x="2477012" y="950000"/>
            <a:ext cx="6808191" cy="5850000"/>
          </a:xfrm>
          <a:prstGeom prst="roundRect">
            <a:avLst>
              <a:gd name="adj" fmla="val 3000"/>
            </a:avLst>
          </a:prstGeom>
          <a:solidFill>
            <a:srgbClr val="FBFBFD"/>
          </a:solidFill>
          <a:ln w="9525">
            <a:solidFill>
              <a:srgbClr val="E2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F4787C-988B-CD63-DBCB-8B8790E657FB}"/>
              </a:ext>
            </a:extLst>
          </p:cNvPr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kern="0" spc="500" dirty="0">
              <a:solidFill>
                <a:srgbClr val="0D9488"/>
              </a:solidFill>
              <a:latin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6875EE4-3CEC-97B7-7874-578D063429B7}"/>
              </a:ext>
            </a:extLst>
          </p:cNvPr>
          <p:cNvSpPr/>
          <p:nvPr/>
        </p:nvSpPr>
        <p:spPr>
          <a:xfrm>
            <a:off x="548640" y="71323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400" b="1" dirty="0">
              <a:solidFill>
                <a:srgbClr val="0F2742"/>
              </a:solidFill>
              <a:latin typeface="Calibri"/>
              <a:ea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6D273D0-04A2-65DE-AEFF-E8EAFAA2FDE2}"/>
              </a:ext>
            </a:extLst>
          </p:cNvPr>
          <p:cNvSpPr/>
          <p:nvPr/>
        </p:nvSpPr>
        <p:spPr>
          <a:xfrm>
            <a:off x="9930000" y="566928"/>
            <a:ext cx="115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0F2742"/>
              </a:solidFill>
              <a:latin typeface="Calibri"/>
              <a:cs typeface="Calibri"/>
            </a:endParaRPr>
          </a:p>
        </p:txBody>
      </p:sp>
      <p:pic>
        <p:nvPicPr>
          <p:cNvPr id="900" name="Brand Logo">
            <a:extLst>
              <a:ext uri="{FF2B5EF4-FFF2-40B4-BE49-F238E27FC236}">
                <a16:creationId xmlns:a16="http://schemas.microsoft.com/office/drawing/2014/main" id="{14A0F82C-4E09-45E4-0402-81B6861D4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pic>
        <p:nvPicPr>
          <p:cNvPr id="6" name="Picture 5" descr="Architecture diagram of self Healing ">
            <a:extLst>
              <a:ext uri="{FF2B5EF4-FFF2-40B4-BE49-F238E27FC236}">
                <a16:creationId xmlns:a16="http://schemas.microsoft.com/office/drawing/2014/main" id="{A4A00CEC-06C1-F04F-4925-C8042D1A43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9"/>
          <a:stretch>
            <a:fillRect/>
          </a:stretch>
        </p:blipFill>
        <p:spPr>
          <a:xfrm>
            <a:off x="2637012" y="916923"/>
            <a:ext cx="6488191" cy="5783077"/>
          </a:xfrm>
          <a:prstGeom prst="rect">
            <a:avLst/>
          </a:prstGeom>
        </p:spPr>
      </p:pic>
      <p:sp>
        <p:nvSpPr>
          <p:cNvPr id="5" name="Snip Diagonal Corner Rectangle 15">
            <a:extLst>
              <a:ext uri="{FF2B5EF4-FFF2-40B4-BE49-F238E27FC236}">
                <a16:creationId xmlns:a16="http://schemas.microsoft.com/office/drawing/2014/main" id="{2B4494C9-1FC5-409B-820E-DCE03D2FA86D}"/>
              </a:ext>
            </a:extLst>
          </p:cNvPr>
          <p:cNvSpPr/>
          <p:nvPr/>
        </p:nvSpPr>
        <p:spPr>
          <a:xfrm>
            <a:off x="509813" y="290000"/>
            <a:ext cx="11172375" cy="900000"/>
          </a:xfrm>
          <a:prstGeom prst="rect">
            <a:avLst/>
          </a:prstGeom>
          <a:noFill/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0" vert="horz" wrap="square" lIns="121920" tIns="44127" rIns="121920" bIns="44127" numCol="1" spcCol="1270" anchor="t" anchorCtr="0">
            <a:noAutofit/>
          </a:bodyPr>
          <a:lstStyle/>
          <a:p>
            <a:pPr algn="ctr" defTabSz="355591"/>
            <a:r>
              <a:rPr lang="en-US" sz="3200" b="1">
                <a:solidFill>
                  <a:schemeClr val="tx1"/>
                </a:solidFill>
                <a:latin typeface="Calibri"/>
                <a:cs typeface="Calibri"/>
              </a:rPr>
              <a:t>SELF HEALING ARCHITECTURE</a:t>
            </a:r>
            <a:br>
              <a:rPr lang="en-US" sz="3200" b="1" dirty="0">
                <a:solidFill>
                  <a:schemeClr val="tx1"/>
                </a:solidFill>
                <a:latin typeface="Calibri"/>
                <a:cs typeface="Calibri"/>
              </a:rPr>
            </a:br>
            <a:endParaRPr lang="en-US" sz="3200" b="1" dirty="0">
              <a:solidFill>
                <a:schemeClr val="tx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7978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1219200" y="2895600"/>
            <a:ext cx="9753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4000" b="1" dirty="0">
                <a:solidFill>
                  <a:srgbClr val="FFFFFF"/>
                </a:solidFill>
              </a:rPr>
              <a:t>Image Based Automation Tool – Visor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1219200" y="4724400"/>
            <a:ext cx="9296400" cy="8001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E8DAF2"/>
                </a:solidFill>
              </a:rPr>
              <a:t>Visual automation framework that combines OpenCV image matching, OCR, and input control into one Node.js package — enabling automation of Windows applications without DOM or browser access.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td Title"/>
          <p:cNvSpPr txBox="1"/>
          <p:nvPr/>
        </p:nvSpPr>
        <p:spPr>
          <a:xfrm>
            <a:off x="509813" y="200000"/>
            <a:ext cx="11172375" cy="64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3200" b="1">
                <a:solidFill>
                  <a:schemeClr val="tx1"/>
                </a:solidFill>
                <a:latin typeface="Calibri"/>
                <a:cs typeface="Calibri"/>
              </a:rPr>
              <a:t>IMAGE BASED AUTOMATION TOOL – VISOR</a:t>
            </a:r>
          </a:p>
        </p:txBody>
      </p:sp>
      <p:sp>
        <p:nvSpPr>
          <p:cNvPr id="203" name="KeyFeaturesLabel"/>
          <p:cNvSpPr txBox="1"/>
          <p:nvPr/>
        </p:nvSpPr>
        <p:spPr>
          <a:xfrm>
            <a:off x="900000" y="1550000"/>
            <a:ext cx="10392000" cy="38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1600" b="1" spc="200">
                <a:solidFill>
                  <a:srgbClr val="7030A0"/>
                </a:solidFill>
                <a:latin typeface="Calibri"/>
                <a:cs typeface="Calibri"/>
              </a:rPr>
              <a:t>KEY FEATURES</a:t>
            </a:r>
          </a:p>
        </p:txBody>
      </p:sp>
      <p:sp>
        <p:nvSpPr>
          <p:cNvPr id="204" name="PNum1"/>
          <p:cNvSpPr/>
          <p:nvPr/>
        </p:nvSpPr>
        <p:spPr>
          <a:xfrm>
            <a:off x="1050000" y="2150000"/>
            <a:ext cx="520000" cy="520000"/>
          </a:xfrm>
          <a:prstGeom prst="ellipse">
            <a:avLst/>
          </a:prstGeom>
          <a:solidFill>
            <a:srgbClr val="D4BB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A1A1A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205" name="PText1"/>
          <p:cNvSpPr txBox="1"/>
          <p:nvPr/>
        </p:nvSpPr>
        <p:spPr>
          <a:xfrm>
            <a:off x="1750000" y="2150000"/>
            <a:ext cx="9300000" cy="5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F2742"/>
                </a:solidFill>
                <a:latin typeface="Calibri"/>
                <a:cs typeface="Calibri"/>
              </a:rPr>
              <a:t>Multi-scale image matching</a:t>
            </a:r>
          </a:p>
        </p:txBody>
      </p:sp>
      <p:sp>
        <p:nvSpPr>
          <p:cNvPr id="206" name="PNum2"/>
          <p:cNvSpPr/>
          <p:nvPr/>
        </p:nvSpPr>
        <p:spPr>
          <a:xfrm>
            <a:off x="1050000" y="2870000"/>
            <a:ext cx="520000" cy="520000"/>
          </a:xfrm>
          <a:prstGeom prst="ellipse">
            <a:avLst/>
          </a:prstGeom>
          <a:solidFill>
            <a:srgbClr val="D4BB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A1A1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207" name="PText2"/>
          <p:cNvSpPr txBox="1"/>
          <p:nvPr/>
        </p:nvSpPr>
        <p:spPr>
          <a:xfrm>
            <a:off x="1750000" y="2870000"/>
            <a:ext cx="9300000" cy="5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F2742"/>
                </a:solidFill>
                <a:latin typeface="Calibri"/>
                <a:cs typeface="Calibri"/>
              </a:rPr>
              <a:t>Full-screen and region-based OCR</a:t>
            </a:r>
          </a:p>
        </p:txBody>
      </p:sp>
      <p:sp>
        <p:nvSpPr>
          <p:cNvPr id="208" name="PNum3"/>
          <p:cNvSpPr/>
          <p:nvPr/>
        </p:nvSpPr>
        <p:spPr>
          <a:xfrm>
            <a:off x="1050000" y="3590000"/>
            <a:ext cx="520000" cy="520000"/>
          </a:xfrm>
          <a:prstGeom prst="ellipse">
            <a:avLst/>
          </a:prstGeom>
          <a:solidFill>
            <a:srgbClr val="D4BB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A1A1A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209" name="PText3"/>
          <p:cNvSpPr txBox="1"/>
          <p:nvPr/>
        </p:nvSpPr>
        <p:spPr>
          <a:xfrm>
            <a:off x="1750000" y="3590000"/>
            <a:ext cx="9300000" cy="5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F2742"/>
                </a:solidFill>
                <a:latin typeface="Calibri"/>
                <a:cs typeface="Calibri"/>
              </a:rPr>
              <a:t>Automated mouse and keyboard input</a:t>
            </a:r>
          </a:p>
        </p:txBody>
      </p:sp>
      <p:sp>
        <p:nvSpPr>
          <p:cNvPr id="210" name="PNum4"/>
          <p:cNvSpPr/>
          <p:nvPr/>
        </p:nvSpPr>
        <p:spPr>
          <a:xfrm>
            <a:off x="1050000" y="4310000"/>
            <a:ext cx="520000" cy="520000"/>
          </a:xfrm>
          <a:prstGeom prst="ellipse">
            <a:avLst/>
          </a:prstGeom>
          <a:solidFill>
            <a:srgbClr val="D4BB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A1A1A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211" name="PText4"/>
          <p:cNvSpPr txBox="1"/>
          <p:nvPr/>
        </p:nvSpPr>
        <p:spPr>
          <a:xfrm>
            <a:off x="1750000" y="4310000"/>
            <a:ext cx="9300000" cy="5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F2742"/>
                </a:solidFill>
                <a:latin typeface="Calibri"/>
                <a:cs typeface="Calibri"/>
              </a:rPr>
              <a:t>Barcode scanning</a:t>
            </a:r>
          </a:p>
        </p:txBody>
      </p:sp>
      <p:sp>
        <p:nvSpPr>
          <p:cNvPr id="212" name="PNum5"/>
          <p:cNvSpPr/>
          <p:nvPr/>
        </p:nvSpPr>
        <p:spPr>
          <a:xfrm>
            <a:off x="1050000" y="5030000"/>
            <a:ext cx="520000" cy="520000"/>
          </a:xfrm>
          <a:prstGeom prst="ellipse">
            <a:avLst/>
          </a:prstGeom>
          <a:solidFill>
            <a:srgbClr val="D4BB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>
                <a:solidFill>
                  <a:srgbClr val="1A1A1A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213" name="PText5"/>
          <p:cNvSpPr txBox="1"/>
          <p:nvPr/>
        </p:nvSpPr>
        <p:spPr>
          <a:xfrm>
            <a:off x="1750000" y="5030000"/>
            <a:ext cx="9300000" cy="5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F2742"/>
                </a:solidFill>
                <a:latin typeface="Calibri"/>
                <a:cs typeface="Calibri"/>
              </a:rPr>
              <a:t>Built-in display scaling detection</a:t>
            </a:r>
          </a:p>
        </p:txBody>
      </p:sp>
      <p:pic>
        <p:nvPicPr>
          <p:cNvPr id="900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sp>
        <p:nvSpPr>
          <p:cNvPr id="960" name="Page Number"/>
          <p:cNvSpPr txBox="1"/>
          <p:nvPr/>
        </p:nvSpPr>
        <p:spPr>
          <a:xfrm>
            <a:off x="11500000" y="6420000"/>
            <a:ext cx="500000" cy="32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endParaRPr lang="en-US" sz="1000" dirty="0">
              <a:solidFill>
                <a:srgbClr val="94A3B8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57347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Diagram Frame"/>
          <p:cNvSpPr/>
          <p:nvPr/>
        </p:nvSpPr>
        <p:spPr>
          <a:xfrm>
            <a:off x="200000" y="950000"/>
            <a:ext cx="10731505" cy="5850000"/>
          </a:xfrm>
          <a:prstGeom prst="roundRect">
            <a:avLst>
              <a:gd name="adj" fmla="val 3000"/>
            </a:avLst>
          </a:prstGeom>
          <a:solidFill>
            <a:srgbClr val="FBFBFD"/>
          </a:solidFill>
          <a:ln w="9525">
            <a:solidFill>
              <a:srgbClr val="E2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568A22-5685-43B6-95D6-4DED64041462}"/>
              </a:ext>
            </a:extLst>
          </p:cNvPr>
          <p:cNvSpPr txBox="1"/>
          <p:nvPr/>
        </p:nvSpPr>
        <p:spPr>
          <a:xfrm>
            <a:off x="9123994" y="1132919"/>
            <a:ext cx="231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377"/>
            <a:r>
              <a:rPr lang="en-US" sz="1600" b="1">
                <a:solidFill>
                  <a:srgbClr val="F2F2F5">
                    <a:lumMod val="25000"/>
                  </a:srgbClr>
                </a:solidFill>
                <a:latin typeface="Calibri"/>
                <a:cs typeface="Calibri" panose="020B0604020202020204" pitchFamily="34" charset="0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29AEBC-73CA-7AC5-6EF6-6AF8F86FB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77" y="1030331"/>
            <a:ext cx="11042248" cy="5689337"/>
          </a:xfrm>
          <a:prstGeom prst="rect">
            <a:avLst/>
          </a:prstGeom>
        </p:spPr>
      </p:pic>
      <p:sp>
        <p:nvSpPr>
          <p:cNvPr id="8" name="Snip Diagonal Corner Rectangle 15">
            <a:extLst>
              <a:ext uri="{FF2B5EF4-FFF2-40B4-BE49-F238E27FC236}">
                <a16:creationId xmlns:a16="http://schemas.microsoft.com/office/drawing/2014/main" id="{B32E4883-13E1-C80E-8C50-35087D7D3CC5}"/>
              </a:ext>
            </a:extLst>
          </p:cNvPr>
          <p:cNvSpPr/>
          <p:nvPr/>
        </p:nvSpPr>
        <p:spPr>
          <a:xfrm>
            <a:off x="509813" y="290000"/>
            <a:ext cx="11172375" cy="900000"/>
          </a:xfrm>
          <a:prstGeom prst="rect">
            <a:avLst/>
          </a:prstGeom>
          <a:noFill/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0" vert="horz" wrap="square" lIns="121920" tIns="44127" rIns="121920" bIns="44127" numCol="1" spcCol="1270" anchor="t" anchorCtr="0">
            <a:noAutofit/>
          </a:bodyPr>
          <a:lstStyle/>
          <a:p>
            <a:pPr algn="ctr" defTabSz="355591"/>
            <a:r>
              <a:rPr lang="en-US" sz="3200" b="1">
                <a:solidFill>
                  <a:schemeClr val="tx1"/>
                </a:solidFill>
                <a:latin typeface="Calibri"/>
                <a:cs typeface="Calibri"/>
              </a:rPr>
              <a:t>VISOR ARCHITECTURE</a:t>
            </a:r>
            <a:endParaRPr lang="en-US" sz="3200" b="1" dirty="0">
              <a:solidFill>
                <a:schemeClr val="tx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3604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C61139-2DF3-5811-5EAB-538996CC7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92399E-B3E9-BBA7-7AF0-B3327EA5F28E}"/>
              </a:ext>
            </a:extLst>
          </p:cNvPr>
          <p:cNvSpPr/>
          <p:nvPr/>
        </p:nvSpPr>
        <p:spPr>
          <a:xfrm>
            <a:off x="0" y="5028353"/>
            <a:ext cx="12196156" cy="223181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3EBDFA-C7C7-F40A-D879-AAC5DADB807A}"/>
              </a:ext>
            </a:extLst>
          </p:cNvPr>
          <p:cNvSpPr/>
          <p:nvPr/>
        </p:nvSpPr>
        <p:spPr>
          <a:xfrm>
            <a:off x="548640" y="66113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kern="0" spc="500">
              <a:solidFill>
                <a:srgbClr val="7030A0"/>
              </a:solidFill>
              <a:latin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721923-09F3-02D8-1245-89AB1A580F45}"/>
              </a:ext>
            </a:extLst>
          </p:cNvPr>
          <p:cNvSpPr/>
          <p:nvPr/>
        </p:nvSpPr>
        <p:spPr>
          <a:xfrm>
            <a:off x="509813" y="290000"/>
            <a:ext cx="11172375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Calibri"/>
                <a:cs typeface="Calibri"/>
              </a:rPr>
              <a:t>AFTA DASHBOARD</a:t>
            </a:r>
            <a:r>
              <a:rPr lang="en-US" sz="2800" b="1" dirty="0">
                <a:solidFill>
                  <a:schemeClr val="accent5">
                    <a:lumMod val="76000"/>
                  </a:schemeClr>
                </a:solidFill>
                <a:latin typeface="Calibri"/>
                <a:ea typeface="Calibri"/>
                <a:cs typeface="Calibri"/>
              </a:rPr>
              <a:t> </a:t>
            </a:r>
            <a:endParaRPr lang="en-US" sz="2800" dirty="0">
              <a:solidFill>
                <a:schemeClr val="accent5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3400" b="1" dirty="0">
              <a:solidFill>
                <a:srgbClr val="0F2742"/>
              </a:solidFill>
              <a:latin typeface="Calibri"/>
              <a:ea typeface="Calibri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C708ED-431B-572B-510F-F2E4280C8915}"/>
              </a:ext>
            </a:extLst>
          </p:cNvPr>
          <p:cNvSpPr/>
          <p:nvPr/>
        </p:nvSpPr>
        <p:spPr>
          <a:xfrm>
            <a:off x="601556" y="88839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7030A0"/>
                </a:solidFill>
                <a:latin typeface="Calibri"/>
                <a:ea typeface="Calibri"/>
              </a:rPr>
              <a:t>Unified Test Automation Platform for Execution, Reporting and Analytics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04CA27-054F-2DC5-675B-73B6B8A434DC}"/>
              </a:ext>
            </a:extLst>
          </p:cNvPr>
          <p:cNvSpPr/>
          <p:nvPr/>
        </p:nvSpPr>
        <p:spPr>
          <a:xfrm>
            <a:off x="9930000" y="566928"/>
            <a:ext cx="115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>
              <a:solidFill>
                <a:srgbClr val="0F2742"/>
              </a:solidFill>
              <a:latin typeface="Calibri"/>
              <a:cs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720DE9D-76D8-D7AD-3E9B-3B53BF4D8E91}"/>
              </a:ext>
            </a:extLst>
          </p:cNvPr>
          <p:cNvSpPr/>
          <p:nvPr/>
        </p:nvSpPr>
        <p:spPr>
          <a:xfrm>
            <a:off x="485140" y="513665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300">
                <a:solidFill>
                  <a:srgbClr val="7030A0"/>
                </a:solidFill>
                <a:latin typeface="Calibri"/>
                <a:cs typeface="Calibri"/>
              </a:rPr>
              <a:t>TECH STACK</a:t>
            </a:r>
            <a:endParaRPr lang="en-US" sz="13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E0FD926-50E5-6AA1-BCF6-4A8331671995}"/>
              </a:ext>
            </a:extLst>
          </p:cNvPr>
          <p:cNvSpPr/>
          <p:nvPr/>
        </p:nvSpPr>
        <p:spPr>
          <a:xfrm>
            <a:off x="1508760" y="5029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b="1">
              <a:solidFill>
                <a:srgbClr val="0F2742"/>
              </a:solidFill>
              <a:latin typeface="Calibri"/>
              <a:cs typeface="Calibri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B9D6C9C-99CC-A1BA-F9B7-708B7E87C675}"/>
              </a:ext>
            </a:extLst>
          </p:cNvPr>
          <p:cNvSpPr/>
          <p:nvPr/>
        </p:nvSpPr>
        <p:spPr>
          <a:xfrm>
            <a:off x="4707867" y="5294745"/>
            <a:ext cx="509386" cy="340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b="1">
              <a:solidFill>
                <a:srgbClr val="0F2742"/>
              </a:solidFill>
              <a:latin typeface="Calibri"/>
              <a:cs typeface="Calibri"/>
            </a:endParaRPr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790A8B79-4B7B-0668-B7A1-D8C466C4A41D}"/>
              </a:ext>
            </a:extLst>
          </p:cNvPr>
          <p:cNvSpPr/>
          <p:nvPr/>
        </p:nvSpPr>
        <p:spPr>
          <a:xfrm>
            <a:off x="1217083" y="155749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7030A0"/>
                </a:solidFill>
                <a:latin typeface="Calibri"/>
                <a:ea typeface="Calibri"/>
              </a:rPr>
              <a:t>Features in AFTA</a:t>
            </a:r>
            <a:endParaRPr lang="en-US" dirty="0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D9712328-0FF8-D35C-83DB-521B576FF969}"/>
              </a:ext>
            </a:extLst>
          </p:cNvPr>
          <p:cNvSpPr/>
          <p:nvPr/>
        </p:nvSpPr>
        <p:spPr>
          <a:xfrm>
            <a:off x="590974" y="1869355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EE84D1DB-6D33-6FB9-4142-CE43B7F7D326}"/>
              </a:ext>
            </a:extLst>
          </p:cNvPr>
          <p:cNvSpPr/>
          <p:nvPr/>
        </p:nvSpPr>
        <p:spPr>
          <a:xfrm>
            <a:off x="1217083" y="1951651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 Runner</a:t>
            </a:r>
            <a:endParaRPr lang="en-US" dirty="0">
              <a:latin typeface="Calibri" panose="020B0004020202020204"/>
              <a:cs typeface="Calibri"/>
            </a:endParaRPr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6F055932-9141-8068-E36E-78FB40DD3092}"/>
              </a:ext>
            </a:extLst>
          </p:cNvPr>
          <p:cNvSpPr/>
          <p:nvPr/>
        </p:nvSpPr>
        <p:spPr>
          <a:xfrm>
            <a:off x="1217083" y="2276009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64748B"/>
                </a:solidFill>
                <a:latin typeface="Calibri"/>
                <a:cs typeface="Calibri"/>
              </a:rPr>
              <a:t>Execute and monitor test suites with build history and report access</a:t>
            </a:r>
            <a:endParaRPr lang="en-US" dirty="0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50344F6F-FBBF-41F0-D249-0A1FDE102CB9}"/>
              </a:ext>
            </a:extLst>
          </p:cNvPr>
          <p:cNvSpPr/>
          <p:nvPr/>
        </p:nvSpPr>
        <p:spPr>
          <a:xfrm>
            <a:off x="590974" y="2680715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9BC1B32A-1724-9C4E-64AC-4000B4BA779A}"/>
              </a:ext>
            </a:extLst>
          </p:cNvPr>
          <p:cNvSpPr/>
          <p:nvPr/>
        </p:nvSpPr>
        <p:spPr>
          <a:xfrm>
            <a:off x="1217083" y="2763011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 Data Generator</a:t>
            </a:r>
            <a:endParaRPr lang="en-US">
              <a:latin typeface="Calibri"/>
              <a:cs typeface="Calibri"/>
            </a:endParaRPr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07A664B4-5C26-F399-63F6-162C7EDF5B80}"/>
              </a:ext>
            </a:extLst>
          </p:cNvPr>
          <p:cNvSpPr/>
          <p:nvPr/>
        </p:nvSpPr>
        <p:spPr>
          <a:xfrm>
            <a:off x="1217083" y="2949787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64748B"/>
                </a:solidFill>
                <a:latin typeface="Calibri"/>
                <a:ea typeface="+mn-lt"/>
                <a:cs typeface="Calibri"/>
              </a:rPr>
              <a:t>Generate reusable test data for faster execution.</a:t>
            </a:r>
            <a:r>
              <a:rPr lang="en-US" sz="14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5A606240-7C8F-4C2F-6999-2192624A0B82}"/>
              </a:ext>
            </a:extLst>
          </p:cNvPr>
          <p:cNvSpPr/>
          <p:nvPr/>
        </p:nvSpPr>
        <p:spPr>
          <a:xfrm>
            <a:off x="590974" y="3248659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4">
            <a:extLst>
              <a:ext uri="{FF2B5EF4-FFF2-40B4-BE49-F238E27FC236}">
                <a16:creationId xmlns:a16="http://schemas.microsoft.com/office/drawing/2014/main" id="{5A29979B-DAAF-77AA-DA08-BEFC195C51E0}"/>
              </a:ext>
            </a:extLst>
          </p:cNvPr>
          <p:cNvSpPr/>
          <p:nvPr/>
        </p:nvSpPr>
        <p:spPr>
          <a:xfrm>
            <a:off x="1217083" y="3330955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2742"/>
                </a:solidFill>
                <a:latin typeface="Calibri"/>
                <a:cs typeface="Calibri"/>
              </a:rPr>
              <a:t>Reports</a:t>
            </a:r>
            <a:endParaRPr lang="en-US"/>
          </a:p>
        </p:txBody>
      </p:sp>
      <p:sp>
        <p:nvSpPr>
          <p:cNvPr id="36" name="Text 25">
            <a:extLst>
              <a:ext uri="{FF2B5EF4-FFF2-40B4-BE49-F238E27FC236}">
                <a16:creationId xmlns:a16="http://schemas.microsoft.com/office/drawing/2014/main" id="{A41189EB-3191-151C-B349-5C1B8ADEE126}"/>
              </a:ext>
            </a:extLst>
          </p:cNvPr>
          <p:cNvSpPr/>
          <p:nvPr/>
        </p:nvSpPr>
        <p:spPr>
          <a:xfrm>
            <a:off x="1217083" y="3475397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64748B"/>
                </a:solidFill>
                <a:latin typeface="Calibri"/>
                <a:ea typeface="+mn-lt"/>
                <a:cs typeface="Calibri"/>
              </a:rPr>
              <a:t>Centralized insights into execution results and trends</a:t>
            </a:r>
            <a:r>
              <a:rPr lang="en-US" sz="1400" b="1">
                <a:solidFill>
                  <a:srgbClr val="64748B"/>
                </a:solidFill>
                <a:latin typeface="Calibri"/>
                <a:ea typeface="Calibri" pitchFamily="34" charset="-122"/>
                <a:cs typeface="Calibri"/>
              </a:rPr>
              <a:t>.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37" name="Shape 26">
            <a:extLst>
              <a:ext uri="{FF2B5EF4-FFF2-40B4-BE49-F238E27FC236}">
                <a16:creationId xmlns:a16="http://schemas.microsoft.com/office/drawing/2014/main" id="{83DBE46C-B019-76A7-A02F-BA868E4FF9B3}"/>
              </a:ext>
            </a:extLst>
          </p:cNvPr>
          <p:cNvSpPr/>
          <p:nvPr/>
        </p:nvSpPr>
        <p:spPr>
          <a:xfrm>
            <a:off x="6452362" y="1806828"/>
            <a:ext cx="5480050" cy="1089575"/>
          </a:xfrm>
          <a:prstGeom prst="roundRect">
            <a:avLst>
              <a:gd name="adj" fmla="val 8475"/>
            </a:avLst>
          </a:prstGeom>
          <a:solidFill>
            <a:srgbClr val="EAEFF5"/>
          </a:solidFill>
          <a:ln w="12700">
            <a:solidFill>
              <a:srgbClr val="5B2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CEF4D328-341C-DD15-428C-56B247CE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369" y="1915064"/>
            <a:ext cx="384048" cy="384048"/>
          </a:xfrm>
          <a:prstGeom prst="rect">
            <a:avLst/>
          </a:prstGeom>
        </p:spPr>
      </p:pic>
      <p:sp>
        <p:nvSpPr>
          <p:cNvPr id="39" name="Text 27">
            <a:extLst>
              <a:ext uri="{FF2B5EF4-FFF2-40B4-BE49-F238E27FC236}">
                <a16:creationId xmlns:a16="http://schemas.microsoft.com/office/drawing/2014/main" id="{964FF14B-65C6-1E60-6EEB-8EC21B86F474}"/>
              </a:ext>
            </a:extLst>
          </p:cNvPr>
          <p:cNvSpPr/>
          <p:nvPr/>
        </p:nvSpPr>
        <p:spPr>
          <a:xfrm>
            <a:off x="7083251" y="1960083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40" name="Text 28">
            <a:extLst>
              <a:ext uri="{FF2B5EF4-FFF2-40B4-BE49-F238E27FC236}">
                <a16:creationId xmlns:a16="http://schemas.microsoft.com/office/drawing/2014/main" id="{0D57A0E7-D665-6D4F-26BC-F69353495F89}"/>
              </a:ext>
            </a:extLst>
          </p:cNvPr>
          <p:cNvSpPr/>
          <p:nvPr/>
        </p:nvSpPr>
        <p:spPr>
          <a:xfrm>
            <a:off x="7066407" y="217770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Implementation of multiple user login and User scheduling history with timestamp</a:t>
            </a:r>
          </a:p>
        </p:txBody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49B89240-3AE8-1714-2950-2C2787D1127C}"/>
              </a:ext>
            </a:extLst>
          </p:cNvPr>
          <p:cNvSpPr/>
          <p:nvPr/>
        </p:nvSpPr>
        <p:spPr>
          <a:xfrm>
            <a:off x="6452362" y="3549974"/>
            <a:ext cx="5480049" cy="1184826"/>
          </a:xfrm>
          <a:prstGeom prst="roundRect">
            <a:avLst>
              <a:gd name="adj" fmla="val 8475"/>
            </a:avLst>
          </a:prstGeom>
          <a:solidFill>
            <a:srgbClr val="EAEFF5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9651B394-3069-F8F0-603C-9D77F71C4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3428" y="3577921"/>
            <a:ext cx="384048" cy="384048"/>
          </a:xfrm>
          <a:prstGeom prst="rect">
            <a:avLst/>
          </a:prstGeom>
        </p:spPr>
      </p:pic>
      <p:sp>
        <p:nvSpPr>
          <p:cNvPr id="43" name="Text 30">
            <a:extLst>
              <a:ext uri="{FF2B5EF4-FFF2-40B4-BE49-F238E27FC236}">
                <a16:creationId xmlns:a16="http://schemas.microsoft.com/office/drawing/2014/main" id="{B8DEA60E-10CF-66FA-FE0E-89E61D42233E}"/>
              </a:ext>
            </a:extLst>
          </p:cNvPr>
          <p:cNvSpPr/>
          <p:nvPr/>
        </p:nvSpPr>
        <p:spPr>
          <a:xfrm>
            <a:off x="7082289" y="362137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400"/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F7B20EB5-4E9B-AC9B-2303-B128B09312BC}"/>
              </a:ext>
            </a:extLst>
          </p:cNvPr>
          <p:cNvSpPr/>
          <p:nvPr/>
        </p:nvSpPr>
        <p:spPr>
          <a:xfrm>
            <a:off x="6958541" y="3961969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AI-Powered Test Summaries </a:t>
            </a:r>
          </a:p>
          <a:p>
            <a:pPr marL="171450" indent="-1714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AI-Based Failure Analysis</a:t>
            </a:r>
          </a:p>
          <a:p>
            <a:pPr marL="171450" indent="-1714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Root Cause Suggestions </a:t>
            </a:r>
          </a:p>
          <a:p>
            <a:pPr marL="171450" indent="-171450">
              <a:lnSpc>
                <a:spcPct val="105000"/>
              </a:lnSpc>
              <a:buFont typeface="Calibri" panose="020B0604020202020204" pitchFamily="34" charset="0"/>
              <a:buChar char="•"/>
            </a:pPr>
            <a:endParaRPr lang="en-US" sz="1400" b="1" dirty="0">
              <a:solidFill>
                <a:srgbClr val="334155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900" name="Brand Logo">
            <a:extLst>
              <a:ext uri="{FF2B5EF4-FFF2-40B4-BE49-F238E27FC236}">
                <a16:creationId xmlns:a16="http://schemas.microsoft.com/office/drawing/2014/main" id="{7745F82A-3CE8-06BA-57B8-898AC14409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sp>
        <p:nvSpPr>
          <p:cNvPr id="6" name="Shape 23">
            <a:extLst>
              <a:ext uri="{FF2B5EF4-FFF2-40B4-BE49-F238E27FC236}">
                <a16:creationId xmlns:a16="http://schemas.microsoft.com/office/drawing/2014/main" id="{43DBA775-111E-B9DD-D506-FFA237E8D645}"/>
              </a:ext>
            </a:extLst>
          </p:cNvPr>
          <p:cNvSpPr/>
          <p:nvPr/>
        </p:nvSpPr>
        <p:spPr>
          <a:xfrm>
            <a:off x="590974" y="3854704"/>
            <a:ext cx="457200" cy="457200"/>
          </a:xfrm>
          <a:prstGeom prst="ellipse">
            <a:avLst/>
          </a:prstGeom>
          <a:solidFill>
            <a:srgbClr val="5B208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3DE75C-B7D3-B5D6-78FB-DD9F6119AFB2}"/>
              </a:ext>
            </a:extLst>
          </p:cNvPr>
          <p:cNvSpPr txBox="1"/>
          <p:nvPr/>
        </p:nvSpPr>
        <p:spPr>
          <a:xfrm>
            <a:off x="1090083" y="3937000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Scheduler </a:t>
            </a:r>
            <a:endParaRPr lang="en-US" sz="1400" b="1">
              <a:latin typeface="Calibri"/>
              <a:cs typeface="Calibri"/>
            </a:endParaRPr>
          </a:p>
          <a:p>
            <a:r>
              <a:rPr lang="en-US" sz="1400" b="1">
                <a:solidFill>
                  <a:srgbClr val="64748B"/>
                </a:solidFill>
                <a:latin typeface="Calibri"/>
                <a:ea typeface="+mn-lt"/>
                <a:cs typeface="Calibri"/>
              </a:rPr>
              <a:t>Automate recurring and parameterized test executions</a:t>
            </a:r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77C648-F961-D0DF-5D9D-956E2044DF79}"/>
              </a:ext>
            </a:extLst>
          </p:cNvPr>
          <p:cNvSpPr txBox="1"/>
          <p:nvPr/>
        </p:nvSpPr>
        <p:spPr>
          <a:xfrm>
            <a:off x="9318322" y="3857060"/>
            <a:ext cx="6096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Test Data Management Tool​</a:t>
            </a:r>
          </a:p>
          <a:p>
            <a:pPr marL="171450" indent="-1714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   Email &amp;Teams Notifications​</a:t>
            </a:r>
          </a:p>
          <a:p>
            <a:pPr marL="171450" indent="-171450">
              <a:buFont typeface="Calibri" panose="020B0604020202020204" pitchFamily="34" charset="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Calibri"/>
                <a:cs typeface="Calibri"/>
              </a:rPr>
              <a:t>   Flaky Test Detection ​</a:t>
            </a:r>
          </a:p>
          <a:p>
            <a:pPr algn="ctr"/>
            <a:endParaRPr lang="en-US" dirty="0"/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0160280E-DB53-16A6-5204-13A139E468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574716"/>
              </p:ext>
            </p:extLst>
          </p:nvPr>
        </p:nvGraphicFramePr>
        <p:xfrm>
          <a:off x="789785" y="5697505"/>
          <a:ext cx="10604378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962">
                  <a:extLst>
                    <a:ext uri="{9D8B030D-6E8A-4147-A177-3AD203B41FA5}">
                      <a16:colId xmlns:a16="http://schemas.microsoft.com/office/drawing/2014/main" val="257991179"/>
                    </a:ext>
                  </a:extLst>
                </a:gridCol>
                <a:gridCol w="1468861">
                  <a:extLst>
                    <a:ext uri="{9D8B030D-6E8A-4147-A177-3AD203B41FA5}">
                      <a16:colId xmlns:a16="http://schemas.microsoft.com/office/drawing/2014/main" val="3737988962"/>
                    </a:ext>
                  </a:extLst>
                </a:gridCol>
                <a:gridCol w="1514912">
                  <a:extLst>
                    <a:ext uri="{9D8B030D-6E8A-4147-A177-3AD203B41FA5}">
                      <a16:colId xmlns:a16="http://schemas.microsoft.com/office/drawing/2014/main" val="3234516299"/>
                    </a:ext>
                  </a:extLst>
                </a:gridCol>
                <a:gridCol w="1305066">
                  <a:extLst>
                    <a:ext uri="{9D8B030D-6E8A-4147-A177-3AD203B41FA5}">
                      <a16:colId xmlns:a16="http://schemas.microsoft.com/office/drawing/2014/main" val="64408704"/>
                    </a:ext>
                  </a:extLst>
                </a:gridCol>
                <a:gridCol w="1317858">
                  <a:extLst>
                    <a:ext uri="{9D8B030D-6E8A-4147-A177-3AD203B41FA5}">
                      <a16:colId xmlns:a16="http://schemas.microsoft.com/office/drawing/2014/main" val="2113656067"/>
                    </a:ext>
                  </a:extLst>
                </a:gridCol>
                <a:gridCol w="2123932">
                  <a:extLst>
                    <a:ext uri="{9D8B030D-6E8A-4147-A177-3AD203B41FA5}">
                      <a16:colId xmlns:a16="http://schemas.microsoft.com/office/drawing/2014/main" val="3742892743"/>
                    </a:ext>
                  </a:extLst>
                </a:gridCol>
                <a:gridCol w="1312787">
                  <a:extLst>
                    <a:ext uri="{9D8B030D-6E8A-4147-A177-3AD203B41FA5}">
                      <a16:colId xmlns:a16="http://schemas.microsoft.com/office/drawing/2014/main" val="42352733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Layer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kern="1200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UI</a:t>
                      </a: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Backend</a:t>
                      </a:r>
                      <a:endParaRPr lang="en-US" sz="1400" err="1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CI/CD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Reports    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Integrations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Storage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8B5F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0589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Angular, TypeScript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Node.js, Express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Jenkins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JUnit XML, Allure</a:t>
                      </a:r>
                      <a:endParaRPr lang="en-US" sz="140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Report Portal, SVN, Lambda Test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SQLite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276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8F04572-779B-6134-91B7-E6C774B41335}"/>
              </a:ext>
            </a:extLst>
          </p:cNvPr>
          <p:cNvSpPr txBox="1"/>
          <p:nvPr/>
        </p:nvSpPr>
        <p:spPr>
          <a:xfrm>
            <a:off x="502073" y="1839017"/>
            <a:ext cx="635001" cy="6578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rgbClr val="FFFFFF"/>
                </a:solidFill>
                <a:latin typeface="Calibri"/>
                <a:cs typeface="Calibri"/>
              </a:rPr>
              <a:t>▶</a:t>
            </a:r>
          </a:p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7244D0-EA26-9882-3737-76F744AF8487}"/>
              </a:ext>
            </a:extLst>
          </p:cNvPr>
          <p:cNvSpPr txBox="1"/>
          <p:nvPr/>
        </p:nvSpPr>
        <p:spPr>
          <a:xfrm>
            <a:off x="571346" y="2656150"/>
            <a:ext cx="49645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rgbClr val="FFFFFF"/>
                </a:solidFill>
                <a:latin typeface="Calibri"/>
                <a:cs typeface="Calibri"/>
              </a:rPr>
              <a:t>▤</a:t>
            </a:r>
          </a:p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6AD1A0-9BAF-37D9-15FF-3E9107BDC6B1}"/>
              </a:ext>
            </a:extLst>
          </p:cNvPr>
          <p:cNvSpPr txBox="1"/>
          <p:nvPr/>
        </p:nvSpPr>
        <p:spPr>
          <a:xfrm>
            <a:off x="513619" y="3830139"/>
            <a:ext cx="61191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rgbClr val="FFFFFF"/>
                </a:solidFill>
                <a:latin typeface="Calibri"/>
                <a:cs typeface="Calibri"/>
              </a:rPr>
              <a:t>◷</a:t>
            </a:r>
          </a:p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AFA1F-29FA-749F-A4D1-EEA68393879D}"/>
              </a:ext>
            </a:extLst>
          </p:cNvPr>
          <p:cNvSpPr txBox="1"/>
          <p:nvPr/>
        </p:nvSpPr>
        <p:spPr>
          <a:xfrm>
            <a:off x="542482" y="3224094"/>
            <a:ext cx="5541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rgbClr val="FFFFFF"/>
                </a:solidFill>
                <a:latin typeface="Calibri"/>
                <a:cs typeface="Calibri"/>
              </a:rPr>
              <a:t>▦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009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D507A-2D77-3ADB-F0F5-99859CE44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rand Logo">
            <a:extLst>
              <a:ext uri="{FF2B5EF4-FFF2-40B4-BE49-F238E27FC236}">
                <a16:creationId xmlns:a16="http://schemas.microsoft.com/office/drawing/2014/main" id="{9A797ED6-A9FD-37C4-420C-74DAB6DA4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sp>
        <p:nvSpPr>
          <p:cNvPr id="20" name="Left Card">
            <a:extLst>
              <a:ext uri="{FF2B5EF4-FFF2-40B4-BE49-F238E27FC236}">
                <a16:creationId xmlns:a16="http://schemas.microsoft.com/office/drawing/2014/main" id="{FE676726-77A2-381B-F0C3-FE529C544A07}"/>
              </a:ext>
            </a:extLst>
          </p:cNvPr>
          <p:cNvSpPr/>
          <p:nvPr/>
        </p:nvSpPr>
        <p:spPr>
          <a:xfrm>
            <a:off x="452225" y="978500"/>
            <a:ext cx="5241345" cy="3084063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91440" tIns="45720" rIns="91440" bIns="4572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Left Header">
            <a:extLst>
              <a:ext uri="{FF2B5EF4-FFF2-40B4-BE49-F238E27FC236}">
                <a16:creationId xmlns:a16="http://schemas.microsoft.com/office/drawing/2014/main" id="{681F642D-4276-B9AB-EE80-80858C6ECCC9}"/>
              </a:ext>
            </a:extLst>
          </p:cNvPr>
          <p:cNvSpPr/>
          <p:nvPr/>
        </p:nvSpPr>
        <p:spPr>
          <a:xfrm>
            <a:off x="645762" y="998939"/>
            <a:ext cx="5228337" cy="716717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n-US" sz="1800" b="1" kern="0" spc="200" dirty="0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MAINTENANCE &amp; SHADOWING ACTIVITIES</a:t>
            </a:r>
          </a:p>
        </p:txBody>
      </p:sp>
      <p:sp>
        <p:nvSpPr>
          <p:cNvPr id="22" name="Left Body">
            <a:extLst>
              <a:ext uri="{FF2B5EF4-FFF2-40B4-BE49-F238E27FC236}">
                <a16:creationId xmlns:a16="http://schemas.microsoft.com/office/drawing/2014/main" id="{5925914A-EC23-859D-2043-74D41D7F9EA3}"/>
              </a:ext>
            </a:extLst>
          </p:cNvPr>
          <p:cNvSpPr/>
          <p:nvPr/>
        </p:nvSpPr>
        <p:spPr>
          <a:xfrm>
            <a:off x="633855" y="1682313"/>
            <a:ext cx="4406809" cy="1744001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182880" indent="-182880">
              <a:lnSpc>
                <a:spcPct val="108000"/>
              </a:lnSpc>
              <a:spcBef>
                <a:spcPts val="600"/>
              </a:spcBef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Received KT from the Everest team on test suites across all brands — suite ownership, execution strategy, and Jenkins auto-scheduled jobs.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82880" indent="-182880">
              <a:lnSpc>
                <a:spcPct val="108000"/>
              </a:lnSpc>
              <a:spcBef>
                <a:spcPts val="600"/>
              </a:spcBef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Understood daily execution processes, regression cycles, and automation maintenance workflows.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82880" indent="-182880">
              <a:lnSpc>
                <a:spcPct val="108000"/>
              </a:lnSpc>
              <a:spcBef>
                <a:spcPts val="600"/>
              </a:spcBef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Analyzing daily Sanity Suite failures and performing RCA across automation, environment, and application issues.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82880" indent="-182880">
              <a:lnSpc>
                <a:spcPct val="108000"/>
              </a:lnSpc>
              <a:spcBef>
                <a:spcPts val="600"/>
              </a:spcBef>
              <a:buFont typeface="Calibri"/>
              <a:buChar char="•"/>
            </a:pPr>
            <a:endParaRPr lang="en-US" sz="1600" dirty="0">
              <a:solidFill>
                <a:srgbClr val="33415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Right Card">
            <a:extLst>
              <a:ext uri="{FF2B5EF4-FFF2-40B4-BE49-F238E27FC236}">
                <a16:creationId xmlns:a16="http://schemas.microsoft.com/office/drawing/2014/main" id="{0EEA0E7E-D05B-AB7F-C4E2-77824BCCBA12}"/>
              </a:ext>
            </a:extLst>
          </p:cNvPr>
          <p:cNvSpPr/>
          <p:nvPr/>
        </p:nvSpPr>
        <p:spPr>
          <a:xfrm>
            <a:off x="351758" y="4612746"/>
            <a:ext cx="10689428" cy="2081095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91440" tIns="45720" rIns="91440" bIns="45720" anchor="t"/>
          <a:lstStyle/>
          <a:p>
            <a:endParaRPr lang="en-US"/>
          </a:p>
          <a:p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Automated validation of </a:t>
            </a: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Data Layer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 variables using Playwright across end-to-end user journeys.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Dynamic comparison of </a:t>
            </a: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Data Layer</a:t>
            </a:r>
            <a:r>
              <a:rPr lang="en-US" sz="1600" dirty="0">
                <a:solidFill>
                  <a:srgbClr val="334155"/>
                </a:solidFill>
                <a:ea typeface="+mn-lt"/>
                <a:cs typeface="+mn-lt"/>
              </a:rPr>
              <a:t> values against UI data, business rules, and expected behavior.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+mn-lt"/>
                <a:cs typeface="+mn-lt"/>
              </a:rPr>
              <a:t>Comprehensive reporting with PASS / FAIL / MISSING status, detailed comparison results, and HTML/CSV reports for faster analysis</a:t>
            </a:r>
            <a:endParaRPr lang="en-US"/>
          </a:p>
          <a:p>
            <a:pPr>
              <a:lnSpc>
                <a:spcPct val="110000"/>
              </a:lnSpc>
              <a:spcBef>
                <a:spcPts val="700"/>
              </a:spcBef>
            </a:pPr>
            <a:endParaRPr lang="en-US" sz="1600" dirty="0">
              <a:solidFill>
                <a:srgbClr val="334155"/>
              </a:solidFill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2813445-88F5-3CCD-A580-5656CDABBA6E}"/>
              </a:ext>
            </a:extLst>
          </p:cNvPr>
          <p:cNvSpPr txBox="1">
            <a:spLocks/>
          </p:cNvSpPr>
          <p:nvPr/>
        </p:nvSpPr>
        <p:spPr>
          <a:xfrm>
            <a:off x="509813" y="290000"/>
            <a:ext cx="11172375" cy="9000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algn="ctr" defTabSz="121917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>
                <a:solidFill>
                  <a:schemeClr val="tx1"/>
                </a:solidFill>
                <a:latin typeface="Calibri"/>
                <a:cs typeface="Calibri"/>
              </a:rPr>
              <a:t>  ONGOING ACTIVITIES – AUTOMATION TEAM</a:t>
            </a:r>
          </a:p>
          <a:p>
            <a:pPr algn="ctr"/>
            <a:endParaRPr lang="en-US" sz="3200" b="1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4" name="Left Header">
            <a:extLst>
              <a:ext uri="{FF2B5EF4-FFF2-40B4-BE49-F238E27FC236}">
                <a16:creationId xmlns:a16="http://schemas.microsoft.com/office/drawing/2014/main" id="{F8FE0781-AA24-AA16-D142-444AF3AEAD2C}"/>
              </a:ext>
            </a:extLst>
          </p:cNvPr>
          <p:cNvSpPr/>
          <p:nvPr/>
        </p:nvSpPr>
        <p:spPr>
          <a:xfrm>
            <a:off x="3824731" y="4916096"/>
            <a:ext cx="4525868" cy="561936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n-US" sz="1800" b="1" kern="0" spc="200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DATA LAYER VALIDATION</a:t>
            </a:r>
            <a:endParaRPr lang="en-US" sz="1800" b="1" kern="0" spc="200" dirty="0">
              <a:solidFill>
                <a:srgbClr val="7030A0"/>
              </a:solidFill>
              <a:latin typeface="Calibri"/>
              <a:ea typeface="Calibri"/>
              <a:cs typeface="Calibri"/>
            </a:endParaRPr>
          </a:p>
          <a:p>
            <a:endParaRPr lang="en-US" sz="1800" b="1" kern="0" spc="200" dirty="0">
              <a:solidFill>
                <a:srgbClr val="7030A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ight Card">
            <a:extLst>
              <a:ext uri="{FF2B5EF4-FFF2-40B4-BE49-F238E27FC236}">
                <a16:creationId xmlns:a16="http://schemas.microsoft.com/office/drawing/2014/main" id="{84071B8F-44F9-56F3-21D8-F9610E1A35AC}"/>
              </a:ext>
            </a:extLst>
          </p:cNvPr>
          <p:cNvSpPr/>
          <p:nvPr/>
        </p:nvSpPr>
        <p:spPr>
          <a:xfrm>
            <a:off x="6096000" y="1005155"/>
            <a:ext cx="4795835" cy="3057408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91440" tIns="45720" rIns="91440" bIns="45720" anchor="t"/>
          <a:lstStyle/>
          <a:p>
            <a:pPr>
              <a:lnSpc>
                <a:spcPct val="110000"/>
              </a:lnSpc>
              <a:spcBef>
                <a:spcPts val="700"/>
              </a:spcBef>
            </a:pPr>
            <a:r>
              <a:rPr lang="en-US" sz="1800" b="1" i="0" u="none" strike="noStrike" baseline="0" dirty="0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REGRESSION SUITE — SPRINT 26.16 </a:t>
            </a:r>
            <a:r>
              <a:rPr lang="en-US" sz="1800" b="1" i="0" u="none" strike="noStrike" baseline="0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/26.17</a:t>
            </a:r>
            <a:r>
              <a:rPr lang="en-US" sz="18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br>
              <a:rPr lang="en-US" sz="18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</a:br>
            <a:r>
              <a:rPr lang="en-US" sz="1600">
                <a:solidFill>
                  <a:srgbClr val="334155"/>
                </a:solidFill>
                <a:ea typeface="Calibri"/>
                <a:cs typeface="Calibri"/>
              </a:rPr>
              <a:t>Automation scripting completed in Sprint 26.16 for </a:t>
            </a:r>
            <a:r>
              <a:rPr lang="en-US" sz="1600" dirty="0">
                <a:solidFill>
                  <a:srgbClr val="334155"/>
                </a:solidFill>
                <a:ea typeface="Calibri"/>
                <a:cs typeface="Calibri"/>
              </a:rPr>
              <a:t>AT and Loft — both Desktop </a:t>
            </a:r>
            <a:r>
              <a:rPr lang="en-US" sz="1600">
                <a:solidFill>
                  <a:srgbClr val="334155"/>
                </a:solidFill>
                <a:ea typeface="Calibri"/>
                <a:cs typeface="Calibri"/>
              </a:rPr>
              <a:t>and Mobile</a:t>
            </a:r>
            <a:r>
              <a:rPr lang="en-US" sz="1600" dirty="0">
                <a:solidFill>
                  <a:srgbClr val="334155"/>
                </a:solidFill>
                <a:ea typeface="Calibri"/>
                <a:cs typeface="Calibri"/>
              </a:rPr>
              <a:t> Web.</a:t>
            </a:r>
            <a:endParaRPr lang="en-US" sz="1600" dirty="0">
              <a:ea typeface="Calibri"/>
              <a:cs typeface="Calibri"/>
            </a:endParaRPr>
          </a:p>
          <a:p>
            <a:pPr marL="182880" indent="-182880">
              <a:lnSpc>
                <a:spcPct val="110000"/>
              </a:lnSpc>
              <a:spcBef>
                <a:spcPts val="700"/>
              </a:spcBef>
              <a:buFont typeface="Calibri"/>
              <a:buChar char="•"/>
            </a:pPr>
            <a:r>
              <a:rPr lang="en-US" sz="1600">
                <a:solidFill>
                  <a:srgbClr val="334155"/>
                </a:solidFill>
                <a:ea typeface="Calibri"/>
                <a:cs typeface="Calibri"/>
              </a:rPr>
              <a:t>Jenkins job triggered, achieving an </a:t>
            </a:r>
            <a:r>
              <a:rPr lang="en-US" sz="1600" b="1">
                <a:solidFill>
                  <a:srgbClr val="7030A0"/>
                </a:solidFill>
                <a:ea typeface="Calibri"/>
                <a:cs typeface="Calibri"/>
              </a:rPr>
              <a:t>84–85% pass rate</a:t>
            </a:r>
            <a:r>
              <a:rPr lang="en-US" sz="1600">
                <a:solidFill>
                  <a:srgbClr val="334155"/>
                </a:solidFill>
                <a:ea typeface="Calibri"/>
                <a:cs typeface="Calibri"/>
              </a:rPr>
              <a:t>.</a:t>
            </a:r>
            <a:endParaRPr lang="en-US" sz="1600">
              <a:ea typeface="Calibri"/>
              <a:cs typeface="Calibri"/>
            </a:endParaRPr>
          </a:p>
          <a:p>
            <a:pPr marL="182880" indent="-182880">
              <a:lnSpc>
                <a:spcPct val="110000"/>
              </a:lnSpc>
              <a:spcBef>
                <a:spcPts val="700"/>
              </a:spcBef>
              <a:buFont typeface="Calibri"/>
              <a:buChar char="•"/>
            </a:pPr>
            <a:r>
              <a:rPr lang="en-US" sz="1600" dirty="0">
                <a:solidFill>
                  <a:srgbClr val="334155"/>
                </a:solidFill>
                <a:ea typeface="Calibri"/>
                <a:cs typeface="Calibri"/>
              </a:rPr>
              <a:t>Report shared with the Everest </a:t>
            </a:r>
            <a:r>
              <a:rPr lang="en-US" sz="1600">
                <a:solidFill>
                  <a:srgbClr val="334155"/>
                </a:solidFill>
                <a:ea typeface="Calibri"/>
                <a:cs typeface="Calibri"/>
              </a:rPr>
              <a:t>Automation team</a:t>
            </a:r>
            <a:r>
              <a:rPr lang="en-US" sz="1600" dirty="0">
                <a:solidFill>
                  <a:srgbClr val="334155"/>
                </a:solidFill>
                <a:ea typeface="Calibri"/>
                <a:cs typeface="Calibri"/>
              </a:rPr>
              <a:t> for approval on </a:t>
            </a:r>
            <a:r>
              <a:rPr lang="en-US" sz="1600" b="1" dirty="0">
                <a:solidFill>
                  <a:srgbClr val="0F2742"/>
                </a:solidFill>
                <a:ea typeface="Calibri"/>
                <a:cs typeface="Calibri"/>
              </a:rPr>
              <a:t>PR #1652</a:t>
            </a:r>
            <a:r>
              <a:rPr lang="en-US" sz="1600" dirty="0">
                <a:solidFill>
                  <a:srgbClr val="334155"/>
                </a:solidFill>
                <a:ea typeface="Calibri"/>
                <a:cs typeface="Calibri"/>
              </a:rPr>
              <a:t>.</a:t>
            </a:r>
            <a:endParaRPr lang="en-US" sz="1600" dirty="0">
              <a:ea typeface="Calibri"/>
              <a:cs typeface="Calibri"/>
            </a:endParaRPr>
          </a:p>
          <a:p>
            <a:pPr marL="182880" indent="-182880">
              <a:lnSpc>
                <a:spcPct val="110000"/>
              </a:lnSpc>
              <a:spcBef>
                <a:spcPts val="700"/>
              </a:spcBef>
              <a:buFont typeface="Calibri"/>
              <a:buChar char="•"/>
            </a:pPr>
            <a:endParaRPr lang="en-US" sz="1600" dirty="0">
              <a:ea typeface="Calibri"/>
              <a:cs typeface="Calibri"/>
            </a:endParaRPr>
          </a:p>
          <a:p>
            <a:endParaRPr lang="en-US" sz="1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8786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30C6D-E6FF-13BC-53F5-6276E890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rand Logo">
            <a:extLst>
              <a:ext uri="{FF2B5EF4-FFF2-40B4-BE49-F238E27FC236}">
                <a16:creationId xmlns:a16="http://schemas.microsoft.com/office/drawing/2014/main" id="{E93F4655-80AE-DFCA-B255-E38B5ED2A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96" y="430000"/>
            <a:ext cx="548640" cy="64617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E5F6DD8-DB3F-DCF8-080F-92094E22CCFB}"/>
              </a:ext>
            </a:extLst>
          </p:cNvPr>
          <p:cNvSpPr txBox="1">
            <a:spLocks/>
          </p:cNvSpPr>
          <p:nvPr/>
        </p:nvSpPr>
        <p:spPr>
          <a:xfrm>
            <a:off x="509813" y="290000"/>
            <a:ext cx="11172375" cy="9000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algn="ctr" defTabSz="121917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>
                <a:solidFill>
                  <a:schemeClr val="tx1"/>
                </a:solidFill>
                <a:latin typeface="Calibri"/>
                <a:cs typeface="Calibri"/>
              </a:rPr>
              <a:t>PLANNED ACTIVITIES – AUTOMATION TEAM</a:t>
            </a:r>
          </a:p>
          <a:p>
            <a:pPr algn="ctr"/>
            <a:endParaRPr lang="en-US" sz="3200" b="1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0" name="ORPOS Card"/>
          <p:cNvSpPr/>
          <p:nvPr/>
        </p:nvSpPr>
        <p:spPr>
          <a:xfrm>
            <a:off x="838200" y="1524000"/>
            <a:ext cx="4724400" cy="2057400"/>
          </a:xfrm>
          <a:prstGeom prst="roundRect">
            <a:avLst>
              <a:gd name="adj" fmla="val 4000"/>
            </a:avLst>
          </a:prstGeom>
          <a:solidFill>
            <a:srgbClr val="EAF0F6"/>
          </a:solidFill>
          <a:ln w="12700">
            <a:solidFill>
              <a:srgbClr val="7030A0"/>
            </a:solidFill>
          </a:ln>
        </p:spPr>
        <p:txBody>
          <a:bodyPr lIns="182880" tIns="137160" rIns="182880" bIns="137160" anchor="t"/>
          <a:lstStyle/>
          <a:p>
            <a:pPr algn="ctr"/>
            <a:r>
              <a:rPr lang="en-US"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ORPOS MIGRATION</a:t>
            </a:r>
          </a:p>
          <a:p>
            <a:pPr algn="ctr">
              <a:lnSpc>
                <a:spcPct val="112000"/>
              </a:lnSpc>
              <a:spcBef>
                <a:spcPts val="900"/>
              </a:spcBef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Current framework built on Java and Sikuli to be migrated to Playwright and Visor.</a:t>
            </a:r>
          </a:p>
        </p:txBody>
      </p:sp>
      <p:sp>
        <p:nvSpPr>
          <p:cNvPr id="6" name="ECOMM Card"/>
          <p:cNvSpPr/>
          <p:nvPr/>
        </p:nvSpPr>
        <p:spPr>
          <a:xfrm>
            <a:off x="6629400" y="1524000"/>
            <a:ext cx="4724400" cy="20574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182880" tIns="137160" rIns="182880" bIns="137160" anchor="t"/>
          <a:lstStyle/>
          <a:p>
            <a:pPr algn="ctr"/>
            <a:r>
              <a:rPr lang="en-US" sz="1800" b="1" dirty="0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ECOMM MIGRATION</a:t>
            </a:r>
          </a:p>
          <a:p>
            <a:pPr algn="ctr"/>
            <a:endParaRPr lang="en-US" sz="1800" b="1" dirty="0">
              <a:solidFill>
                <a:srgbClr val="7030A0"/>
              </a:solidFill>
              <a:latin typeface="Calibri"/>
              <a:ea typeface="Calibri"/>
              <a:cs typeface="Calibri"/>
            </a:endParaRPr>
          </a:p>
          <a:p>
            <a:pPr algn="ctr"/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Current framework is built on selenium/java to be migrated to playwright/typescript(AFTA FRAMEWORK)</a:t>
            </a:r>
            <a:b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</a:b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Execution will be based on priority based testcases.</a:t>
            </a:r>
            <a:br>
              <a:rPr lang="en-US" sz="1600" dirty="0">
                <a:latin typeface="Calibri"/>
                <a:ea typeface="Calibri"/>
                <a:cs typeface="Calibri"/>
              </a:rPr>
            </a:br>
            <a:br>
              <a:rPr lang="en-US" sz="1600" dirty="0">
                <a:latin typeface="Calibri"/>
                <a:ea typeface="Calibri"/>
                <a:cs typeface="Calibri"/>
              </a:rPr>
            </a:br>
            <a:endParaRPr lang="en-US" sz="1600" dirty="0">
              <a:solidFill>
                <a:srgbClr val="334155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en-US" sz="1600" dirty="0">
              <a:solidFill>
                <a:srgbClr val="334155"/>
              </a:solidFill>
              <a:ea typeface="Calibri"/>
              <a:cs typeface="Calibri"/>
            </a:endParaRPr>
          </a:p>
        </p:txBody>
      </p:sp>
      <p:sp>
        <p:nvSpPr>
          <p:cNvPr id="2" name="CHICOS Card"/>
          <p:cNvSpPr/>
          <p:nvPr/>
        </p:nvSpPr>
        <p:spPr>
          <a:xfrm>
            <a:off x="838200" y="3886200"/>
            <a:ext cx="4724400" cy="20574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182880" tIns="137160" rIns="182880" bIns="137160" anchor="t"/>
          <a:lstStyle/>
          <a:p>
            <a:pPr algn="ctr"/>
            <a:r>
              <a:rPr lang="en-US"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CHICOS SHADOWING/MAINTAINANCE</a:t>
            </a:r>
          </a:p>
          <a:p>
            <a:pPr algn="ctr"/>
            <a:endParaRPr lang="en-US" sz="1800" b="1" dirty="0">
              <a:solidFill>
                <a:srgbClr val="7030A0"/>
              </a:solidFill>
              <a:latin typeface="Calibri"/>
              <a:ea typeface="Calibri"/>
              <a:cs typeface="Calibri"/>
            </a:endParaRPr>
          </a:p>
          <a:p>
            <a:pPr algn="ctr"/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Framework analysis is currently underway, with shadowing of the Chicos suites scheduled to begin shortly.</a:t>
            </a:r>
          </a:p>
        </p:txBody>
      </p:sp>
      <p:sp>
        <p:nvSpPr>
          <p:cNvPr id="5" name="UIDASH Card"/>
          <p:cNvSpPr/>
          <p:nvPr/>
        </p:nvSpPr>
        <p:spPr>
          <a:xfrm>
            <a:off x="6629400" y="3886200"/>
            <a:ext cx="4724400" cy="20574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7030A0"/>
            </a:solidFill>
          </a:ln>
        </p:spPr>
        <p:txBody>
          <a:bodyPr lIns="182880" tIns="137160" rIns="182880" bIns="137160" anchor="t"/>
          <a:lstStyle/>
          <a:p>
            <a:pPr algn="ctr"/>
            <a:r>
              <a:rPr lang="en-US"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UI DASHBOARD – PHASE 2</a:t>
            </a:r>
          </a:p>
          <a:p>
            <a:pPr algn="ctr"/>
            <a:endParaRPr lang="en-US" sz="1000" b="1" dirty="0">
              <a:solidFill>
                <a:srgbClr val="7030A0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buFont typeface="Calibri" panose="020B0604020202020204" pitchFamily="34" charset="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Implementation of multiple user login</a:t>
            </a:r>
          </a:p>
          <a:p>
            <a:pPr marL="285750" indent="-285750" algn="l">
              <a:buFont typeface="Calibri" panose="020B0604020202020204" pitchFamily="34" charset="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User scheduling history with timestamp</a:t>
            </a:r>
          </a:p>
          <a:p>
            <a:pPr marL="285750" indent="-285750" algn="l">
              <a:buFont typeface="Calibri" panose="020B0604020202020204" pitchFamily="34" charset="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AI-powered test summaries</a:t>
            </a:r>
          </a:p>
        </p:txBody>
      </p:sp>
    </p:spTree>
    <p:extLst>
      <p:ext uri="{BB962C8B-B14F-4D97-AF65-F5344CB8AC3E}">
        <p14:creationId xmlns:p14="http://schemas.microsoft.com/office/powerpoint/2010/main" val="33395168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hankYou"/>
          <p:cNvSpPr txBox="1"/>
          <p:nvPr/>
        </p:nvSpPr>
        <p:spPr>
          <a:xfrm>
            <a:off x="1525712" y="2400475"/>
            <a:ext cx="9142288" cy="20682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0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214" y="1121797"/>
            <a:ext cx="933572" cy="1099541"/>
          </a:xfrm>
          <a:prstGeom prst="rect">
            <a:avLst/>
          </a:prstGeom>
        </p:spPr>
      </p:pic>
      <p:sp>
        <p:nvSpPr>
          <p:cNvPr id="710" name="TY Sub"/>
          <p:cNvSpPr txBox="1"/>
          <p:nvPr/>
        </p:nvSpPr>
        <p:spPr>
          <a:xfrm>
            <a:off x="1525712" y="4520000"/>
            <a:ext cx="9142288" cy="45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030A0"/>
                </a:solidFill>
                <a:latin typeface="Calibri"/>
                <a:cs typeface="Calibri"/>
              </a:rPr>
              <a:t>Questions &amp; Discussion</a:t>
            </a:r>
          </a:p>
        </p:txBody>
      </p:sp>
      <p:sp>
        <p:nvSpPr>
          <p:cNvPr id="711" name="TY Contact"/>
          <p:cNvSpPr txBox="1"/>
          <p:nvPr/>
        </p:nvSpPr>
        <p:spPr>
          <a:xfrm>
            <a:off x="1525712" y="5080000"/>
            <a:ext cx="9142288" cy="4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300">
                <a:solidFill>
                  <a:srgbClr val="64748B"/>
                </a:solidFill>
                <a:latin typeface="Calibri"/>
                <a:cs typeface="Calibri"/>
              </a:rPr>
              <a:t>Automation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 panose="020F05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1106</Words>
  <Application>Microsoft Office PowerPoint</Application>
  <PresentationFormat>Widescreen</PresentationFormat>
  <Paragraphs>176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AUTO POM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Knitwell Self-Healing Framework</dc:title>
  <dc:subject>PptxGenJS Presentation</dc:subject>
  <dc:creator>Sivanesan</dc:creator>
  <cp:lastModifiedBy>poeyahmozhi tholkappian</cp:lastModifiedBy>
  <cp:revision>618</cp:revision>
  <dcterms:created xsi:type="dcterms:W3CDTF">2026-06-17T07:36:54Z</dcterms:created>
  <dcterms:modified xsi:type="dcterms:W3CDTF">2026-06-17T20:44:50Z</dcterms:modified>
</cp:coreProperties>
</file>