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548" r:id="rId5"/>
    <p:sldId id="547" r:id="rId6"/>
    <p:sldId id="2147481685" r:id="rId7"/>
    <p:sldId id="2147481686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5EBFFE-349D-8C10-95E0-E424CBE9D32E}" v="165" dt="2026-06-17T10:31:27.693"/>
    <p1510:client id="{B7263528-15EF-B1DA-ED32-01E89E2FDEFB}" v="4" dt="2026-06-17T10:16:06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EA6CB-C57E-491A-96CE-B952AE6437D0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779D-6FF1-4F24-9B7E-68862E79B2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3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5CF0-9107-1E7A-7813-E1EEEC21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74EB5-6A95-EA33-5112-482F1E9B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B44D8-5E48-3DAC-292F-754773A5D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D95B-5EE6-87AB-09AA-805ED285E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598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9089" y="394966"/>
            <a:ext cx="514297" cy="593017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819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Test Automation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361017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6000"/>
                  </a:schemeClr>
                </a:solidFill>
                <a:latin typeface="Calibri"/>
                <a:ea typeface="Calibri" pitchFamily="34" charset="-122"/>
                <a:cs typeface="Calibri"/>
              </a:rPr>
              <a:t>Playwright · TypeScript · Azure OpenAI GPT-4.1</a:t>
            </a:r>
            <a:endParaRPr lang="en-US" sz="1600" b="1">
              <a:solidFill>
                <a:schemeClr val="accent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FALLBACK CHAIN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0F76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DB Primary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Stored locator resolved</a:t>
            </a:r>
            <a:endParaRPr lang="en-US" sz="1200" b="1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direct from elements table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502920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65776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Smart Locators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 xml:space="preserve">role → </a:t>
            </a:r>
            <a:r>
              <a:rPr lang="en-US" sz="1200" b="1" dirty="0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testId</a:t>
            </a:r>
            <a:r>
              <a:rPr lang="en-US" sz="12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 xml:space="preserve"> → text → </a:t>
            </a:r>
            <a:r>
              <a:rPr lang="en-US" sz="1200" b="1" dirty="0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css</a:t>
            </a:r>
            <a:endParaRPr lang="en-US" sz="1200" b="1">
              <a:latin typeface="Calibri"/>
              <a:cs typeface="Calibri"/>
            </a:endParaRPr>
          </a:p>
          <a:p>
            <a:pPr>
              <a:lnSpc>
                <a:spcPct val="105000"/>
              </a:lnSpc>
            </a:pPr>
            <a:r>
              <a:rPr lang="en-US" sz="12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 xml:space="preserve">→ </a:t>
            </a:r>
            <a:r>
              <a:rPr lang="en-US" sz="1200" b="1" dirty="0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xpath</a:t>
            </a:r>
            <a:r>
              <a:rPr lang="en-US" sz="12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, placeholder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Calibri"/>
              <a:cs typeface="Calibri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AI Healing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GPT-4.1 vision + DOM context,</a:t>
            </a:r>
            <a:endParaRPr lang="en-US" sz="1200" b="1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confidence-gated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suite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Deterministic tiers absorb most UI changes; AI handles novel breaks.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F2742"/>
                </a:solidFill>
                <a:latin typeface="Calibri"/>
                <a:ea typeface="Calibri"/>
                <a:cs typeface="Calibri"/>
              </a:rPr>
              <a:t>Lower flakiness &amp; upkeep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Cuts manual selector maintenance and false failures substantially.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end-to-end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1143000" y="39410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Proven against the live Ann Taylor staging funnel.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  <p:sp>
        <p:nvSpPr>
          <p:cNvPr id="37" name="Shape 26"/>
          <p:cNvSpPr/>
          <p:nvPr/>
        </p:nvSpPr>
        <p:spPr>
          <a:xfrm>
            <a:off x="6355080" y="187452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1112" y="2121408"/>
            <a:ext cx="384048" cy="38404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132320" y="20391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7132320" y="23317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Write healed locators back to the elements table — AI cost &amp; latency decay as the suite matures.</a:t>
            </a:r>
            <a:endParaRPr lang="en-US" sz="1200" b="1" dirty="0">
              <a:latin typeface="Calibri"/>
              <a:cs typeface="Calibri"/>
            </a:endParaRPr>
          </a:p>
        </p:txBody>
      </p:sp>
      <p:sp>
        <p:nvSpPr>
          <p:cNvPr id="41" name="Shape 29"/>
          <p:cNvSpPr/>
          <p:nvPr/>
        </p:nvSpPr>
        <p:spPr>
          <a:xfrm>
            <a:off x="6355080" y="315468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1112" y="3401568"/>
            <a:ext cx="384048" cy="38404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132320" y="33192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4" name="Text 31"/>
          <p:cNvSpPr/>
          <p:nvPr/>
        </p:nvSpPr>
        <p:spPr>
          <a:xfrm>
            <a:off x="7132320" y="36118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 err="1">
                <a:solidFill>
                  <a:srgbClr val="0F2742"/>
                </a:solidFill>
                <a:latin typeface="Calibri"/>
                <a:ea typeface="Calibri" pitchFamily="34" charset="-122"/>
                <a:cs typeface="Calibri"/>
              </a:rPr>
              <a:t>iframe</a:t>
            </a:r>
            <a:r>
              <a:rPr lang="en-US" sz="1200" b="1" dirty="0">
                <a:solidFill>
                  <a:srgbClr val="0F2742"/>
                </a:solidFill>
                <a:latin typeface="Calibri"/>
                <a:ea typeface="Calibri" pitchFamily="34" charset="-122"/>
                <a:cs typeface="Calibri"/>
              </a:rPr>
              <a:t xml:space="preserve"> traversal</a:t>
            </a:r>
            <a:r>
              <a:rPr lang="en-US" sz="12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 xml:space="preserve"> — healing across nested frame contexts.   </a:t>
            </a:r>
            <a:r>
              <a:rPr lang="en-US" sz="1200" b="1" dirty="0">
                <a:solidFill>
                  <a:srgbClr val="0F2742"/>
                </a:solidFill>
                <a:latin typeface="Calibri"/>
                <a:ea typeface="Calibri" pitchFamily="34" charset="-122"/>
                <a:cs typeface="Calibri"/>
              </a:rPr>
              <a:t>Shadow DOM</a:t>
            </a:r>
            <a:r>
              <a:rPr lang="en-US" sz="12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 xml:space="preserve"> — piercing shadow roots where standard locators fail.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605CC-F4A4-E939-07E1-47E66D26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2F4787C-988B-CD63-DBCB-8B8790E657FB}"/>
              </a:ext>
            </a:extLst>
          </p:cNvPr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875EE4-3CEC-97B7-7874-578D063429B7}"/>
              </a:ext>
            </a:extLst>
          </p:cNvPr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b="1" dirty="0">
              <a:solidFill>
                <a:srgbClr val="0F2742"/>
              </a:solidFill>
              <a:latin typeface="Calibri"/>
              <a:ea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6D273D0-04A2-65DE-AEFF-E8EAFAA2FDE2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Calibri"/>
              <a:cs typeface="Calibri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14A0F82C-4E09-45E4-0402-81B6861D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pic>
        <p:nvPicPr>
          <p:cNvPr id="6" name="Picture 5" descr="Architecture diagram of self Healing ">
            <a:extLst>
              <a:ext uri="{FF2B5EF4-FFF2-40B4-BE49-F238E27FC236}">
                <a16:creationId xmlns:a16="http://schemas.microsoft.com/office/drawing/2014/main" id="{A4A00CEC-06C1-F04F-4925-C8042D1A4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9"/>
          <a:stretch>
            <a:fillRect/>
          </a:stretch>
        </p:blipFill>
        <p:spPr>
          <a:xfrm>
            <a:off x="2278857" y="172581"/>
            <a:ext cx="7313624" cy="648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7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/>
          <p:nvPr/>
        </p:nvSpPr>
        <p:spPr>
          <a:xfrm>
            <a:off x="457200" y="760000"/>
            <a:ext cx="9600000" cy="7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/>
                <a:cs typeface="Calibri"/>
              </a:rPr>
              <a:t>Maintenance &amp; Shadowing — Progress Update</a:t>
            </a: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/>
          <p:cNvSpPr/>
          <p:nvPr/>
        </p:nvSpPr>
        <p:spPr>
          <a:xfrm>
            <a:off x="457200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Left Header"/>
          <p:cNvSpPr/>
          <p:nvPr/>
        </p:nvSpPr>
        <p:spPr>
          <a:xfrm>
            <a:off x="562419" y="2308625"/>
            <a:ext cx="49664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16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Visual Automation Framework</a:t>
            </a:r>
            <a:endParaRPr lang="en-US" sz="1600" kern="0" spc="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Left Body"/>
          <p:cNvSpPr/>
          <p:nvPr/>
        </p:nvSpPr>
        <p:spPr>
          <a:xfrm>
            <a:off x="871981" y="2837219"/>
            <a:ext cx="4811619" cy="3303719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Calibri"/>
              <a:buChar char="•"/>
            </a:pPr>
            <a:r>
              <a:rPr lang="en-US" sz="1650" dirty="0">
                <a:latin typeface="Calibri"/>
                <a:ea typeface="Calibri"/>
                <a:cs typeface="Calibri"/>
              </a:rPr>
              <a:t xml:space="preserve">Visor combines OpenCV image matching, </a:t>
            </a:r>
            <a:r>
              <a:rPr lang="en-US" sz="1650">
                <a:latin typeface="Calibri"/>
                <a:ea typeface="Calibri"/>
                <a:cs typeface="Calibri"/>
              </a:rPr>
              <a:t>OCR text</a:t>
            </a:r>
            <a:r>
              <a:rPr lang="en-US" sz="1650" dirty="0">
                <a:latin typeface="Calibri"/>
                <a:ea typeface="Calibri"/>
                <a:cs typeface="Calibri"/>
              </a:rPr>
              <a:t xml:space="preserve"> </a:t>
            </a:r>
            <a:r>
              <a:rPr lang="en-US" sz="1650">
                <a:latin typeface="Calibri"/>
                <a:ea typeface="Calibri"/>
                <a:cs typeface="Calibri"/>
              </a:rPr>
              <a:t>recognition, mouse and keyboard automation</a:t>
            </a:r>
            <a:r>
              <a:rPr lang="en-US" sz="1650" dirty="0">
                <a:latin typeface="Calibri"/>
                <a:ea typeface="Calibri"/>
                <a:cs typeface="Calibri"/>
              </a:rPr>
              <a:t>, and desktop application control into one Node.js package. </a:t>
            </a:r>
            <a:endParaRPr lang="en-US" sz="16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•"/>
            </a:pPr>
            <a:endParaRPr lang="en-US" sz="1650" dirty="0">
              <a:latin typeface="Calibri"/>
              <a:ea typeface="Calibri"/>
              <a:cs typeface="Calibri"/>
            </a:endParaRPr>
          </a:p>
          <a:p>
            <a:endParaRPr lang="en-US" sz="165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•"/>
            </a:pPr>
            <a:r>
              <a:rPr lang="en-US" sz="1650" dirty="0">
                <a:latin typeface="Calibri"/>
                <a:ea typeface="Calibri"/>
                <a:cs typeface="Calibri"/>
              </a:rPr>
              <a:t xml:space="preserve">It enables visual interactions with </a:t>
            </a:r>
            <a:r>
              <a:rPr lang="en-US" sz="1650">
                <a:latin typeface="Calibri"/>
                <a:ea typeface="Calibri"/>
                <a:cs typeface="Calibri"/>
              </a:rPr>
              <a:t>Windows applications</a:t>
            </a:r>
            <a:r>
              <a:rPr lang="en-US" sz="1650" dirty="0">
                <a:latin typeface="Calibri"/>
                <a:ea typeface="Calibri"/>
                <a:cs typeface="Calibri"/>
              </a:rPr>
              <a:t xml:space="preserve"> without requiring DOM </a:t>
            </a:r>
            <a:r>
              <a:rPr lang="en-US" sz="1650">
                <a:latin typeface="Calibri"/>
                <a:ea typeface="Calibri"/>
                <a:cs typeface="Calibri"/>
              </a:rPr>
              <a:t>or browser</a:t>
            </a:r>
            <a:r>
              <a:rPr lang="en-US" sz="1650" dirty="0">
                <a:latin typeface="Calibri"/>
                <a:ea typeface="Calibri"/>
                <a:cs typeface="Calibri"/>
              </a:rPr>
              <a:t xml:space="preserve"> access.</a:t>
            </a:r>
          </a:p>
          <a:p>
            <a:pPr marL="285750" indent="-285750">
              <a:buFont typeface="Calibri"/>
              <a:buChar char="•"/>
            </a:pPr>
            <a:endParaRPr lang="en-US" sz="16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endParaRPr lang="en-US" sz="165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/>
          <p:cNvSpPr/>
          <p:nvPr/>
        </p:nvSpPr>
        <p:spPr>
          <a:xfrm>
            <a:off x="6245352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ight Header"/>
          <p:cNvSpPr/>
          <p:nvPr/>
        </p:nvSpPr>
        <p:spPr>
          <a:xfrm>
            <a:off x="6302946" y="2308625"/>
            <a:ext cx="49664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16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Key Features</a:t>
            </a:r>
            <a:endParaRPr lang="en-US" sz="1600" kern="0" spc="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Right Body"/>
          <p:cNvSpPr/>
          <p:nvPr/>
        </p:nvSpPr>
        <p:spPr>
          <a:xfrm>
            <a:off x="6493446" y="2837219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Calibri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 xml:space="preserve">Multi‑scale image matching </a:t>
            </a:r>
            <a:endParaRPr lang="en-US" sz="16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>Full‑screen and region‑based OCR</a:t>
            </a:r>
            <a:endParaRPr lang="en-US" sz="16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>Automated mouse, and keyboard input  </a:t>
            </a:r>
            <a:endParaRPr lang="en-US" sz="16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>Barcode scanning.</a:t>
            </a:r>
          </a:p>
          <a:p>
            <a:pPr marL="285750" indent="-285750">
              <a:buFont typeface="Calibri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 xml:space="preserve">Built‑in display scaling detection. </a:t>
            </a:r>
            <a:endParaRPr lang="en-US" sz="16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endParaRPr lang="en-US" sz="165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7347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D507A-2D77-3ADB-F0F5-99859CE4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6578FCA2-4341-8926-B055-50ED9AB75E96}"/>
              </a:ext>
            </a:extLst>
          </p:cNvPr>
          <p:cNvSpPr/>
          <p:nvPr/>
        </p:nvSpPr>
        <p:spPr>
          <a:xfrm>
            <a:off x="457200" y="760000"/>
            <a:ext cx="9600000" cy="7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/>
                <a:cs typeface="Calibri"/>
              </a:rPr>
              <a:t>Maintenance &amp; Shadowing — Progress Update</a:t>
            </a: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9A797ED6-A9FD-37C4-420C-74DAB6DA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>
            <a:extLst>
              <a:ext uri="{FF2B5EF4-FFF2-40B4-BE49-F238E27FC236}">
                <a16:creationId xmlns:a16="http://schemas.microsoft.com/office/drawing/2014/main" id="{FE676726-77A2-381B-F0C3-FE529C544A07}"/>
              </a:ext>
            </a:extLst>
          </p:cNvPr>
          <p:cNvSpPr/>
          <p:nvPr/>
        </p:nvSpPr>
        <p:spPr>
          <a:xfrm>
            <a:off x="309350" y="1466657"/>
            <a:ext cx="5634250" cy="49533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1" name="Left Header">
            <a:extLst>
              <a:ext uri="{FF2B5EF4-FFF2-40B4-BE49-F238E27FC236}">
                <a16:creationId xmlns:a16="http://schemas.microsoft.com/office/drawing/2014/main" id="{681F642D-4276-B9AB-EE80-80858C6ECCC9}"/>
              </a:ext>
            </a:extLst>
          </p:cNvPr>
          <p:cNvSpPr/>
          <p:nvPr/>
        </p:nvSpPr>
        <p:spPr>
          <a:xfrm>
            <a:off x="717200" y="1880000"/>
            <a:ext cx="49664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1200" b="1" kern="0" spc="200" dirty="0">
                <a:solidFill>
                  <a:srgbClr val="0F766E"/>
                </a:solidFill>
                <a:latin typeface="Calibri"/>
                <a:cs typeface="Calibri"/>
              </a:rPr>
              <a:t>MAINTENANCE &amp; SHADOWING ACTIVITIES</a:t>
            </a:r>
          </a:p>
        </p:txBody>
      </p:sp>
      <p:sp>
        <p:nvSpPr>
          <p:cNvPr id="22" name="Left Body">
            <a:extLst>
              <a:ext uri="{FF2B5EF4-FFF2-40B4-BE49-F238E27FC236}">
                <a16:creationId xmlns:a16="http://schemas.microsoft.com/office/drawing/2014/main" id="{5925914A-EC23-859D-2043-74D41D7F9EA3}"/>
              </a:ext>
            </a:extLst>
          </p:cNvPr>
          <p:cNvSpPr/>
          <p:nvPr/>
        </p:nvSpPr>
        <p:spPr>
          <a:xfrm>
            <a:off x="717200" y="2230000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Received KT from the Everest team on test suites across all brands — suite ownership, execution strategy, and Jenkins auto-scheduled jobs.</a:t>
            </a:r>
            <a:endParaRPr lang="en-US">
              <a:latin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Understood daily execution processes, regression cycles, and automation maintenance workflows.</a:t>
            </a:r>
            <a:endParaRPr lang="en-US">
              <a:latin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Analyzing daily Sanity Suite failures and performing RCA across automation, environment, and application issues.</a:t>
            </a:r>
            <a:endParaRPr lang="en-US">
              <a:latin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Investigating and resolving Regression Suite failures to improve stability and execution reliability.</a:t>
            </a:r>
            <a:endParaRPr lang="en-US">
              <a:latin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Raised PRs for automation fixes covering both Desktop and Mobile test scenarios.</a:t>
            </a:r>
            <a:endParaRPr lang="en-US">
              <a:latin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Collaborated with the team on framework components, execution dependencies, and reporting mechanisms.</a:t>
            </a:r>
            <a:endParaRPr lang="en-US">
              <a:latin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Improved suite health by addressing script issues and validating fixes through re-execution.</a:t>
            </a:r>
            <a:endParaRPr lang="en-US">
              <a:latin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Began reporting application bugs to the functional team to raise defects in JIRA.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30" name="Right Card">
            <a:extLst>
              <a:ext uri="{FF2B5EF4-FFF2-40B4-BE49-F238E27FC236}">
                <a16:creationId xmlns:a16="http://schemas.microsoft.com/office/drawing/2014/main" id="{0EEA0E7E-D05B-AB7F-C4E2-77824BCCBA12}"/>
              </a:ext>
            </a:extLst>
          </p:cNvPr>
          <p:cNvSpPr/>
          <p:nvPr/>
        </p:nvSpPr>
        <p:spPr>
          <a:xfrm>
            <a:off x="6245352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ight Header">
            <a:extLst>
              <a:ext uri="{FF2B5EF4-FFF2-40B4-BE49-F238E27FC236}">
                <a16:creationId xmlns:a16="http://schemas.microsoft.com/office/drawing/2014/main" id="{C5A9660D-A3ED-6B4E-3AD7-F605FC9873D3}"/>
              </a:ext>
            </a:extLst>
          </p:cNvPr>
          <p:cNvSpPr/>
          <p:nvPr/>
        </p:nvSpPr>
        <p:spPr>
          <a:xfrm>
            <a:off x="6505352" y="1880000"/>
            <a:ext cx="49664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1200" b="1" kern="0" spc="200" dirty="0">
                <a:solidFill>
                  <a:srgbClr val="B45309"/>
                </a:solidFill>
                <a:latin typeface="Calibri"/>
                <a:cs typeface="Calibri"/>
              </a:rPr>
              <a:t>REGRESSION SUITE — SPRINT 26.16 / 26.17</a:t>
            </a:r>
            <a:endParaRPr lang="en-US"/>
          </a:p>
        </p:txBody>
      </p:sp>
      <p:sp>
        <p:nvSpPr>
          <p:cNvPr id="32" name="Right Body">
            <a:extLst>
              <a:ext uri="{FF2B5EF4-FFF2-40B4-BE49-F238E27FC236}">
                <a16:creationId xmlns:a16="http://schemas.microsoft.com/office/drawing/2014/main" id="{6B41F37E-34CE-D59B-62DA-F40671229F99}"/>
              </a:ext>
            </a:extLst>
          </p:cNvPr>
          <p:cNvSpPr/>
          <p:nvPr/>
        </p:nvSpPr>
        <p:spPr>
          <a:xfrm>
            <a:off x="6505352" y="2230000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Automation scripting completed in Sprint 26.16 for AT and Loft — both Desktop and Mobile Web.</a:t>
            </a:r>
            <a:endParaRPr lang="en-US">
              <a:latin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 xml:space="preserve">Jenkins job triggered, achieving an </a:t>
            </a:r>
            <a:r>
              <a:rPr lang="en-US" sz="1200" b="1" dirty="0">
                <a:solidFill>
                  <a:srgbClr val="0F766E"/>
                </a:solidFill>
                <a:latin typeface="Calibri"/>
                <a:cs typeface="Calibri"/>
              </a:rPr>
              <a:t>84–85% pass rate</a:t>
            </a: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.</a:t>
            </a:r>
            <a:endParaRPr lang="en-US">
              <a:latin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 xml:space="preserve">Report shared with the Everest Automation team for approval on </a:t>
            </a:r>
            <a:r>
              <a:rPr lang="en-US" sz="1200" b="1" dirty="0">
                <a:solidFill>
                  <a:srgbClr val="0F2742"/>
                </a:solidFill>
                <a:latin typeface="Calibri"/>
                <a:cs typeface="Calibri"/>
              </a:rPr>
              <a:t>PR #1652</a:t>
            </a: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.</a:t>
            </a:r>
            <a:endParaRPr lang="en-US">
              <a:latin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Failures observed with Hover functionality in existing and new test steps — under investigation for earliest resolution.</a:t>
            </a:r>
            <a:endParaRPr lang="en-US">
              <a:latin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Received TC update for Sprint 26.17 following Everest Functional team review and approval.</a:t>
            </a:r>
            <a:endParaRPr lang="en-US">
              <a:latin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Started analysis on Sprint 26.17 TCs to plan automation scripting.</a:t>
            </a:r>
            <a:endParaRPr lang="en-US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78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DA568A22-5685-43B6-95D6-4DED64041462}"/>
              </a:ext>
            </a:extLst>
          </p:cNvPr>
          <p:cNvSpPr txBox="1"/>
          <p:nvPr/>
        </p:nvSpPr>
        <p:spPr>
          <a:xfrm>
            <a:off x="9123994" y="1132919"/>
            <a:ext cx="231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en-US" sz="1600" b="1">
                <a:solidFill>
                  <a:srgbClr val="F2F2F5">
                    <a:lumMod val="25000"/>
                  </a:srgbClr>
                </a:solidFill>
                <a:latin typeface="Calibri"/>
                <a:cs typeface="Calibri" panose="020B0604020202020204" pitchFamily="34" charset="0"/>
              </a:rPr>
              <a:t xml:space="preserve"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9AEBC-73CA-7AC5-6EF6-6AF8F86F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75" y="1045917"/>
            <a:ext cx="11042248" cy="5689337"/>
          </a:xfrm>
          <a:prstGeom prst="rect">
            <a:avLst/>
          </a:prstGeom>
        </p:spPr>
      </p:pic>
      <p:sp>
        <p:nvSpPr>
          <p:cNvPr id="7" name="Snip Diagonal Corner Rectangle 15">
            <a:extLst>
              <a:ext uri="{FF2B5EF4-FFF2-40B4-BE49-F238E27FC236}">
                <a16:creationId xmlns:a16="http://schemas.microsoft.com/office/drawing/2014/main" id="{5B65FC3C-9B59-FAFF-6330-BAFA30E7BB14}"/>
              </a:ext>
            </a:extLst>
          </p:cNvPr>
          <p:cNvSpPr/>
          <p:nvPr/>
        </p:nvSpPr>
        <p:spPr>
          <a:xfrm>
            <a:off x="755245" y="496373"/>
            <a:ext cx="3468412" cy="509261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7030A0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/>
              <a:cs typeface="Calibri"/>
            </a:endParaRPr>
          </a:p>
        </p:txBody>
      </p:sp>
      <p:sp>
        <p:nvSpPr>
          <p:cNvPr id="8" name="Snip Diagonal Corner Rectangle 15">
            <a:extLst>
              <a:ext uri="{FF2B5EF4-FFF2-40B4-BE49-F238E27FC236}">
                <a16:creationId xmlns:a16="http://schemas.microsoft.com/office/drawing/2014/main" id="{B32E4883-13E1-C80E-8C50-35087D7D3CC5}"/>
              </a:ext>
            </a:extLst>
          </p:cNvPr>
          <p:cNvSpPr/>
          <p:nvPr/>
        </p:nvSpPr>
        <p:spPr>
          <a:xfrm>
            <a:off x="853216" y="365745"/>
            <a:ext cx="3468412" cy="509261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Calibri"/>
              </a:rPr>
              <a:t>Architectural Diagram</a:t>
            </a:r>
          </a:p>
        </p:txBody>
      </p:sp>
    </p:spTree>
    <p:extLst>
      <p:ext uri="{BB962C8B-B14F-4D97-AF65-F5344CB8AC3E}">
        <p14:creationId xmlns:p14="http://schemas.microsoft.com/office/powerpoint/2010/main" val="1443604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E174-C077-4DC5-F9F0-E2221529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2ECF-31D5-9837-E674-31CCE19D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49" y="331219"/>
            <a:ext cx="11363472" cy="994119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13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Auto POM – Intelligent Locator Generation &amp; AI Fallback Strategy</a:t>
            </a:r>
            <a:endParaRPr lang="en-US" sz="2133"/>
          </a:p>
          <a:p>
            <a:pPr algn="l"/>
            <a:endParaRPr lang="en-US" sz="3733">
              <a:latin typeface="Calibri"/>
              <a:ea typeface="Calibri"/>
              <a:cs typeface="Calibri"/>
            </a:endParaRPr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9FB03789-EA4C-468D-22EA-63FCE0B6DA34}"/>
              </a:ext>
            </a:extLst>
          </p:cNvPr>
          <p:cNvSpPr/>
          <p:nvPr/>
        </p:nvSpPr>
        <p:spPr>
          <a:xfrm>
            <a:off x="860949" y="1065383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238E79B3-C5C0-45FA-8C9F-81A8E5EAB703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15A4EF62-EA28-9A1F-1A6D-2FF80A850457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0FD05718-9435-7D86-E35F-54E4BDF2ACCA}"/>
              </a:ext>
            </a:extLst>
          </p:cNvPr>
          <p:cNvSpPr/>
          <p:nvPr/>
        </p:nvSpPr>
        <p:spPr>
          <a:xfrm>
            <a:off x="1251093" y="1110401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B717982E-58EA-F547-CB5B-F42DF456D34F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258954FF-F99D-E04C-1CDC-BC534E49D84E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Objective</a:t>
            </a:r>
            <a:endParaRPr lang="en-US" sz="3200" b="1"/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018173B2-4F31-F1DF-9A15-C8391A6ED3DA}"/>
              </a:ext>
            </a:extLst>
          </p:cNvPr>
          <p:cNvSpPr/>
          <p:nvPr/>
        </p:nvSpPr>
        <p:spPr>
          <a:xfrm>
            <a:off x="1515540" y="1553555"/>
            <a:ext cx="93278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ea typeface="+mn-lt"/>
                <a:cs typeface="+mn-lt"/>
              </a:rPr>
              <a:t>Automatically generate robust and maintainable Page Object Model (POM) locators and automation-ready code using a multi-level fallback strategy with AI assistance.</a:t>
            </a:r>
            <a:endParaRPr lang="en-US" sz="3200" dirty="0">
              <a:ea typeface="Calibri"/>
              <a:cs typeface="Calibri"/>
            </a:endParaRP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4377D589-44B7-9693-1DE7-76CCA6E452FD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5861DF38-F9AE-BF0C-381C-09FC60631E32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89545F9F-C904-69CC-00D4-217D515054E8}"/>
              </a:ext>
            </a:extLst>
          </p:cNvPr>
          <p:cNvSpPr/>
          <p:nvPr/>
        </p:nvSpPr>
        <p:spPr>
          <a:xfrm>
            <a:off x="1251093" y="2427137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44978283-304E-C465-2C10-6DA16BE33E28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63CE58A4-4C6D-2F5F-EFE0-A5EF9D378A36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Locator Generation Priority</a:t>
            </a:r>
            <a:endParaRPr lang="en-US" sz="3200" b="1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0DD2FCB7-F5C1-F7F4-3F0A-3CFFEF1BD14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Uses a multi-level fallback approach to generate the most reliable locator by prioritizing ID, Name, Data Attributes, Accessibility Attributes, CSS Selectors, and XPath before invoking AI.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0DD7EFC1-C29D-CB1A-FCD9-3F9150E83FFF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4FE1FDF2-F306-FA2D-FBC3-F2E06FA5F921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6D6A3A69-BC0C-9451-303F-864A62730510}"/>
              </a:ext>
            </a:extLst>
          </p:cNvPr>
          <p:cNvSpPr/>
          <p:nvPr/>
        </p:nvSpPr>
        <p:spPr>
          <a:xfrm>
            <a:off x="1284223" y="3743874"/>
            <a:ext cx="10097053" cy="1119367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E3645972-ABE4-8FC6-CDC8-C5B33BF29BD6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018ACF1D-4068-BE25-2210-84C65EC07343}"/>
              </a:ext>
            </a:extLst>
          </p:cNvPr>
          <p:cNvSpPr/>
          <p:nvPr/>
        </p:nvSpPr>
        <p:spPr>
          <a:xfrm>
            <a:off x="1483360" y="3861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AI Fallback Logic</a:t>
            </a:r>
            <a:endParaRPr lang="en-US" sz="3200" b="1"/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073F83F6-0847-7239-9CF5-B9A694E7F00E}"/>
              </a:ext>
            </a:extLst>
          </p:cNvPr>
          <p:cNvSpPr/>
          <p:nvPr/>
        </p:nvSpPr>
        <p:spPr>
          <a:xfrm>
            <a:off x="1472318" y="4102036"/>
            <a:ext cx="9590324" cy="66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When conventional locator strategies fail or return low-confidence results, AI analyzes the DOM structure, element attributes, and surrounding context to generate stable and maintainable locator recommendations.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92234183-1418-918F-D735-3DE6C558454F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F821AFE3-4B90-7B5A-CF3A-08B896D23B1E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B6B2EDCB-8E12-D6F7-6422-F35ACEF3EF04}"/>
              </a:ext>
            </a:extLst>
          </p:cNvPr>
          <p:cNvSpPr/>
          <p:nvPr/>
        </p:nvSpPr>
        <p:spPr>
          <a:xfrm>
            <a:off x="1251093" y="5060609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C9CDFDF6-9629-2E49-8FC1-49B02A034737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474F48AE-9707-AF00-AC46-73E67E5AC3E8}"/>
              </a:ext>
            </a:extLst>
          </p:cNvPr>
          <p:cNvSpPr/>
          <p:nvPr/>
        </p:nvSpPr>
        <p:spPr>
          <a:xfrm>
            <a:off x="1472316" y="5177935"/>
            <a:ext cx="5329141" cy="315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Key Benefits</a:t>
            </a:r>
            <a:endParaRPr lang="en-US" sz="3200" b="1"/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E98938B9-F25C-0369-4C5F-FCEECC40EDF2}"/>
              </a:ext>
            </a:extLst>
          </p:cNvPr>
          <p:cNvSpPr/>
          <p:nvPr/>
        </p:nvSpPr>
        <p:spPr>
          <a:xfrm>
            <a:off x="1450228" y="5537942"/>
            <a:ext cx="9758504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Reduces</a:t>
            </a:r>
            <a:r>
              <a:rPr lang="en-US" sz="1600" dirty="0">
                <a:ea typeface="+mn-lt"/>
                <a:cs typeface="+mn-lt"/>
              </a:rPr>
              <a:t xml:space="preserve"> manual effort in locator creation, improves locator reliability, accelerates automation development, and generates automation-ready Page Object Model (POM) code with higher maintainability.</a:t>
            </a:r>
            <a:endParaRPr lang="en-US" sz="3200" dirty="0">
              <a:ea typeface="+mn-lt"/>
              <a:cs typeface="+mn-lt"/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6A14EBF-56A6-0AF8-CE55-428A926629A4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91935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65CF-361A-0552-347F-38E41148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49" y="268521"/>
            <a:ext cx="10334627" cy="456343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/>
                <a:ea typeface="Calibri"/>
                <a:cs typeface="Calibri"/>
              </a:rPr>
              <a:t>Architecture diagr</a:t>
            </a:r>
            <a:r>
              <a:rPr lang="en-US">
                <a:latin typeface="Calibri"/>
                <a:ea typeface="Calibri"/>
                <a:cs typeface="Calibri"/>
              </a:rPr>
              <a:t>am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1347B-E45D-8AE6-EDD4-1F6B0BF5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43" y="970471"/>
            <a:ext cx="11153915" cy="52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6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Auto POM – Intelligent Locator Generation &amp; AI Fallback Strategy </vt:lpstr>
      <vt:lpstr>Architecture diagram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Sivanesan</cp:lastModifiedBy>
  <cp:revision>145</cp:revision>
  <dcterms:created xsi:type="dcterms:W3CDTF">2026-06-17T07:36:54Z</dcterms:created>
  <dcterms:modified xsi:type="dcterms:W3CDTF">2026-06-17T10:31:47Z</dcterms:modified>
</cp:coreProperties>
</file>