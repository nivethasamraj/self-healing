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147481700" r:id="rId18"/>
    <p:sldId id="2147481687" r:id="rId2"/>
    <p:sldId id="2147481688" r:id="rId3"/>
    <p:sldId id="2147481685" r:id="rId4"/>
    <p:sldId id="2147481686" r:id="rId5"/>
    <p:sldId id="256" r:id="rId6"/>
    <p:sldId id="258" r:id="rId7"/>
    <p:sldId id="259" r:id="rId8"/>
    <p:sldId id="547" r:id="rId9"/>
    <p:sldId id="548" r:id="rId10"/>
    <p:sldId id="2147481689" r:id="rId11"/>
    <p:sldId id="214748170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98810-69C9-14B1-48A4-690314317EE1}" v="1246" dt="2026-06-17T12:40:26.849"/>
    <p1510:client id="{B15EBFFE-349D-8C10-95E0-E424CBE9D32E}" v="165" dt="2026-06-17T10:31:27.693"/>
    <p1510:client id="{B7263528-15EF-B1DA-ED32-01E89E2FDEFB}" v="4" dt="2026-06-17T10:16:06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1484" y="2488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628174" y="1362551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1405414" y="152714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Multiple Frameworks Across Applications</a:t>
            </a:r>
            <a:endParaRPr lang="en-US"/>
          </a:p>
        </p:txBody>
      </p:sp>
      <p:sp>
        <p:nvSpPr>
          <p:cNvPr id="40" name="Text 28"/>
          <p:cNvSpPr/>
          <p:nvPr/>
        </p:nvSpPr>
        <p:spPr>
          <a:xfrm>
            <a:off x="1405414" y="1795939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Different implementations and standards across projects (BDD, TestNG, etc.).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628174" y="2642711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1405414" y="280730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Obsolete and Redundant Components</a:t>
            </a: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44" name="Text 31"/>
          <p:cNvSpPr/>
          <p:nvPr/>
        </p:nvSpPr>
        <p:spPr>
          <a:xfrm>
            <a:off x="1405414" y="2992755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Some suites and utilities are no longer actively maintained, and deprecated test cases continue to exist in execution suites.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sp>
        <p:nvSpPr>
          <p:cNvPr id="6" name="Shape 26">
            <a:extLst>
              <a:ext uri="{FF2B5EF4-FFF2-40B4-BE49-F238E27FC236}">
                <a16:creationId xmlns:a16="http://schemas.microsoft.com/office/drawing/2014/main" id="{16D39BB3-7D13-32A3-4AF6-BD0BC9E53EA0}"/>
              </a:ext>
            </a:extLst>
          </p:cNvPr>
          <p:cNvSpPr/>
          <p:nvPr/>
        </p:nvSpPr>
        <p:spPr>
          <a:xfrm>
            <a:off x="616267" y="3993832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EF790842-76F3-E59F-3FDA-2E237B875D5F}"/>
              </a:ext>
            </a:extLst>
          </p:cNvPr>
          <p:cNvSpPr/>
          <p:nvPr/>
        </p:nvSpPr>
        <p:spPr>
          <a:xfrm>
            <a:off x="1286351" y="419414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/>
                <a:cs typeface="Arial"/>
              </a:rPr>
              <a:t>Fragmented Architecture</a:t>
            </a:r>
            <a:endParaRPr lang="en-US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E3A7470E-F3DD-9400-9202-5B9E8F5622E2}"/>
              </a:ext>
            </a:extLst>
          </p:cNvPr>
          <p:cNvSpPr/>
          <p:nvPr/>
        </p:nvSpPr>
        <p:spPr>
          <a:xfrm>
            <a:off x="1286351" y="446293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Business logic, element interactions, and utilities are distributed across multiple layers, increasing complexity.</a:t>
            </a:r>
            <a:br>
              <a:rPr lang="en-US" sz="1200" b="1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6" name="Shape 29">
            <a:extLst>
              <a:ext uri="{FF2B5EF4-FFF2-40B4-BE49-F238E27FC236}">
                <a16:creationId xmlns:a16="http://schemas.microsoft.com/office/drawing/2014/main" id="{D5505E07-3CBA-0701-6061-50FAD75E3FC5}"/>
              </a:ext>
            </a:extLst>
          </p:cNvPr>
          <p:cNvSpPr/>
          <p:nvPr/>
        </p:nvSpPr>
        <p:spPr>
          <a:xfrm>
            <a:off x="616267" y="5273992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42EF9CD4-18A3-CFA0-8297-62DD56FF8C4E}"/>
              </a:ext>
            </a:extLst>
          </p:cNvPr>
          <p:cNvSpPr/>
          <p:nvPr/>
        </p:nvSpPr>
        <p:spPr>
          <a:xfrm>
            <a:off x="1238726" y="560527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High Maintenance Effort</a:t>
            </a:r>
          </a:p>
          <a:p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48" name="Text 31">
            <a:extLst>
              <a:ext uri="{FF2B5EF4-FFF2-40B4-BE49-F238E27FC236}">
                <a16:creationId xmlns:a16="http://schemas.microsoft.com/office/drawing/2014/main" id="{0C7F19CA-E11A-8407-F1AD-8EE42E429E4C}"/>
              </a:ext>
            </a:extLst>
          </p:cNvPr>
          <p:cNvSpPr/>
          <p:nvPr/>
        </p:nvSpPr>
        <p:spPr>
          <a:xfrm>
            <a:off x="1226820" y="574309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Frequent locator updates increase maintenance overhead.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38DBD233-2792-7D6A-18E9-6EEEE224B9E1}"/>
              </a:ext>
            </a:extLst>
          </p:cNvPr>
          <p:cNvSpPr/>
          <p:nvPr/>
        </p:nvSpPr>
        <p:spPr>
          <a:xfrm>
            <a:off x="6164579" y="1338739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53276B61-B6EC-7CDB-40BE-8F0327F96E6E}"/>
              </a:ext>
            </a:extLst>
          </p:cNvPr>
          <p:cNvSpPr/>
          <p:nvPr/>
        </p:nvSpPr>
        <p:spPr>
          <a:xfrm>
            <a:off x="6941819" y="150333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Inconsistent Test Data Management</a:t>
            </a:r>
          </a:p>
          <a:p>
            <a:endParaRPr lang="en-US" sz="1200" b="1" kern="0" spc="200" dirty="0">
              <a:solidFill>
                <a:srgbClr val="0D9488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01726A88-2C74-4BA3-DA74-4F3444F438D6}"/>
              </a:ext>
            </a:extLst>
          </p:cNvPr>
          <p:cNvSpPr/>
          <p:nvPr/>
        </p:nvSpPr>
        <p:spPr>
          <a:xfrm>
            <a:off x="6941819" y="177212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Multiple test data sources and synchronization issues impact test reliability.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621AF893-8C16-BA1D-D367-A4D251BBAACD}"/>
              </a:ext>
            </a:extLst>
          </p:cNvPr>
          <p:cNvSpPr/>
          <p:nvPr/>
        </p:nvSpPr>
        <p:spPr>
          <a:xfrm>
            <a:off x="6164579" y="2618899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103F7147-8033-75CF-F335-ABA70541D6E2}"/>
              </a:ext>
            </a:extLst>
          </p:cNvPr>
          <p:cNvSpPr/>
          <p:nvPr/>
        </p:nvSpPr>
        <p:spPr>
          <a:xfrm>
            <a:off x="6941819" y="2890647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Limited Test Traceability</a:t>
            </a:r>
          </a:p>
          <a:p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CBD51EFD-A6F5-74E1-819E-E8D98085B59E}"/>
              </a:ext>
            </a:extLst>
          </p:cNvPr>
          <p:cNvSpPr/>
          <p:nvPr/>
        </p:nvSpPr>
        <p:spPr>
          <a:xfrm>
            <a:off x="6941819" y="307609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Test cases are not functionally grouped, making maintenance and impact analysis difficult.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A9FD0EAB-A4CA-7179-0B55-B9B486BDDFCF}"/>
              </a:ext>
            </a:extLst>
          </p:cNvPr>
          <p:cNvSpPr/>
          <p:nvPr/>
        </p:nvSpPr>
        <p:spPr>
          <a:xfrm>
            <a:off x="6176485" y="3922394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A1E829C6-07E6-4EA3-4577-DAFFD7E69BCF}"/>
              </a:ext>
            </a:extLst>
          </p:cNvPr>
          <p:cNvSpPr/>
          <p:nvPr/>
        </p:nvSpPr>
        <p:spPr>
          <a:xfrm>
            <a:off x="6953725" y="408698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Insufficient Validation and Visibility</a:t>
            </a:r>
          </a:p>
          <a:p>
            <a:endParaRPr lang="en-US" sz="1200" b="1" kern="0" spc="200" dirty="0">
              <a:solidFill>
                <a:srgbClr val="0D9488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DED05D2C-518C-0141-4892-823684C996BA}"/>
              </a:ext>
            </a:extLst>
          </p:cNvPr>
          <p:cNvSpPr/>
          <p:nvPr/>
        </p:nvSpPr>
        <p:spPr>
          <a:xfrm>
            <a:off x="6953725" y="435578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Limited step-level verification and debugging capabilities.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8" name="Shape 29">
            <a:extLst>
              <a:ext uri="{FF2B5EF4-FFF2-40B4-BE49-F238E27FC236}">
                <a16:creationId xmlns:a16="http://schemas.microsoft.com/office/drawing/2014/main" id="{4811431C-9BE1-F9CD-71FC-F1A76130DFEF}"/>
              </a:ext>
            </a:extLst>
          </p:cNvPr>
          <p:cNvSpPr/>
          <p:nvPr/>
        </p:nvSpPr>
        <p:spPr>
          <a:xfrm>
            <a:off x="6176485" y="5202554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4034E2FF-A043-8227-231F-EC350A82E9FB}"/>
              </a:ext>
            </a:extLst>
          </p:cNvPr>
          <p:cNvSpPr/>
          <p:nvPr/>
        </p:nvSpPr>
        <p:spPr>
          <a:xfrm>
            <a:off x="6953725" y="541477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Lack of AI Adoption</a:t>
            </a: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A58D183C-0961-9333-7EF6-9BF90AA37C38}"/>
              </a:ext>
            </a:extLst>
          </p:cNvPr>
          <p:cNvSpPr/>
          <p:nvPr/>
        </p:nvSpPr>
        <p:spPr>
          <a:xfrm>
            <a:off x="6941819" y="563594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No AI-assisted failure analysis, test insights, or intelligent reporting.</a:t>
            </a: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2" name="Shape 25">
            <a:extLst>
              <a:ext uri="{FF2B5EF4-FFF2-40B4-BE49-F238E27FC236}">
                <a16:creationId xmlns:a16="http://schemas.microsoft.com/office/drawing/2014/main" id="{0FCEA295-18AF-86B0-2524-64834159673A}"/>
              </a:ext>
            </a:extLst>
          </p:cNvPr>
          <p:cNvSpPr/>
          <p:nvPr/>
        </p:nvSpPr>
        <p:spPr>
          <a:xfrm>
            <a:off x="837137" y="755821"/>
            <a:ext cx="23813" cy="5604475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896" name="Shape 26">
            <a:extLst>
              <a:ext uri="{FF2B5EF4-FFF2-40B4-BE49-F238E27FC236}">
                <a16:creationId xmlns:a16="http://schemas.microsoft.com/office/drawing/2014/main" id="{D1FA572C-00E0-A175-77A9-C09322DFF626}"/>
              </a:ext>
            </a:extLst>
          </p:cNvPr>
          <p:cNvSpPr/>
          <p:nvPr/>
        </p:nvSpPr>
        <p:spPr>
          <a:xfrm>
            <a:off x="686591" y="1615735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898" name="Text 27">
            <a:extLst>
              <a:ext uri="{FF2B5EF4-FFF2-40B4-BE49-F238E27FC236}">
                <a16:creationId xmlns:a16="http://schemas.microsoft.com/office/drawing/2014/main" id="{7C30D1FE-C307-20B2-8C65-62703162022F}"/>
              </a:ext>
            </a:extLst>
          </p:cNvPr>
          <p:cNvSpPr/>
          <p:nvPr/>
        </p:nvSpPr>
        <p:spPr>
          <a:xfrm>
            <a:off x="677212" y="161573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1" name="Shape 35">
            <a:extLst>
              <a:ext uri="{FF2B5EF4-FFF2-40B4-BE49-F238E27FC236}">
                <a16:creationId xmlns:a16="http://schemas.microsoft.com/office/drawing/2014/main" id="{51F6DD7B-5492-B336-F59A-736EAE186842}"/>
              </a:ext>
            </a:extLst>
          </p:cNvPr>
          <p:cNvSpPr/>
          <p:nvPr/>
        </p:nvSpPr>
        <p:spPr>
          <a:xfrm>
            <a:off x="677212" y="2932471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03" name="Text 36">
            <a:extLst>
              <a:ext uri="{FF2B5EF4-FFF2-40B4-BE49-F238E27FC236}">
                <a16:creationId xmlns:a16="http://schemas.microsoft.com/office/drawing/2014/main" id="{AF873F65-5B36-3F0D-A0AD-B52924C7CB02}"/>
              </a:ext>
            </a:extLst>
          </p:cNvPr>
          <p:cNvSpPr/>
          <p:nvPr/>
        </p:nvSpPr>
        <p:spPr>
          <a:xfrm>
            <a:off x="677212" y="292309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5" name="Shape 44">
            <a:extLst>
              <a:ext uri="{FF2B5EF4-FFF2-40B4-BE49-F238E27FC236}">
                <a16:creationId xmlns:a16="http://schemas.microsoft.com/office/drawing/2014/main" id="{5C495621-4286-18BE-A7EA-D4872C57244E}"/>
              </a:ext>
            </a:extLst>
          </p:cNvPr>
          <p:cNvSpPr/>
          <p:nvPr/>
        </p:nvSpPr>
        <p:spPr>
          <a:xfrm>
            <a:off x="677212" y="4202314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07" name="Text 45">
            <a:extLst>
              <a:ext uri="{FF2B5EF4-FFF2-40B4-BE49-F238E27FC236}">
                <a16:creationId xmlns:a16="http://schemas.microsoft.com/office/drawing/2014/main" id="{F6D29A87-10A0-EB30-DB83-27E5234E8F87}"/>
              </a:ext>
            </a:extLst>
          </p:cNvPr>
          <p:cNvSpPr/>
          <p:nvPr/>
        </p:nvSpPr>
        <p:spPr>
          <a:xfrm>
            <a:off x="677212" y="419293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9" name="Shape 53">
            <a:extLst>
              <a:ext uri="{FF2B5EF4-FFF2-40B4-BE49-F238E27FC236}">
                <a16:creationId xmlns:a16="http://schemas.microsoft.com/office/drawing/2014/main" id="{114121C0-A4F9-EA23-28E2-BD0FB7267B44}"/>
              </a:ext>
            </a:extLst>
          </p:cNvPr>
          <p:cNvSpPr/>
          <p:nvPr/>
        </p:nvSpPr>
        <p:spPr>
          <a:xfrm>
            <a:off x="677212" y="5519050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1" name="Text 54">
            <a:extLst>
              <a:ext uri="{FF2B5EF4-FFF2-40B4-BE49-F238E27FC236}">
                <a16:creationId xmlns:a16="http://schemas.microsoft.com/office/drawing/2014/main" id="{C3614584-9CC3-928A-1D38-86126C82CAC2}"/>
              </a:ext>
            </a:extLst>
          </p:cNvPr>
          <p:cNvSpPr/>
          <p:nvPr/>
        </p:nvSpPr>
        <p:spPr>
          <a:xfrm>
            <a:off x="677212" y="550967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13" name="Shape 25">
            <a:extLst>
              <a:ext uri="{FF2B5EF4-FFF2-40B4-BE49-F238E27FC236}">
                <a16:creationId xmlns:a16="http://schemas.microsoft.com/office/drawing/2014/main" id="{BC875EAA-4D2F-8AD1-5D21-A498E2078B7C}"/>
              </a:ext>
            </a:extLst>
          </p:cNvPr>
          <p:cNvSpPr/>
          <p:nvPr/>
        </p:nvSpPr>
        <p:spPr>
          <a:xfrm>
            <a:off x="6468793" y="1291602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5" name="Shape 26">
            <a:extLst>
              <a:ext uri="{FF2B5EF4-FFF2-40B4-BE49-F238E27FC236}">
                <a16:creationId xmlns:a16="http://schemas.microsoft.com/office/drawing/2014/main" id="{BA84F695-B112-40CE-1051-B3287081F16C}"/>
              </a:ext>
            </a:extLst>
          </p:cNvPr>
          <p:cNvSpPr/>
          <p:nvPr/>
        </p:nvSpPr>
        <p:spPr>
          <a:xfrm>
            <a:off x="6258716" y="1639548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7" name="Text 27">
            <a:extLst>
              <a:ext uri="{FF2B5EF4-FFF2-40B4-BE49-F238E27FC236}">
                <a16:creationId xmlns:a16="http://schemas.microsoft.com/office/drawing/2014/main" id="{B8290147-23C2-9DFA-B722-ECC7B97C9362}"/>
              </a:ext>
            </a:extLst>
          </p:cNvPr>
          <p:cNvSpPr/>
          <p:nvPr/>
        </p:nvSpPr>
        <p:spPr>
          <a:xfrm>
            <a:off x="6249337" y="16395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19" name="Shape 35">
            <a:extLst>
              <a:ext uri="{FF2B5EF4-FFF2-40B4-BE49-F238E27FC236}">
                <a16:creationId xmlns:a16="http://schemas.microsoft.com/office/drawing/2014/main" id="{3EAE6EFC-17BC-815D-4F9E-A59011B4ECE4}"/>
              </a:ext>
            </a:extLst>
          </p:cNvPr>
          <p:cNvSpPr/>
          <p:nvPr/>
        </p:nvSpPr>
        <p:spPr>
          <a:xfrm>
            <a:off x="6249337" y="2956284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1" name="Text 36">
            <a:extLst>
              <a:ext uri="{FF2B5EF4-FFF2-40B4-BE49-F238E27FC236}">
                <a16:creationId xmlns:a16="http://schemas.microsoft.com/office/drawing/2014/main" id="{89B5811B-B485-A178-E529-542637157D45}"/>
              </a:ext>
            </a:extLst>
          </p:cNvPr>
          <p:cNvSpPr/>
          <p:nvPr/>
        </p:nvSpPr>
        <p:spPr>
          <a:xfrm>
            <a:off x="6249337" y="294690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23" name="Shape 44">
            <a:extLst>
              <a:ext uri="{FF2B5EF4-FFF2-40B4-BE49-F238E27FC236}">
                <a16:creationId xmlns:a16="http://schemas.microsoft.com/office/drawing/2014/main" id="{C027956A-34C5-6588-D95B-E2B4B989C88A}"/>
              </a:ext>
            </a:extLst>
          </p:cNvPr>
          <p:cNvSpPr/>
          <p:nvPr/>
        </p:nvSpPr>
        <p:spPr>
          <a:xfrm>
            <a:off x="6249337" y="4226127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5" name="Text 45">
            <a:extLst>
              <a:ext uri="{FF2B5EF4-FFF2-40B4-BE49-F238E27FC236}">
                <a16:creationId xmlns:a16="http://schemas.microsoft.com/office/drawing/2014/main" id="{F7884D3A-6986-B398-EF1F-DCB34D5BB806}"/>
              </a:ext>
            </a:extLst>
          </p:cNvPr>
          <p:cNvSpPr/>
          <p:nvPr/>
        </p:nvSpPr>
        <p:spPr>
          <a:xfrm>
            <a:off x="6249337" y="42167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27" name="Shape 53">
            <a:extLst>
              <a:ext uri="{FF2B5EF4-FFF2-40B4-BE49-F238E27FC236}">
                <a16:creationId xmlns:a16="http://schemas.microsoft.com/office/drawing/2014/main" id="{EAFD8B8F-75CF-5D46-16E8-E9411EA45049}"/>
              </a:ext>
            </a:extLst>
          </p:cNvPr>
          <p:cNvSpPr/>
          <p:nvPr/>
        </p:nvSpPr>
        <p:spPr>
          <a:xfrm>
            <a:off x="6249337" y="5542863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9" name="Text 54">
            <a:extLst>
              <a:ext uri="{FF2B5EF4-FFF2-40B4-BE49-F238E27FC236}">
                <a16:creationId xmlns:a16="http://schemas.microsoft.com/office/drawing/2014/main" id="{B3E15399-19A0-1132-40F6-658C7D1291C5}"/>
              </a:ext>
            </a:extLst>
          </p:cNvPr>
          <p:cNvSpPr/>
          <p:nvPr/>
        </p:nvSpPr>
        <p:spPr>
          <a:xfrm>
            <a:off x="6249337" y="5533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7EA7E8-6850-020F-9CFF-52FFD7BC08EB}"/>
              </a:ext>
            </a:extLst>
          </p:cNvPr>
          <p:cNvSpPr txBox="1">
            <a:spLocks/>
          </p:cNvSpPr>
          <p:nvPr/>
        </p:nvSpPr>
        <p:spPr>
          <a:xfrm>
            <a:off x="-276889" y="509813"/>
            <a:ext cx="11363472" cy="126188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  CHALLENGES IN THE CURRENT FRAMEWORK LANDSCAPE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  <a:p>
            <a:pPr algn="ctr"/>
            <a:endParaRPr lang="en-US" sz="1800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1506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795FE-BC9E-BB58-86CC-B3BDA8BB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74" y="93094"/>
            <a:ext cx="11363472" cy="936154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ea typeface="Calibri"/>
                <a:cs typeface="Calibri"/>
              </a:rPr>
              <a:t>  Why aspire unified framework (AFTA)</a:t>
            </a:r>
          </a:p>
          <a:p>
            <a:pPr algn="ctr"/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859F4701-5CFF-BD1C-0E71-7B0D4444DA38}"/>
              </a:ext>
            </a:extLst>
          </p:cNvPr>
          <p:cNvSpPr/>
          <p:nvPr/>
        </p:nvSpPr>
        <p:spPr>
          <a:xfrm>
            <a:off x="860949" y="1065383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63188" y="856401"/>
            <a:ext cx="10108096" cy="1351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ea typeface="Calibri"/>
                <a:cs typeface="Calibri"/>
              </a:rPr>
              <a:t>  AI-Powered Automation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0B1F3A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AI Self-Healing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 xml:space="preserve"> for automatic recovery from locator changes.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 xml:space="preserve">AI </a:t>
            </a:r>
            <a:r>
              <a:rPr lang="en-US" sz="1600" b="1" dirty="0" err="1">
                <a:solidFill>
                  <a:srgbClr val="334155"/>
                </a:solidFill>
                <a:ea typeface="+mn-lt"/>
                <a:cs typeface="+mn-lt"/>
              </a:rPr>
              <a:t>AutoPOM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 to generate and maintain page objects automatically.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Report Portal</a:t>
            </a:r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 xml:space="preserve">-Powered </a:t>
            </a:r>
            <a:r>
              <a:rPr lang="en-US" sz="1600" b="1" dirty="0">
                <a:ea typeface="+mn-lt"/>
                <a:cs typeface="+mn-lt"/>
              </a:rPr>
              <a:t>Analytics</a:t>
            </a:r>
            <a:r>
              <a:rPr lang="en-US" sz="1600" dirty="0">
                <a:ea typeface="+mn-lt"/>
                <a:cs typeface="+mn-lt"/>
              </a:rPr>
              <a:t xml:space="preserve"> for AI-driven failure analysis, execution insights, and trend identification.</a:t>
            </a:r>
            <a:endParaRPr lang="en-US" dirty="0"/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One Framework Across Brands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Standardized automation framework across all brands, including </a:t>
            </a:r>
            <a:r>
              <a:rPr lang="en-US" sz="1600" dirty="0" err="1">
                <a:solidFill>
                  <a:srgbClr val="334155"/>
                </a:solidFill>
                <a:ea typeface="+mn-lt"/>
                <a:cs typeface="+mn-lt"/>
              </a:rPr>
              <a:t>Orpas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Reduced framework duplication and maintenance effort.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Modern Playwright-Based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 xml:space="preserve">Faster execution with </a:t>
            </a: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up to 60% improvement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 xml:space="preserve"> compared to the current Selenium-based approach.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Built-in auto-wait mechanisms for improved stability.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Supports parallel execution for reduced regression cycle time.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081760" y="5133180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520698" y="5056983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Enhanced Debugging and Observability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Trace Viewer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 xml:space="preserve"> – Replay test execution step-by-step with screenshots, network calls, DOM snapshots, and timings for faster root cause analysis.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Rich execution reports with screenshots and detailed logs.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2ECF-31D5-9837-E674-31CCE19D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830" y="271688"/>
            <a:ext cx="11363472" cy="970009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 POM – Intelligent Locator &amp; AI Fallback Strategy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9FB03789-EA4C-468D-22EA-63FCE0B6DA34}"/>
              </a:ext>
            </a:extLst>
          </p:cNvPr>
          <p:cNvSpPr/>
          <p:nvPr/>
        </p:nvSpPr>
        <p:spPr>
          <a:xfrm>
            <a:off x="908573" y="1101101"/>
            <a:ext cx="83344" cy="5533038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238E79B3-C5C0-45FA-8C9F-81A8E5EAB703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15A4EF62-EA28-9A1F-1A6D-2FF80A850457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0FD05718-9435-7D86-E35F-54E4BDF2ACCA}"/>
              </a:ext>
            </a:extLst>
          </p:cNvPr>
          <p:cNvSpPr/>
          <p:nvPr/>
        </p:nvSpPr>
        <p:spPr>
          <a:xfrm>
            <a:off x="1513030" y="1848587"/>
            <a:ext cx="9834252" cy="65675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B717982E-58EA-F547-CB5B-F42DF456D34F}"/>
              </a:ext>
            </a:extLst>
          </p:cNvPr>
          <p:cNvSpPr/>
          <p:nvPr/>
        </p:nvSpPr>
        <p:spPr>
          <a:xfrm>
            <a:off x="1251093" y="1836682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258954FF-F99D-E04C-1CDC-BC534E49D84E}"/>
              </a:ext>
            </a:extLst>
          </p:cNvPr>
          <p:cNvSpPr/>
          <p:nvPr/>
        </p:nvSpPr>
        <p:spPr>
          <a:xfrm>
            <a:off x="1514677" y="17047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0B1F3A"/>
                </a:solidFill>
                <a:ea typeface="+mn-lt"/>
                <a:cs typeface="+mn-lt"/>
              </a:rPr>
              <a:t>Objective</a:t>
            </a:r>
            <a:endParaRPr lang="en-US" sz="2000" b="1"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018173B2-4F31-F1DF-9A15-C8391A6ED3DA}"/>
              </a:ext>
            </a:extLst>
          </p:cNvPr>
          <p:cNvSpPr/>
          <p:nvPr/>
        </p:nvSpPr>
        <p:spPr>
          <a:xfrm>
            <a:off x="1515540" y="2017899"/>
            <a:ext cx="9327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ea typeface="+mn-lt"/>
                <a:cs typeface="+mn-lt"/>
              </a:rPr>
              <a:t>Automatically generate robust and maintainable Page Object Model (POM) locators and automation-ready code using a multi-level fallback strategy with AI assistance.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4377D589-44B7-9693-1DE7-76CCA6E452FD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5861DF38-F9AE-BF0C-381C-09FC60631E32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89545F9F-C904-69CC-00D4-217D515054E8}"/>
              </a:ext>
            </a:extLst>
          </p:cNvPr>
          <p:cNvSpPr/>
          <p:nvPr/>
        </p:nvSpPr>
        <p:spPr>
          <a:xfrm>
            <a:off x="1215374" y="2772418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44978283-304E-C465-2C10-6DA16BE33E28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63CE58A4-4C6D-2F5F-EFE0-A5EF9D378A36}"/>
              </a:ext>
            </a:extLst>
          </p:cNvPr>
          <p:cNvSpPr/>
          <p:nvPr/>
        </p:nvSpPr>
        <p:spPr>
          <a:xfrm>
            <a:off x="1503720" y="2949276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Locator Generation Priority</a:t>
            </a:r>
            <a:endParaRPr lang="en-US" sz="3200" b="1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0DD2FCB7-F5C1-F7F4-3F0A-3CFFEF1BD142}"/>
              </a:ext>
            </a:extLst>
          </p:cNvPr>
          <p:cNvSpPr/>
          <p:nvPr/>
        </p:nvSpPr>
        <p:spPr>
          <a:xfrm>
            <a:off x="1442463" y="3283054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Uses a multi-level fallback approach to generate the most reliable locator by prioritizing ID, Name, Data Attributes, Accessibility Attributes, CSS Selectors, and XPath before invoking AI.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0DD7EFC1-C29D-CB1A-FCD9-3F9150E83FFF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4FE1FDF2-F306-FA2D-FBC3-F2E06FA5F921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6D6A3A69-BC0C-9451-303F-864A62730510}"/>
              </a:ext>
            </a:extLst>
          </p:cNvPr>
          <p:cNvSpPr/>
          <p:nvPr/>
        </p:nvSpPr>
        <p:spPr>
          <a:xfrm>
            <a:off x="1284223" y="3993905"/>
            <a:ext cx="10097053" cy="1119367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E3645972-ABE4-8FC6-CDC8-C5B33BF29BD6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018ACF1D-4068-BE25-2210-84C65EC07343}"/>
              </a:ext>
            </a:extLst>
          </p:cNvPr>
          <p:cNvSpPr/>
          <p:nvPr/>
        </p:nvSpPr>
        <p:spPr>
          <a:xfrm>
            <a:off x="1507173" y="414694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AI Fallback Logic</a:t>
            </a:r>
            <a:endParaRPr lang="en-US" sz="3200" b="1"/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073F83F6-0847-7239-9CF5-B9A694E7F00E}"/>
              </a:ext>
            </a:extLst>
          </p:cNvPr>
          <p:cNvSpPr/>
          <p:nvPr/>
        </p:nvSpPr>
        <p:spPr>
          <a:xfrm>
            <a:off x="1436599" y="4411599"/>
            <a:ext cx="9590324" cy="66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When conventional locator strategies fail or return low-confidence results, AI analyzes the DOM structure, element attributes, and surrounding context to generate stable and maintainable locator recommendations.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92234183-1418-918F-D735-3DE6C558454F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F821AFE3-4B90-7B5A-CF3A-08B896D23B1E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B6B2EDCB-8E12-D6F7-6422-F35ACEF3EF04}"/>
              </a:ext>
            </a:extLst>
          </p:cNvPr>
          <p:cNvSpPr/>
          <p:nvPr/>
        </p:nvSpPr>
        <p:spPr>
          <a:xfrm>
            <a:off x="1251093" y="5489234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C9CDFDF6-9629-2E49-8FC1-49B02A034737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474F48AE-9707-AF00-AC46-73E67E5AC3E8}"/>
              </a:ext>
            </a:extLst>
          </p:cNvPr>
          <p:cNvSpPr/>
          <p:nvPr/>
        </p:nvSpPr>
        <p:spPr>
          <a:xfrm>
            <a:off x="1519941" y="5451779"/>
            <a:ext cx="5329141" cy="31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Key Benefits</a:t>
            </a:r>
            <a:endParaRPr lang="en-US" sz="3200" b="1"/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E98938B9-F25C-0369-4C5F-FCEECC40EDF2}"/>
              </a:ext>
            </a:extLst>
          </p:cNvPr>
          <p:cNvSpPr/>
          <p:nvPr/>
        </p:nvSpPr>
        <p:spPr>
          <a:xfrm>
            <a:off x="1426415" y="5811786"/>
            <a:ext cx="9758504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Reduces</a:t>
            </a:r>
            <a:r>
              <a:rPr lang="en-US" sz="1600" dirty="0">
                <a:ea typeface="+mn-lt"/>
                <a:cs typeface="+mn-lt"/>
              </a:rPr>
              <a:t xml:space="preserve"> manual effort in locator creation, improves locator reliability, accelerates automation development, and generates automation-ready Page Object Model (POM) code with higher maintainability.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6A14EBF-56A6-0AF8-CE55-428A926629A4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14" name="Text 32">
            <a:extLst>
              <a:ext uri="{FF2B5EF4-FFF2-40B4-BE49-F238E27FC236}">
                <a16:creationId xmlns:a16="http://schemas.microsoft.com/office/drawing/2014/main" id="{CCAC9A3C-5481-6208-9558-0CE1013EB6ED}"/>
              </a:ext>
            </a:extLst>
          </p:cNvPr>
          <p:cNvSpPr/>
          <p:nvPr/>
        </p:nvSpPr>
        <p:spPr>
          <a:xfrm>
            <a:off x="1432196" y="862992"/>
            <a:ext cx="9327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ea typeface="+mn-lt"/>
                <a:cs typeface="+mn-lt"/>
              </a:rPr>
              <a:t>Business Value – Creates production ready Page functions eliminating manual locator management and reducing script failures.</a:t>
            </a:r>
            <a:endParaRPr lang="en-US" sz="20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868" y="459021"/>
            <a:ext cx="10334627" cy="456343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ea typeface="Calibri"/>
                <a:cs typeface="Calibri"/>
              </a:rPr>
              <a:t>Autopom</a:t>
            </a:r>
            <a:r>
              <a:rPr lang="en-US" dirty="0">
                <a:ea typeface="Calibri"/>
                <a:cs typeface="Calibri"/>
              </a:rPr>
              <a:t xml:space="preserve">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5" y="1327659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77390" y="-1143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b="1" dirty="0">
              <a:solidFill>
                <a:srgbClr val="0F2742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6101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Playwright · TypeScript · Azure OpenAI GPT-4.1</a:t>
            </a:r>
            <a:endParaRPr lang="en-US" sz="1600" b="1">
              <a:solidFill>
                <a:schemeClr val="accent1">
                  <a:lumMod val="76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0F76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1 · DB Primary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Stored locator resolved</a:t>
            </a:r>
            <a:endParaRPr lang="en-US" sz="1600" b="1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direct from elements table</a:t>
            </a:r>
            <a:endParaRPr lang="en-US" sz="1600" b="1">
              <a:latin typeface="Arial"/>
              <a:ea typeface="Calibri"/>
              <a:cs typeface="Arial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34808" y="4898232"/>
            <a:ext cx="2506026" cy="667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2 · Smart Locators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 xml:space="preserve">role 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testId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 xml:space="preserve"> → text 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css</a:t>
            </a:r>
            <a:endParaRPr lang="en-US" sz="1600" b="1">
              <a:latin typeface="Arial"/>
              <a:cs typeface="Arial"/>
            </a:endParaRPr>
          </a:p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 xml:space="preserve">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xpath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600" b="1" dirty="0">
              <a:solidFill>
                <a:srgbClr val="334155"/>
              </a:solidFill>
              <a:latin typeface="Arial"/>
              <a:cs typeface="Arial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3 · AI Healing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 xml:space="preserve">GPT-4.1 vision + DOM </a:t>
            </a:r>
            <a:r>
              <a:rPr lang="en-US" sz="1600" b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context, confidence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-gated</a:t>
            </a:r>
            <a:endParaRPr lang="en-US" sz="1600" b="1" dirty="0">
              <a:latin typeface="Arial"/>
              <a:ea typeface="Calibri"/>
              <a:cs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Deterministic tiers absorb most UI changes; AI handles novel breaks.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F2742"/>
                </a:solidFill>
                <a:latin typeface="Arial"/>
                <a:ea typeface="Calibri"/>
                <a:cs typeface="Arial"/>
              </a:rPr>
              <a:t>Lower flakiness &amp; upkeep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Cuts manual selector maintenance and false failures substantially.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81009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Proven against the live Ann Taylor staging funnel.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DF202ED5-DE62-30D2-B684-02AFBE2C4DD2}"/>
              </a:ext>
            </a:extLst>
          </p:cNvPr>
          <p:cNvSpPr/>
          <p:nvPr/>
        </p:nvSpPr>
        <p:spPr>
          <a:xfrm>
            <a:off x="774858" y="629887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Cambria"/>
                <a:ea typeface="Cambria"/>
              </a:rPr>
              <a:t xml:space="preserve">Business purpose – Fixing flaky tests on its own – Less </a:t>
            </a:r>
            <a:r>
              <a:rPr lang="en-US" sz="2000" b="1">
                <a:solidFill>
                  <a:srgbClr val="0F2742"/>
                </a:solidFill>
                <a:latin typeface="Cambria"/>
                <a:ea typeface="Cambria"/>
              </a:rPr>
              <a:t>maintenance</a:t>
            </a:r>
            <a:r>
              <a:rPr lang="en-US" sz="2000" b="1" dirty="0">
                <a:solidFill>
                  <a:srgbClr val="0F2742"/>
                </a:solidFill>
                <a:latin typeface="Cambria"/>
                <a:ea typeface="Cambria"/>
              </a:rPr>
              <a:t> - Faster releases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B499ED05-EE3F-354F-5218-66BAA637E934}"/>
              </a:ext>
            </a:extLst>
          </p:cNvPr>
          <p:cNvSpPr txBox="1">
            <a:spLocks/>
          </p:cNvSpPr>
          <p:nvPr/>
        </p:nvSpPr>
        <p:spPr>
          <a:xfrm>
            <a:off x="-14951" y="-2155"/>
            <a:ext cx="11792097" cy="76944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SELF HEALING – TEST AUTOMATION</a:t>
            </a:r>
          </a:p>
          <a:p>
            <a:pPr algn="ctr"/>
            <a:endParaRPr lang="en-US" sz="1800" b="1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 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612232" y="565487"/>
            <a:ext cx="6968343" cy="6211048"/>
          </a:xfrm>
          <a:prstGeom prst="rect">
            <a:avLst/>
          </a:prstGeom>
        </p:spPr>
      </p:pic>
      <p:sp>
        <p:nvSpPr>
          <p:cNvPr id="5" name="Snip Diagonal Corner Rectangle 15">
            <a:extLst>
              <a:ext uri="{FF2B5EF4-FFF2-40B4-BE49-F238E27FC236}">
                <a16:creationId xmlns:a16="http://schemas.microsoft.com/office/drawing/2014/main" id="{2B4494C9-1FC5-409B-820E-DCE03D2FA86D}"/>
              </a:ext>
            </a:extLst>
          </p:cNvPr>
          <p:cNvSpPr/>
          <p:nvPr/>
        </p:nvSpPr>
        <p:spPr>
          <a:xfrm>
            <a:off x="4341748" y="234776"/>
            <a:ext cx="4135161" cy="675948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SELF HEALING ARCHITECTURE</a:t>
            </a:r>
            <a:b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</a:b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/>
          <p:nvPr/>
        </p:nvSpPr>
        <p:spPr>
          <a:xfrm>
            <a:off x="1945481" y="736188"/>
            <a:ext cx="8111719" cy="7238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3000" b="1">
                <a:solidFill>
                  <a:srgbClr val="0F2742"/>
                </a:solidFill>
                <a:latin typeface="Cambria"/>
                <a:ea typeface="Cambria"/>
              </a:rPr>
              <a:t>IMAGE BASED AUTOMATION TOOL – VISOR</a:t>
            </a:r>
            <a:endParaRPr lang="en-US" sz="3000" b="1" dirty="0">
              <a:solidFill>
                <a:srgbClr val="0F2742"/>
              </a:solidFill>
              <a:latin typeface="Cambria"/>
              <a:ea typeface="Cambria"/>
            </a:endParaRPr>
          </a:p>
          <a:p>
            <a:endParaRPr lang="en-US" sz="30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/>
          <p:cNvSpPr/>
          <p:nvPr/>
        </p:nvSpPr>
        <p:spPr>
          <a:xfrm>
            <a:off x="457200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Left Header"/>
          <p:cNvSpPr/>
          <p:nvPr/>
        </p:nvSpPr>
        <p:spPr>
          <a:xfrm>
            <a:off x="490982" y="1915719"/>
            <a:ext cx="5037837" cy="69290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20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Visual Automation Framework</a:t>
            </a:r>
          </a:p>
          <a:p>
            <a:pPr marL="0" indent="0">
              <a:buNone/>
            </a:pPr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Left Body"/>
          <p:cNvSpPr/>
          <p:nvPr/>
        </p:nvSpPr>
        <p:spPr>
          <a:xfrm>
            <a:off x="871981" y="2837219"/>
            <a:ext cx="4811619" cy="330371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 xml:space="preserve">Visor combines OpenCV image matching, </a:t>
            </a:r>
            <a:r>
              <a:rPr lang="en-US">
                <a:latin typeface="Calibri"/>
                <a:ea typeface="Calibri"/>
                <a:cs typeface="Calibri"/>
              </a:rPr>
              <a:t>OCR text</a:t>
            </a:r>
            <a:r>
              <a:rPr lang="en-US" dirty="0">
                <a:latin typeface="Calibri"/>
                <a:ea typeface="Calibri"/>
                <a:cs typeface="Calibri"/>
              </a:rPr>
              <a:t xml:space="preserve"> </a:t>
            </a:r>
            <a:r>
              <a:rPr lang="en-US">
                <a:latin typeface="Calibri"/>
                <a:ea typeface="Calibri"/>
                <a:cs typeface="Calibri"/>
              </a:rPr>
              <a:t>recognition, mouse and keyboard automation</a:t>
            </a:r>
            <a:r>
              <a:rPr lang="en-US" dirty="0">
                <a:latin typeface="Calibri"/>
                <a:ea typeface="Calibri"/>
                <a:cs typeface="Calibri"/>
              </a:rPr>
              <a:t>, and desktop application control into one Node.js package. 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 xml:space="preserve">It enables visual interactions with </a:t>
            </a:r>
            <a:r>
              <a:rPr lang="en-US">
                <a:latin typeface="Calibri"/>
                <a:ea typeface="Calibri"/>
                <a:cs typeface="Calibri"/>
              </a:rPr>
              <a:t>Windows applications</a:t>
            </a:r>
            <a:r>
              <a:rPr lang="en-US" dirty="0">
                <a:latin typeface="Calibri"/>
                <a:ea typeface="Calibri"/>
                <a:cs typeface="Calibri"/>
              </a:rPr>
              <a:t xml:space="preserve"> without requiring DOM </a:t>
            </a:r>
            <a:r>
              <a:rPr lang="en-US">
                <a:latin typeface="Calibri"/>
                <a:ea typeface="Calibri"/>
                <a:cs typeface="Calibri"/>
              </a:rPr>
              <a:t>or browser</a:t>
            </a:r>
            <a:r>
              <a:rPr lang="en-US" dirty="0">
                <a:latin typeface="Calibri"/>
                <a:ea typeface="Calibri"/>
                <a:cs typeface="Calibri"/>
              </a:rPr>
              <a:t xml:space="preserve"> access.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/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/>
          <p:cNvSpPr/>
          <p:nvPr/>
        </p:nvSpPr>
        <p:spPr>
          <a:xfrm>
            <a:off x="6267228" y="1915719"/>
            <a:ext cx="5002118" cy="69290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20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Key Features</a:t>
            </a:r>
          </a:p>
          <a:p>
            <a:pPr marL="0" indent="0">
              <a:buNone/>
            </a:pPr>
            <a:endParaRPr lang="en-US" sz="2000" b="1" kern="0" spc="200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ight Body"/>
          <p:cNvSpPr/>
          <p:nvPr/>
        </p:nvSpPr>
        <p:spPr>
          <a:xfrm>
            <a:off x="6493446" y="2837219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 xml:space="preserve">Multi‑scale image matching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Full‑screen and region‑based OCR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Automated mouse, and keyboard input  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Barcode scanning.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 xml:space="preserve">Built‑in display scaling detection.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endParaRPr lang="en-US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Arial" panose="020B0604020202020204" pitchFamily="34" charset="0"/>
              </a:rPr>
              <a:t xml:space="preserve"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5" y="1045917"/>
            <a:ext cx="11042248" cy="5689337"/>
          </a:xfrm>
          <a:prstGeom prst="rect">
            <a:avLst/>
          </a:prstGeom>
        </p:spPr>
      </p:pic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4365561" y="318120"/>
            <a:ext cx="3468412" cy="509261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VISOR ARCHITECTURE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452225" y="978500"/>
            <a:ext cx="5241345" cy="3084063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645762" y="998939"/>
            <a:ext cx="5228337" cy="7167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2000" b="1" kern="0" spc="200" dirty="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633855" y="1682313"/>
            <a:ext cx="4406809" cy="1744001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Received KT from the Everest team on test suites across all brands — suite ownership, execution strategy, and Jenkins auto-scheduled jobs.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Understood daily execution processes, regression cycles, and automation maintenance workflows.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Analyzing daily Sanity Suite failures and performing RCA across automation, environment, and application issues.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351758" y="4612746"/>
            <a:ext cx="10689428" cy="2081095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91440" tIns="45720" rIns="91440" bIns="45720" anchor="t"/>
          <a:lstStyle/>
          <a:p>
            <a:endParaRPr lang="en-US"/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Automated validation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 variables using Playwright across end-to-end user journeys.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Dynamic comparison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 values against UI data, business rules, and expected behavior.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Comprehensive reporting with PASS / FAIL / MISSING status, detailed comparison results, and HTML/CSV reports for faster analysis</a:t>
            </a:r>
            <a:endParaRPr lang="en-US"/>
          </a:p>
          <a:p>
            <a:pPr>
              <a:lnSpc>
                <a:spcPct val="110000"/>
              </a:lnSpc>
              <a:spcBef>
                <a:spcPts val="700"/>
              </a:spcBef>
            </a:pPr>
            <a:endParaRPr lang="en-US" sz="1600" dirty="0">
              <a:solidFill>
                <a:srgbClr val="334155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813445-88F5-3CCD-A580-5656CDABBA6E}"/>
              </a:ext>
            </a:extLst>
          </p:cNvPr>
          <p:cNvSpPr txBox="1">
            <a:spLocks/>
          </p:cNvSpPr>
          <p:nvPr/>
        </p:nvSpPr>
        <p:spPr>
          <a:xfrm>
            <a:off x="306517" y="426468"/>
            <a:ext cx="10815785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  ONGOING ACTIVITIES – AUTOMATION TEAM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Left Header">
            <a:extLst>
              <a:ext uri="{FF2B5EF4-FFF2-40B4-BE49-F238E27FC236}">
                <a16:creationId xmlns:a16="http://schemas.microsoft.com/office/drawing/2014/main" id="{F8FE0781-AA24-AA16-D142-444AF3AEAD2C}"/>
              </a:ext>
            </a:extLst>
          </p:cNvPr>
          <p:cNvSpPr/>
          <p:nvPr/>
        </p:nvSpPr>
        <p:spPr>
          <a:xfrm>
            <a:off x="3824731" y="4916096"/>
            <a:ext cx="4525868" cy="5619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2000" b="1" kern="0" spc="20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DATA LAYER VALIDATION</a:t>
            </a:r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  <a:p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ight Card">
            <a:extLst>
              <a:ext uri="{FF2B5EF4-FFF2-40B4-BE49-F238E27FC236}">
                <a16:creationId xmlns:a16="http://schemas.microsoft.com/office/drawing/2014/main" id="{84071B8F-44F9-56F3-21D8-F9610E1A35AC}"/>
              </a:ext>
            </a:extLst>
          </p:cNvPr>
          <p:cNvSpPr/>
          <p:nvPr/>
        </p:nvSpPr>
        <p:spPr>
          <a:xfrm>
            <a:off x="6090571" y="921808"/>
            <a:ext cx="4795835" cy="305740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91440" tIns="45720" rIns="91440" bIns="45720" anchor="t"/>
          <a:lstStyle/>
          <a:p>
            <a:pPr>
              <a:lnSpc>
                <a:spcPct val="110000"/>
              </a:lnSpc>
              <a:spcBef>
                <a:spcPts val="700"/>
              </a:spcBef>
            </a:pPr>
            <a:r>
              <a:rPr lang="en-US" sz="2000" b="1" i="0" u="none" strike="noStrike" baseline="0" dirty="0">
                <a:solidFill>
                  <a:srgbClr val="B45309"/>
                </a:solidFill>
                <a:latin typeface="Calibri"/>
                <a:ea typeface="Segoe UI"/>
                <a:cs typeface="Segoe UI"/>
              </a:rPr>
              <a:t xml:space="preserve">REGRESSION SUITE — SPRINT 26.16 </a:t>
            </a:r>
            <a:r>
              <a:rPr lang="en-US" sz="2000" b="1" i="0" u="none" strike="noStrike" baseline="0">
                <a:solidFill>
                  <a:srgbClr val="B45309"/>
                </a:solidFill>
                <a:latin typeface="Calibri"/>
                <a:ea typeface="Segoe UI"/>
                <a:cs typeface="Segoe UI"/>
              </a:rPr>
              <a:t>/26.17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b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 xml:space="preserve">Automation scripting completed in Sprint26.16 for 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 xml:space="preserve">AT and Loft — both Desktop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and Mobile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 xml:space="preserve"> Web.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Jenkins job triggered, achieving an </a:t>
            </a:r>
            <a:r>
              <a:rPr lang="en-US" sz="1600" b="1">
                <a:solidFill>
                  <a:srgbClr val="0F766E"/>
                </a:solidFill>
                <a:ea typeface="Calibri"/>
                <a:cs typeface="Calibri"/>
              </a:rPr>
              <a:t>84–85%pass rate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 xml:space="preserve">Report shared with the Everest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team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 xml:space="preserve"> for approval on </a:t>
            </a:r>
            <a:r>
              <a:rPr lang="en-US" sz="1600" b="1" dirty="0">
                <a:solidFill>
                  <a:srgbClr val="0F2742"/>
                </a:solidFill>
                <a:ea typeface="Calibri"/>
                <a:cs typeface="Calibri"/>
              </a:rPr>
              <a:t>PR #1652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endParaRPr lang="en-US" sz="16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30C6D-E6FF-13BC-53F5-6276E890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E93F4655-80AE-DFCA-B255-E38B5ED2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E5F6DD8-DB3F-DCF8-080F-92094E22CCFB}"/>
              </a:ext>
            </a:extLst>
          </p:cNvPr>
          <p:cNvSpPr txBox="1">
            <a:spLocks/>
          </p:cNvSpPr>
          <p:nvPr/>
        </p:nvSpPr>
        <p:spPr>
          <a:xfrm>
            <a:off x="401767" y="259780"/>
            <a:ext cx="10815785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PLANNED ACTIVITIES – AUTOMATION TEAM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ORPOS Card"/>
          <p:cNvSpPr/>
          <p:nvPr/>
        </p:nvSpPr>
        <p:spPr>
          <a:xfrm>
            <a:off x="8382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1E3A5F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ORPOS MIGRATION</a:t>
            </a:r>
          </a:p>
          <a:p>
            <a:pPr algn="ctr">
              <a:lnSpc>
                <a:spcPct val="112000"/>
              </a:lnSpc>
              <a:spcBef>
                <a:spcPts val="900"/>
              </a:spcBef>
            </a:pPr>
            <a:r>
              <a:rPr lang="en-US" sz="15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built on Java and Sikuli to be migrated to Playwright and Visor.</a:t>
            </a:r>
          </a:p>
        </p:txBody>
      </p:sp>
      <p:sp>
        <p:nvSpPr>
          <p:cNvPr id="6" name="ECOMM Card"/>
          <p:cNvSpPr/>
          <p:nvPr/>
        </p:nvSpPr>
        <p:spPr>
          <a:xfrm>
            <a:off x="66294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ECOMM MIGRATION</a:t>
            </a:r>
          </a:p>
          <a:p>
            <a:pPr algn="ctr">
              <a:spcBef>
                <a:spcPts val="1400"/>
              </a:spcBef>
            </a:pPr>
            <a:r>
              <a:rPr lang="en-US" sz="13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Planned</a:t>
            </a:r>
          </a:p>
        </p:txBody>
      </p:sp>
      <p:sp>
        <p:nvSpPr>
          <p:cNvPr id="2" name="CHICOS Card"/>
          <p:cNvSpPr/>
          <p:nvPr/>
        </p:nvSpPr>
        <p:spPr>
          <a:xfrm>
            <a:off x="8382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CHICOS SHADOWING</a:t>
            </a:r>
          </a:p>
          <a:p>
            <a:pPr algn="ctr">
              <a:spcBef>
                <a:spcPts val="1400"/>
              </a:spcBef>
            </a:pPr>
            <a:r>
              <a:rPr lang="en-US" sz="13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Planned</a:t>
            </a:r>
          </a:p>
        </p:txBody>
      </p:sp>
      <p:sp>
        <p:nvSpPr>
          <p:cNvPr id="5" name="UIDASH Card"/>
          <p:cNvSpPr/>
          <p:nvPr/>
        </p:nvSpPr>
        <p:spPr>
          <a:xfrm>
            <a:off x="66294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UI DASHBOARD – PHASE 2</a:t>
            </a:r>
          </a:p>
          <a:p>
            <a:pPr algn="ctr">
              <a:spcBef>
                <a:spcPts val="1400"/>
              </a:spcBef>
            </a:pPr>
            <a:r>
              <a:rPr lang="en-US" sz="13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3339516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"/>
            <a:ext cx="762000" cy="897466"/>
          </a:xfrm>
          <a:prstGeom prst="rect">
            <a:avLst/>
          </a:prstGeom>
        </p:spPr>
      </p:pic>
      <p:sp>
        <p:nvSpPr>
          <p:cNvPr id="51" name="Eyebrow"/>
          <p:cNvSpPr txBox="1"/>
          <p:nvPr/>
        </p:nvSpPr>
        <p:spPr>
          <a:xfrm>
            <a:off x="838200" y="2438400"/>
            <a:ext cx="9601200" cy="396240"/>
          </a:xfrm>
          <a:prstGeom prst="rect">
            <a:avLst/>
          </a:prstGeom>
        </p:spPr>
        <p:txBody>
          <a:bodyPr wrap="square" lIns="0" tIns="0" rIns="0" bIns="0" anchor="b"/>
          <a:lstStyle/>
          <a:p>
            <a:pPr algn="l"/>
            <a:r>
              <a:rPr lang="en-US" sz="1500" b="1" spc="400" kern="0">
                <a:solidFill>
                  <a:srgbClr val="A98FD6"/>
                </a:solidFill>
                <a:latin typeface="Calibri"/>
                <a:ea typeface="Calibri"/>
                <a:cs typeface="Calibri"/>
              </a:rPr>
              <a:t>TEST AUTOMATION</a:t>
            </a:r>
          </a:p>
        </p:txBody>
      </p:sp>
      <p:sp>
        <p:nvSpPr>
          <p:cNvPr id="52" name="Title"/>
          <p:cNvSpPr txBox="1"/>
          <p:nvPr/>
        </p:nvSpPr>
        <p:spPr>
          <a:xfrm>
            <a:off x="822960" y="2819400"/>
            <a:ext cx="10515600" cy="1828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n-US" sz="5400" b="1" ker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Aspire Framework for </a:t>
            </a:r>
            <a:r>
              <a:rPr lang="en-US" sz="5400" b="1" kern="0">
                <a:solidFill>
                  <a:srgbClr val="A98FD6"/>
                </a:solidFill>
                <a:latin typeface="Calibri"/>
                <a:ea typeface="Calibri"/>
                <a:cs typeface="Calibri"/>
              </a:rPr>
              <a:t>Test Automation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838200" y="4754880"/>
            <a:ext cx="9601200" cy="6400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en-US" sz="1800" kern="0">
                <a:solidFill>
                  <a:srgbClr val="C9C6D6"/>
                </a:solidFill>
                <a:latin typeface="Calibri"/>
                <a:ea typeface="Calibri"/>
                <a:cs typeface="Calibri"/>
              </a:rPr>
              <a:t>A unified, AI-powered automation framework — one standard across brands</a:t>
            </a:r>
          </a:p>
        </p:txBody>
      </p:sp>
      <p:sp>
        <p:nvSpPr>
          <p:cNvPr id="54" name="Footer"/>
          <p:cNvSpPr txBox="1"/>
          <p:nvPr/>
        </p:nvSpPr>
        <p:spPr>
          <a:xfrm>
            <a:off x="838200" y="5915025"/>
            <a:ext cx="10515600" cy="396240"/>
          </a:xfrm>
          <a:prstGeom prst="rect">
            <a:avLst/>
          </a:prstGeom>
        </p:spPr>
        <p:txBody>
          <a:bodyPr wrap="square" lIns="0" tIns="0" rIns="0" bIns="0" anchor="b"/>
          <a:lstStyle/>
          <a:p>
            <a:pPr algn="l"/>
            <a:r>
              <a:rPr lang="en-US" sz="1300" b="1" spc="100" kern="0">
                <a:solidFill>
                  <a:srgbClr val="9A96AE"/>
                </a:solidFill>
                <a:latin typeface="Calibri"/>
                <a:ea typeface="Calibri"/>
                <a:cs typeface="Calibri"/>
              </a:rPr>
              <a:t>Automation Team</a:t>
            </a:r>
            <a:r>
              <a:rPr lang="en-US" sz="1300" spc="100" kern="0">
                <a:solidFill>
                  <a:srgbClr val="6A6680"/>
                </a:solidFill>
                <a:latin typeface="Calibri"/>
                <a:ea typeface="Calibri"/>
                <a:cs typeface="Calibri"/>
              </a:rPr>
              <a:t xml:space="preserve">      |    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0" y="1485900"/>
            <a:ext cx="965200" cy="1136659"/>
          </a:xfrm>
          <a:prstGeom prst="rect">
            <a:avLst/>
          </a:prstGeom>
        </p:spPr>
      </p:pic>
      <p:sp>
        <p:nvSpPr>
          <p:cNvPr id="61" name="ThankYou"/>
          <p:cNvSpPr txBox="1"/>
          <p:nvPr/>
        </p:nvSpPr>
        <p:spPr>
          <a:xfrm>
            <a:off x="838200" y="2971800"/>
            <a:ext cx="10515600" cy="1066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en-US" sz="5400" b="1" ker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62" name="Takeaway"/>
          <p:cNvSpPr txBox="1"/>
          <p:nvPr/>
        </p:nvSpPr>
        <p:spPr>
          <a:xfrm>
            <a:off x="1828800" y="4191000"/>
            <a:ext cx="8534400" cy="6400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</a:pPr>
            <a:r>
              <a:rPr lang="en-US" sz="1800" kern="0">
                <a:solidFill>
                  <a:srgbClr val="C9C6D6"/>
                </a:solidFill>
                <a:latin typeface="Calibri"/>
                <a:ea typeface="Calibri"/>
                <a:cs typeface="Calibri"/>
              </a:rPr>
              <a:t>Self-healing tests that keep pace with the product — less maintenance, faster releases.</a:t>
            </a:r>
          </a:p>
        </p:txBody>
      </p:sp>
      <p:sp>
        <p:nvSpPr>
          <p:cNvPr id="63" name="Footer"/>
          <p:cNvSpPr txBox="1"/>
          <p:nvPr/>
        </p:nvSpPr>
        <p:spPr>
          <a:xfrm>
            <a:off x="838200" y="5915025"/>
            <a:ext cx="10515600" cy="396240"/>
          </a:xfrm>
          <a:prstGeom prst="rect">
            <a:avLst/>
          </a:prstGeom>
        </p:spPr>
        <p:txBody>
          <a:bodyPr wrap="square" lIns="0" tIns="0" rIns="0" bIns="0" anchor="b"/>
          <a:lstStyle/>
          <a:p>
            <a:pPr algn="ctr"/>
            <a:r>
              <a:rPr lang="en-US" sz="1300" b="1" spc="100" kern="0">
                <a:solidFill>
                  <a:srgbClr val="9A96AE"/>
                </a:solidFill>
                <a:latin typeface="Calibri"/>
                <a:ea typeface="Calibri"/>
                <a:cs typeface="Calibri"/>
              </a:rPr>
              <a:t>Automation Team</a:t>
            </a:r>
            <a:r>
              <a:rPr lang="en-US" sz="1300" spc="100" kern="0">
                <a:solidFill>
                  <a:srgbClr val="6A6680"/>
                </a:solidFill>
                <a:latin typeface="Calibri"/>
                <a:ea typeface="Calibri"/>
                <a:cs typeface="Calibri"/>
              </a:rPr>
              <a:t xml:space="preserve">      |    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  Why aspire unified framework (AFTA) </vt:lpstr>
      <vt:lpstr>Auto POM – Intelligent Locator &amp; AI Fallback Strategy </vt:lpstr>
      <vt:lpstr>Autopom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543</cp:revision>
  <dcterms:created xsi:type="dcterms:W3CDTF">2026-06-17T07:36:54Z</dcterms:created>
  <dcterms:modified xsi:type="dcterms:W3CDTF">2026-06-17T12:40:41Z</dcterms:modified>
</cp:coreProperties>
</file>