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81687" r:id="rId2"/>
    <p:sldId id="2147481688" r:id="rId3"/>
    <p:sldId id="2147481685" r:id="rId4"/>
    <p:sldId id="2147481686" r:id="rId5"/>
    <p:sldId id="256" r:id="rId6"/>
    <p:sldId id="258" r:id="rId7"/>
    <p:sldId id="259" r:id="rId8"/>
    <p:sldId id="547" r:id="rId9"/>
    <p:sldId id="548" r:id="rId10"/>
    <p:sldId id="214748168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484" y="24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28174" y="136255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405414" y="1527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Multiple Frameworks Across Applications</a:t>
            </a:r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405414" y="179593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Different implementations and standards across projects (BDD, TestNG, etc.).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28174" y="264271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405414" y="280730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Obsolete and Redundant Components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405414" y="2992755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Some suites and utilities are no longer actively maintained, and deprecated test cases continue to exist in execution suites.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6">
            <a:extLst>
              <a:ext uri="{FF2B5EF4-FFF2-40B4-BE49-F238E27FC236}">
                <a16:creationId xmlns:a16="http://schemas.microsoft.com/office/drawing/2014/main" id="{16D39BB3-7D13-32A3-4AF6-BD0BC9E53EA0}"/>
              </a:ext>
            </a:extLst>
          </p:cNvPr>
          <p:cNvSpPr/>
          <p:nvPr/>
        </p:nvSpPr>
        <p:spPr>
          <a:xfrm>
            <a:off x="616267" y="399383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EF790842-76F3-E59F-3FDA-2E237B875D5F}"/>
              </a:ext>
            </a:extLst>
          </p:cNvPr>
          <p:cNvSpPr/>
          <p:nvPr/>
        </p:nvSpPr>
        <p:spPr>
          <a:xfrm>
            <a:off x="1286351" y="4194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/>
                <a:cs typeface="Arial"/>
              </a:rPr>
              <a:t>Fragmented Architecture</a:t>
            </a:r>
            <a:endParaRPr lang="en-US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3A7470E-F3DD-9400-9202-5B9E8F5622E2}"/>
              </a:ext>
            </a:extLst>
          </p:cNvPr>
          <p:cNvSpPr/>
          <p:nvPr/>
        </p:nvSpPr>
        <p:spPr>
          <a:xfrm>
            <a:off x="1286351" y="446293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Business logic, element interactions, and utilities are distributed across multiple layers, increasing complexity.</a:t>
            </a:r>
            <a:br>
              <a:rPr lang="en-US" sz="1200" b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D5505E07-3CBA-0701-6061-50FAD75E3FC5}"/>
              </a:ext>
            </a:extLst>
          </p:cNvPr>
          <p:cNvSpPr/>
          <p:nvPr/>
        </p:nvSpPr>
        <p:spPr>
          <a:xfrm>
            <a:off x="616267" y="527399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42EF9CD4-18A3-CFA0-8297-62DD56FF8C4E}"/>
              </a:ext>
            </a:extLst>
          </p:cNvPr>
          <p:cNvSpPr/>
          <p:nvPr/>
        </p:nvSpPr>
        <p:spPr>
          <a:xfrm>
            <a:off x="1238726" y="56052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High Maintenance Effort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7F19CA-E11A-8407-F1AD-8EE42E429E4C}"/>
              </a:ext>
            </a:extLst>
          </p:cNvPr>
          <p:cNvSpPr/>
          <p:nvPr/>
        </p:nvSpPr>
        <p:spPr>
          <a:xfrm>
            <a:off x="1226820" y="5743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Frequent locator updates increase maintenance overhead.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38DBD233-2792-7D6A-18E9-6EEEE224B9E1}"/>
              </a:ext>
            </a:extLst>
          </p:cNvPr>
          <p:cNvSpPr/>
          <p:nvPr/>
        </p:nvSpPr>
        <p:spPr>
          <a:xfrm>
            <a:off x="6164579" y="133873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3276B61-B6EC-7CDB-40BE-8F0327F96E6E}"/>
              </a:ext>
            </a:extLst>
          </p:cNvPr>
          <p:cNvSpPr/>
          <p:nvPr/>
        </p:nvSpPr>
        <p:spPr>
          <a:xfrm>
            <a:off x="6941819" y="150333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Inconsistent Test Data Management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726A88-2C74-4BA3-DA74-4F3444F438D6}"/>
              </a:ext>
            </a:extLst>
          </p:cNvPr>
          <p:cNvSpPr/>
          <p:nvPr/>
        </p:nvSpPr>
        <p:spPr>
          <a:xfrm>
            <a:off x="6941819" y="177212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Multiple test data sources and synchronization issues impact test reliability.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621AF893-8C16-BA1D-D367-A4D251BBAACD}"/>
              </a:ext>
            </a:extLst>
          </p:cNvPr>
          <p:cNvSpPr/>
          <p:nvPr/>
        </p:nvSpPr>
        <p:spPr>
          <a:xfrm>
            <a:off x="6164579" y="261889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03F7147-8033-75CF-F335-ABA70541D6E2}"/>
              </a:ext>
            </a:extLst>
          </p:cNvPr>
          <p:cNvSpPr/>
          <p:nvPr/>
        </p:nvSpPr>
        <p:spPr>
          <a:xfrm>
            <a:off x="6941819" y="2890647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Limited Test Traceability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BD51EFD-A6F5-74E1-819E-E8D98085B59E}"/>
              </a:ext>
            </a:extLst>
          </p:cNvPr>
          <p:cNvSpPr/>
          <p:nvPr/>
        </p:nvSpPr>
        <p:spPr>
          <a:xfrm>
            <a:off x="6941819" y="3076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Test cases are not functionally grouped, making maintenance and impact analysis difficult.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9FD0EAB-A4CA-7179-0B55-B9B486BDDFCF}"/>
              </a:ext>
            </a:extLst>
          </p:cNvPr>
          <p:cNvSpPr/>
          <p:nvPr/>
        </p:nvSpPr>
        <p:spPr>
          <a:xfrm>
            <a:off x="6176485" y="392239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1E829C6-07E6-4EA3-4577-DAFFD7E69BCF}"/>
              </a:ext>
            </a:extLst>
          </p:cNvPr>
          <p:cNvSpPr/>
          <p:nvPr/>
        </p:nvSpPr>
        <p:spPr>
          <a:xfrm>
            <a:off x="6953725" y="408698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Insufficient Validation and Visibility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ED05D2C-518C-0141-4892-823684C996BA}"/>
              </a:ext>
            </a:extLst>
          </p:cNvPr>
          <p:cNvSpPr/>
          <p:nvPr/>
        </p:nvSpPr>
        <p:spPr>
          <a:xfrm>
            <a:off x="6953725" y="43557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Limited step-level verification and debugging capabilities.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4811431C-9BE1-F9CD-71FC-F1A76130DFEF}"/>
              </a:ext>
            </a:extLst>
          </p:cNvPr>
          <p:cNvSpPr/>
          <p:nvPr/>
        </p:nvSpPr>
        <p:spPr>
          <a:xfrm>
            <a:off x="6176485" y="520255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4034E2FF-A043-8227-231F-EC350A82E9FB}"/>
              </a:ext>
            </a:extLst>
          </p:cNvPr>
          <p:cNvSpPr/>
          <p:nvPr/>
        </p:nvSpPr>
        <p:spPr>
          <a:xfrm>
            <a:off x="6953725" y="54147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Lack of AI Adoption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58D183C-0961-9333-7EF6-9BF90AA37C38}"/>
              </a:ext>
            </a:extLst>
          </p:cNvPr>
          <p:cNvSpPr/>
          <p:nvPr/>
        </p:nvSpPr>
        <p:spPr>
          <a:xfrm>
            <a:off x="6941819" y="563594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No AI-assisted failure analysis, test insights, or intelligent reporting.</a:t>
            </a: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0FCEA295-18AF-86B0-2524-64834159673A}"/>
              </a:ext>
            </a:extLst>
          </p:cNvPr>
          <p:cNvSpPr/>
          <p:nvPr/>
        </p:nvSpPr>
        <p:spPr>
          <a:xfrm>
            <a:off x="837137" y="755821"/>
            <a:ext cx="23813" cy="5604475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6" name="Shape 26">
            <a:extLst>
              <a:ext uri="{FF2B5EF4-FFF2-40B4-BE49-F238E27FC236}">
                <a16:creationId xmlns:a16="http://schemas.microsoft.com/office/drawing/2014/main" id="{D1FA572C-00E0-A175-77A9-C09322DFF626}"/>
              </a:ext>
            </a:extLst>
          </p:cNvPr>
          <p:cNvSpPr/>
          <p:nvPr/>
        </p:nvSpPr>
        <p:spPr>
          <a:xfrm>
            <a:off x="686591" y="1615735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8" name="Text 27">
            <a:extLst>
              <a:ext uri="{FF2B5EF4-FFF2-40B4-BE49-F238E27FC236}">
                <a16:creationId xmlns:a16="http://schemas.microsoft.com/office/drawing/2014/main" id="{7C30D1FE-C307-20B2-8C65-62703162022F}"/>
              </a:ext>
            </a:extLst>
          </p:cNvPr>
          <p:cNvSpPr/>
          <p:nvPr/>
        </p:nvSpPr>
        <p:spPr>
          <a:xfrm>
            <a:off x="677212" y="16157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1" name="Shape 35">
            <a:extLst>
              <a:ext uri="{FF2B5EF4-FFF2-40B4-BE49-F238E27FC236}">
                <a16:creationId xmlns:a16="http://schemas.microsoft.com/office/drawing/2014/main" id="{51F6DD7B-5492-B336-F59A-736EAE186842}"/>
              </a:ext>
            </a:extLst>
          </p:cNvPr>
          <p:cNvSpPr/>
          <p:nvPr/>
        </p:nvSpPr>
        <p:spPr>
          <a:xfrm>
            <a:off x="677212" y="2932471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3" name="Text 36">
            <a:extLst>
              <a:ext uri="{FF2B5EF4-FFF2-40B4-BE49-F238E27FC236}">
                <a16:creationId xmlns:a16="http://schemas.microsoft.com/office/drawing/2014/main" id="{AF873F65-5B36-3F0D-A0AD-B52924C7CB02}"/>
              </a:ext>
            </a:extLst>
          </p:cNvPr>
          <p:cNvSpPr/>
          <p:nvPr/>
        </p:nvSpPr>
        <p:spPr>
          <a:xfrm>
            <a:off x="677212" y="29230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5" name="Shape 44">
            <a:extLst>
              <a:ext uri="{FF2B5EF4-FFF2-40B4-BE49-F238E27FC236}">
                <a16:creationId xmlns:a16="http://schemas.microsoft.com/office/drawing/2014/main" id="{5C495621-4286-18BE-A7EA-D4872C57244E}"/>
              </a:ext>
            </a:extLst>
          </p:cNvPr>
          <p:cNvSpPr/>
          <p:nvPr/>
        </p:nvSpPr>
        <p:spPr>
          <a:xfrm>
            <a:off x="677212" y="4202314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7" name="Text 45">
            <a:extLst>
              <a:ext uri="{FF2B5EF4-FFF2-40B4-BE49-F238E27FC236}">
                <a16:creationId xmlns:a16="http://schemas.microsoft.com/office/drawing/2014/main" id="{F6D29A87-10A0-EB30-DB83-27E5234E8F87}"/>
              </a:ext>
            </a:extLst>
          </p:cNvPr>
          <p:cNvSpPr/>
          <p:nvPr/>
        </p:nvSpPr>
        <p:spPr>
          <a:xfrm>
            <a:off x="677212" y="41929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9" name="Shape 53">
            <a:extLst>
              <a:ext uri="{FF2B5EF4-FFF2-40B4-BE49-F238E27FC236}">
                <a16:creationId xmlns:a16="http://schemas.microsoft.com/office/drawing/2014/main" id="{114121C0-A4F9-EA23-28E2-BD0FB7267B44}"/>
              </a:ext>
            </a:extLst>
          </p:cNvPr>
          <p:cNvSpPr/>
          <p:nvPr/>
        </p:nvSpPr>
        <p:spPr>
          <a:xfrm>
            <a:off x="677212" y="551905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1" name="Text 54">
            <a:extLst>
              <a:ext uri="{FF2B5EF4-FFF2-40B4-BE49-F238E27FC236}">
                <a16:creationId xmlns:a16="http://schemas.microsoft.com/office/drawing/2014/main" id="{C3614584-9CC3-928A-1D38-86126C82CAC2}"/>
              </a:ext>
            </a:extLst>
          </p:cNvPr>
          <p:cNvSpPr/>
          <p:nvPr/>
        </p:nvSpPr>
        <p:spPr>
          <a:xfrm>
            <a:off x="677212" y="55096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3" name="Shape 25">
            <a:extLst>
              <a:ext uri="{FF2B5EF4-FFF2-40B4-BE49-F238E27FC236}">
                <a16:creationId xmlns:a16="http://schemas.microsoft.com/office/drawing/2014/main" id="{BC875EAA-4D2F-8AD1-5D21-A498E2078B7C}"/>
              </a:ext>
            </a:extLst>
          </p:cNvPr>
          <p:cNvSpPr/>
          <p:nvPr/>
        </p:nvSpPr>
        <p:spPr>
          <a:xfrm>
            <a:off x="6468793" y="1291602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5" name="Shape 26">
            <a:extLst>
              <a:ext uri="{FF2B5EF4-FFF2-40B4-BE49-F238E27FC236}">
                <a16:creationId xmlns:a16="http://schemas.microsoft.com/office/drawing/2014/main" id="{BA84F695-B112-40CE-1051-B3287081F16C}"/>
              </a:ext>
            </a:extLst>
          </p:cNvPr>
          <p:cNvSpPr/>
          <p:nvPr/>
        </p:nvSpPr>
        <p:spPr>
          <a:xfrm>
            <a:off x="6258716" y="1639548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7" name="Text 27">
            <a:extLst>
              <a:ext uri="{FF2B5EF4-FFF2-40B4-BE49-F238E27FC236}">
                <a16:creationId xmlns:a16="http://schemas.microsoft.com/office/drawing/2014/main" id="{B8290147-23C2-9DFA-B722-ECC7B97C9362}"/>
              </a:ext>
            </a:extLst>
          </p:cNvPr>
          <p:cNvSpPr/>
          <p:nvPr/>
        </p:nvSpPr>
        <p:spPr>
          <a:xfrm>
            <a:off x="6249337" y="16395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9" name="Shape 35">
            <a:extLst>
              <a:ext uri="{FF2B5EF4-FFF2-40B4-BE49-F238E27FC236}">
                <a16:creationId xmlns:a16="http://schemas.microsoft.com/office/drawing/2014/main" id="{3EAE6EFC-17BC-815D-4F9E-A59011B4ECE4}"/>
              </a:ext>
            </a:extLst>
          </p:cNvPr>
          <p:cNvSpPr/>
          <p:nvPr/>
        </p:nvSpPr>
        <p:spPr>
          <a:xfrm>
            <a:off x="6249337" y="29562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1" name="Text 36">
            <a:extLst>
              <a:ext uri="{FF2B5EF4-FFF2-40B4-BE49-F238E27FC236}">
                <a16:creationId xmlns:a16="http://schemas.microsoft.com/office/drawing/2014/main" id="{89B5811B-B485-A178-E529-542637157D45}"/>
              </a:ext>
            </a:extLst>
          </p:cNvPr>
          <p:cNvSpPr/>
          <p:nvPr/>
        </p:nvSpPr>
        <p:spPr>
          <a:xfrm>
            <a:off x="6249337" y="2946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3" name="Shape 44">
            <a:extLst>
              <a:ext uri="{FF2B5EF4-FFF2-40B4-BE49-F238E27FC236}">
                <a16:creationId xmlns:a16="http://schemas.microsoft.com/office/drawing/2014/main" id="{C027956A-34C5-6588-D95B-E2B4B989C88A}"/>
              </a:ext>
            </a:extLst>
          </p:cNvPr>
          <p:cNvSpPr/>
          <p:nvPr/>
        </p:nvSpPr>
        <p:spPr>
          <a:xfrm>
            <a:off x="6249337" y="4226127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5" name="Text 45">
            <a:extLst>
              <a:ext uri="{FF2B5EF4-FFF2-40B4-BE49-F238E27FC236}">
                <a16:creationId xmlns:a16="http://schemas.microsoft.com/office/drawing/2014/main" id="{F7884D3A-6986-B398-EF1F-DCB34D5BB806}"/>
              </a:ext>
            </a:extLst>
          </p:cNvPr>
          <p:cNvSpPr/>
          <p:nvPr/>
        </p:nvSpPr>
        <p:spPr>
          <a:xfrm>
            <a:off x="6249337" y="42167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7" name="Shape 53">
            <a:extLst>
              <a:ext uri="{FF2B5EF4-FFF2-40B4-BE49-F238E27FC236}">
                <a16:creationId xmlns:a16="http://schemas.microsoft.com/office/drawing/2014/main" id="{EAFD8B8F-75CF-5D46-16E8-E9411EA45049}"/>
              </a:ext>
            </a:extLst>
          </p:cNvPr>
          <p:cNvSpPr/>
          <p:nvPr/>
        </p:nvSpPr>
        <p:spPr>
          <a:xfrm>
            <a:off x="6249337" y="5542863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9" name="Text 54">
            <a:extLst>
              <a:ext uri="{FF2B5EF4-FFF2-40B4-BE49-F238E27FC236}">
                <a16:creationId xmlns:a16="http://schemas.microsoft.com/office/drawing/2014/main" id="{B3E15399-19A0-1132-40F6-658C7D1291C5}"/>
              </a:ext>
            </a:extLst>
          </p:cNvPr>
          <p:cNvSpPr/>
          <p:nvPr/>
        </p:nvSpPr>
        <p:spPr>
          <a:xfrm>
            <a:off x="6249337" y="5533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7EA7E8-6850-020F-9CFF-52FFD7BC08EB}"/>
              </a:ext>
            </a:extLst>
          </p:cNvPr>
          <p:cNvSpPr txBox="1">
            <a:spLocks/>
          </p:cNvSpPr>
          <p:nvPr/>
        </p:nvSpPr>
        <p:spPr>
          <a:xfrm>
            <a:off x="-276889" y="509813"/>
            <a:ext cx="11363472" cy="1261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  CHALLENGES IN THE CURRENT FRAMEWORK LANDSCAPE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50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95FE-BC9E-BB58-86CC-B3BDA8BB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74" y="93094"/>
            <a:ext cx="11363472" cy="936154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ea typeface="Calibri"/>
                <a:cs typeface="Calibri"/>
              </a:rPr>
              <a:t>  Why aspire unified framework (AFTA)</a:t>
            </a:r>
          </a:p>
          <a:p>
            <a:pPr algn="ctr"/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859F4701-5CFF-BD1C-0E71-7B0D4444DA38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63188" y="856401"/>
            <a:ext cx="10108096" cy="1351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</a:t>
            </a:r>
            <a:r>
              <a:rPr lang="en-US" sz="1600" b="1" dirty="0" err="1">
                <a:solidFill>
                  <a:srgbClr val="334155"/>
                </a:solidFill>
                <a:ea typeface="+mn-lt"/>
                <a:cs typeface="+mn-lt"/>
              </a:rPr>
              <a:t>AutoPOM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</a:t>
            </a: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Orpas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520698" y="5056983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30" y="271688"/>
            <a:ext cx="11363472" cy="97000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&amp; AI Fallback Strategy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908573" y="1101101"/>
            <a:ext cx="83344" cy="5533038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513030" y="1848587"/>
            <a:ext cx="9834252" cy="65675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836682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7047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2017899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15374" y="2772418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03720" y="2949276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442463" y="3283054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993905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507173" y="414694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36599" y="4411599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489234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519941" y="5451779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26415" y="5811786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> manual effort in locator creation, improves locator reliability, accelerates automation development, and generates automation-ready Page Object Model (POM) code with higher maintainability.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CCAC9A3C-5481-6208-9558-0CE1013EB6ED}"/>
              </a:ext>
            </a:extLst>
          </p:cNvPr>
          <p:cNvSpPr/>
          <p:nvPr/>
        </p:nvSpPr>
        <p:spPr>
          <a:xfrm>
            <a:off x="1432196" y="862992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ea typeface="+mn-lt"/>
                <a:cs typeface="+mn-lt"/>
              </a:rPr>
              <a:t>Business Value – Creates production ready Page functions eliminating manual locator management and reducing script failures.</a:t>
            </a:r>
            <a:endParaRPr lang="en-US" sz="2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868" y="4590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Calibri"/>
                <a:cs typeface="Calibri"/>
              </a:rPr>
              <a:t>Autopom</a:t>
            </a:r>
            <a:r>
              <a:rPr lang="en-US" dirty="0">
                <a:ea typeface="Calibri"/>
                <a:cs typeface="Calibri"/>
              </a:rPr>
              <a:t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1 · DB Primary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6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6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2 · Smart Locators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6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3 · AI Healing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GPT-4.1 vision + DOM </a:t>
            </a:r>
            <a:r>
              <a:rPr lang="en-US" sz="1600" b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-gated</a:t>
            </a:r>
            <a:endParaRPr lang="en-US" sz="1600" b="1" dirty="0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774858" y="629887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Business purpose – Fixing flaky tests on its own – Less </a:t>
            </a:r>
            <a:r>
              <a:rPr lang="en-US" sz="2000" b="1">
                <a:solidFill>
                  <a:srgbClr val="0F2742"/>
                </a:solidFill>
                <a:latin typeface="Cambria"/>
                <a:ea typeface="Cambria"/>
              </a:rPr>
              <a:t>maintenance</a:t>
            </a:r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 - Faster releases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499ED05-EE3F-354F-5218-66BAA637E934}"/>
              </a:ext>
            </a:extLst>
          </p:cNvPr>
          <p:cNvSpPr txBox="1">
            <a:spLocks/>
          </p:cNvSpPr>
          <p:nvPr/>
        </p:nvSpPr>
        <p:spPr>
          <a:xfrm>
            <a:off x="-14951" y="-2155"/>
            <a:ext cx="11792097" cy="7694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SELF HEALING – TEST AUTOMATION</a:t>
            </a: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12232" y="565487"/>
            <a:ext cx="6968343" cy="6211048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4341748" y="234776"/>
            <a:ext cx="4135161" cy="675948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SELF HEALING ARCHITECTURE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</a:b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1945481" y="736188"/>
            <a:ext cx="8111719" cy="7238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3000" b="1">
                <a:solidFill>
                  <a:srgbClr val="0F2742"/>
                </a:solidFill>
                <a:latin typeface="Cambria"/>
                <a:ea typeface="Cambria"/>
              </a:rPr>
              <a:t>IMAGE BASED AUTOMATION TOOL – VISOR</a:t>
            </a:r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  <a:p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490982" y="1915719"/>
            <a:ext cx="5037837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Visor combines OpenCV image matching, </a:t>
            </a:r>
            <a:r>
              <a:rPr lang="en-US">
                <a:latin typeface="Calibri"/>
                <a:ea typeface="Calibri"/>
                <a:cs typeface="Calibri"/>
              </a:rPr>
              <a:t>OCR text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It enables visual interactions with </a:t>
            </a:r>
            <a:r>
              <a:rPr lang="en-US">
                <a:latin typeface="Calibri"/>
                <a:ea typeface="Calibri"/>
                <a:cs typeface="Calibri"/>
              </a:rPr>
              <a:t>Windows applications</a:t>
            </a:r>
            <a:r>
              <a:rPr lang="en-US" dirty="0">
                <a:latin typeface="Calibri"/>
                <a:ea typeface="Calibri"/>
                <a:cs typeface="Calibri"/>
              </a:rPr>
              <a:t> without requiring DOM </a:t>
            </a:r>
            <a:r>
              <a:rPr lang="en-US">
                <a:latin typeface="Calibri"/>
                <a:ea typeface="Calibri"/>
                <a:cs typeface="Calibri"/>
              </a:rPr>
              <a:t>or browser</a:t>
            </a:r>
            <a:r>
              <a:rPr lang="en-US" dirty="0">
                <a:latin typeface="Calibri"/>
                <a:ea typeface="Calibri"/>
                <a:cs typeface="Calibri"/>
              </a:rPr>
              <a:t> access.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267228" y="1915719"/>
            <a:ext cx="5002118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Multi‑scale image matching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Full‑screen and region‑based OCR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Automated mouse, and keyboard input 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Built‑in display scaling detection.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4365561" y="318120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VISOR ARCHITECTURE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306517" y="426468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  <a:p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0571" y="921808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2000" b="1" i="0" u="none" strike="noStrike" baseline="0" dirty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REGRESSION SUITE — SPRINT 26.16 </a:t>
            </a:r>
            <a:r>
              <a:rPr lang="en-US" sz="2000" b="1" i="0" u="none" strike="noStrike" baseline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/26.17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84–85%pass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for approval on </a:t>
            </a:r>
            <a:r>
              <a:rPr lang="en-US" sz="1600" b="1" dirty="0">
                <a:solidFill>
                  <a:srgbClr val="0F2742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3CDC4B0D-07CE-8A08-5C68-9C4552608870}"/>
              </a:ext>
            </a:extLst>
          </p:cNvPr>
          <p:cNvSpPr/>
          <p:nvPr/>
        </p:nvSpPr>
        <p:spPr>
          <a:xfrm>
            <a:off x="999913" y="1002314"/>
            <a:ext cx="4812720" cy="2226812"/>
          </a:xfrm>
          <a:prstGeom prst="roundRect">
            <a:avLst>
              <a:gd name="adj" fmla="val 4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lIns="91440" tIns="45720" rIns="91440" bIns="45720" anchor="t"/>
          <a:lstStyle/>
          <a:p>
            <a:pPr algn="ctr"/>
            <a:r>
              <a:rPr lang="en-US" sz="24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ORPOS MIGRATION</a:t>
            </a:r>
            <a:endParaRPr lang="en-US" sz="2400">
              <a:latin typeface="Calibri"/>
              <a:ea typeface="Calibri"/>
              <a:cs typeface="Calibri"/>
            </a:endParaRPr>
          </a:p>
          <a:p>
            <a:endParaRPr lang="en-US" sz="2400" b="1" dirty="0">
              <a:solidFill>
                <a:schemeClr val="tx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4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Current framework built on Java and </a:t>
            </a:r>
            <a:r>
              <a:rPr lang="en-US" sz="2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Sikuli to be migrated to playwright </a:t>
            </a:r>
            <a:r>
              <a:rPr lang="en-US" sz="24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and visor</a:t>
            </a:r>
          </a:p>
          <a:p>
            <a:pPr algn="ctr"/>
            <a:endParaRPr lang="en-US" sz="2400" b="1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  <a:p>
            <a:endParaRPr lang="en-US" sz="2400" b="1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B1F3FCE6-10A1-9137-E7C8-53C313FE16B6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401767" y="259780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  PLANNED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1E1E3A75-A19A-7334-5632-474519A90F7C}"/>
              </a:ext>
            </a:extLst>
          </p:cNvPr>
          <p:cNvSpPr/>
          <p:nvPr/>
        </p:nvSpPr>
        <p:spPr>
          <a:xfrm>
            <a:off x="6769227" y="1076588"/>
            <a:ext cx="4212428" cy="220016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 algn="ctr">
              <a:lnSpc>
                <a:spcPct val="110000"/>
              </a:lnSpc>
              <a:spcBef>
                <a:spcPts val="700"/>
              </a:spcBef>
            </a:pPr>
            <a:r>
              <a:rPr lang="en-US" sz="2000" b="1">
                <a:solidFill>
                  <a:srgbClr val="B45309"/>
                </a:solidFill>
                <a:latin typeface="Segoe UI"/>
                <a:ea typeface="Calibri"/>
                <a:cs typeface="Segoe UI"/>
              </a:rPr>
              <a:t>ECOMM MIGRATION</a:t>
            </a: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2000" dirty="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2" name="Left Card">
            <a:extLst>
              <a:ext uri="{FF2B5EF4-FFF2-40B4-BE49-F238E27FC236}">
                <a16:creationId xmlns:a16="http://schemas.microsoft.com/office/drawing/2014/main" id="{AC7656F4-5453-3823-A835-D988CB399903}"/>
              </a:ext>
            </a:extLst>
          </p:cNvPr>
          <p:cNvSpPr/>
          <p:nvPr/>
        </p:nvSpPr>
        <p:spPr>
          <a:xfrm>
            <a:off x="999912" y="4657531"/>
            <a:ext cx="4098345" cy="8575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r>
              <a:rPr lang="en-US" sz="2000" b="1">
                <a:solidFill>
                  <a:srgbClr val="B45309"/>
                </a:solidFill>
                <a:latin typeface="Segoe UI"/>
              </a:rPr>
              <a:t>       CHICOS SHADOWING</a:t>
            </a:r>
            <a:endParaRPr lang="en-US" sz="2000">
              <a:latin typeface="Segoe UI"/>
              <a:ea typeface="Calibri"/>
              <a:cs typeface="Segoe UI"/>
            </a:endParaRPr>
          </a:p>
        </p:txBody>
      </p:sp>
      <p:sp>
        <p:nvSpPr>
          <p:cNvPr id="5" name="Right Card">
            <a:extLst>
              <a:ext uri="{FF2B5EF4-FFF2-40B4-BE49-F238E27FC236}">
                <a16:creationId xmlns:a16="http://schemas.microsoft.com/office/drawing/2014/main" id="{AB9E8D5C-9361-6535-CABB-B5BD6D549F7F}"/>
              </a:ext>
            </a:extLst>
          </p:cNvPr>
          <p:cNvSpPr/>
          <p:nvPr/>
        </p:nvSpPr>
        <p:spPr>
          <a:xfrm>
            <a:off x="6924008" y="4660369"/>
            <a:ext cx="4057647" cy="854754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 algn="ctr">
              <a:lnSpc>
                <a:spcPct val="110000"/>
              </a:lnSpc>
              <a:spcBef>
                <a:spcPts val="700"/>
              </a:spcBef>
            </a:pPr>
            <a:r>
              <a:rPr lang="en-US" sz="2000" b="1">
                <a:solidFill>
                  <a:srgbClr val="B45309"/>
                </a:solidFill>
                <a:latin typeface="Segoe UI"/>
                <a:ea typeface="Calibri"/>
                <a:cs typeface="Segoe UI"/>
              </a:rPr>
              <a:t>UI DASHBOARD – PHASE 2</a:t>
            </a: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endParaRPr lang="en-US" sz="2000" b="1" dirty="0">
              <a:solidFill>
                <a:srgbClr val="B45309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  Why aspire unified framework (AFTA) </vt:lpstr>
      <vt:lpstr>Auto POM – Intelligent Locator &amp; AI Fallback Strategy </vt:lpstr>
      <vt:lpstr>Autopom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543</cp:revision>
  <dcterms:created xsi:type="dcterms:W3CDTF">2026-06-17T07:36:54Z</dcterms:created>
  <dcterms:modified xsi:type="dcterms:W3CDTF">2026-06-17T12:40:41Z</dcterms:modified>
</cp:coreProperties>
</file>