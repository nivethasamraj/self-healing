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548" r:id="rId5"/>
    <p:sldId id="547" r:id="rId6"/>
    <p:sldId id="2147481685" r:id="rId7"/>
    <p:sldId id="214748168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2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2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GPT-4.1 vision + DOM context,</a:t>
            </a:r>
            <a:endParaRPr lang="en-US" sz="12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confidence-gated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Write healed locators back to the elements table — AI cost &amp; latency decay as the suite matures.</a:t>
            </a:r>
            <a:endParaRPr lang="en-US" sz="1200" b="1" dirty="0">
              <a:latin typeface="Arial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 err="1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iframe</a:t>
            </a:r>
            <a:r>
              <a:rPr lang="en-US" sz="12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 traversal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— healing across nested frame contexts.   </a:t>
            </a:r>
            <a:r>
              <a:rPr lang="en-US" sz="12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Shadow DOM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— piercing shadow roots where standard locators fail.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&#10;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278857" y="172581"/>
            <a:ext cx="7313624" cy="648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/>
                <a:cs typeface="Cambria"/>
              </a:rPr>
              <a:t>Maintenance &amp; Shadowing — Progress Update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562419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>Visor combines OpenCV image matching, </a:t>
            </a:r>
            <a:r>
              <a:rPr lang="en-US" sz="1650">
                <a:latin typeface="Calibri"/>
                <a:ea typeface="Calibri"/>
                <a:cs typeface="Calibri"/>
              </a:rPr>
              <a:t>OCR text</a:t>
            </a:r>
            <a:r>
              <a:rPr lang="en-US" sz="1650" dirty="0">
                <a:latin typeface="Calibri"/>
                <a:ea typeface="Calibri"/>
                <a:cs typeface="Calibri"/>
              </a:rPr>
              <a:t> </a:t>
            </a:r>
            <a:r>
              <a:rPr lang="en-US" sz="1650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sz="1650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1650" dirty="0">
              <a:latin typeface="Calibri"/>
              <a:ea typeface="Calibri"/>
              <a:cs typeface="Calibri"/>
            </a:endParaRPr>
          </a:p>
          <a:p>
            <a:endParaRPr lang="en-US" sz="165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>It enables visual interactions with </a:t>
            </a:r>
            <a:r>
              <a:rPr lang="en-US" sz="1650">
                <a:latin typeface="Calibri"/>
                <a:ea typeface="Calibri"/>
                <a:cs typeface="Calibri"/>
              </a:rPr>
              <a:t>Windows applications</a:t>
            </a:r>
            <a:r>
              <a:rPr lang="en-US" sz="1650" dirty="0">
                <a:latin typeface="Calibri"/>
                <a:ea typeface="Calibri"/>
                <a:cs typeface="Calibri"/>
              </a:rPr>
              <a:t> without requiring DOM </a:t>
            </a:r>
            <a:r>
              <a:rPr lang="en-US" sz="1650">
                <a:latin typeface="Calibri"/>
                <a:ea typeface="Calibri"/>
                <a:cs typeface="Calibri"/>
              </a:rPr>
              <a:t>or browser</a:t>
            </a:r>
            <a:r>
              <a:rPr lang="en-US" sz="1650" dirty="0">
                <a:latin typeface="Calibri"/>
                <a:ea typeface="Calibri"/>
                <a:cs typeface="Calibri"/>
              </a:rPr>
              <a:t> access.</a:t>
            </a:r>
          </a:p>
          <a:p>
            <a:pPr marL="285750" indent="-285750">
              <a:buFont typeface="Arial,Sans-Serif"/>
              <a:buChar char="•"/>
            </a:pP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302946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Multi‑scale image matching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Full‑screen and region‑based OCR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Automated mouse, and keyboard input  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Built‑in display scaling detection.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578FCA2-4341-8926-B055-50ED9AB75E96}"/>
              </a:ext>
            </a:extLst>
          </p:cNvPr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/>
                <a:cs typeface="Cambria"/>
              </a:rPr>
              <a:t>Maintenance &amp; Shadowing — Progress Update</a:t>
            </a: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309350" y="1466657"/>
            <a:ext cx="5634250" cy="49533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717200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0F766E"/>
                </a:solidFill>
                <a:latin typeface="Arial"/>
                <a:cs typeface="Arial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717200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Received KT from the Everest team on test suites across all brands — suite ownership, execution strategy, and Jenkins auto-scheduled jobs.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Understood daily execution processes, regression cycles, and automation maintenance workflows.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Analyzing daily Sanity Suite failures and performing RCA across automation, environment, and application issues.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Investigating and resolving Regression Suite failures to improve stability and execution reliability.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Raised PRs for automation fixes covering both Desktop and Mobile test scenarios.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Collaborated with the team on framework components, execution dependencies, and reporting mechanisms.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Improved suite health by addressing script issues and validating fixes through re-execution.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Began reporting application bugs to the functional team to raise defects in JIRA.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>
            <a:extLst>
              <a:ext uri="{FF2B5EF4-FFF2-40B4-BE49-F238E27FC236}">
                <a16:creationId xmlns:a16="http://schemas.microsoft.com/office/drawing/2014/main" id="{C5A9660D-A3ED-6B4E-3AD7-F605FC9873D3}"/>
              </a:ext>
            </a:extLst>
          </p:cNvPr>
          <p:cNvSpPr/>
          <p:nvPr/>
        </p:nvSpPr>
        <p:spPr>
          <a:xfrm>
            <a:off x="6505352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B45309"/>
                </a:solidFill>
                <a:latin typeface="Arial"/>
                <a:cs typeface="Arial"/>
              </a:rPr>
              <a:t>REGRESSION SUITE — SPRINT 26.16 / 26.17</a:t>
            </a:r>
            <a:endParaRPr lang="en-US"/>
          </a:p>
        </p:txBody>
      </p:sp>
      <p:sp>
        <p:nvSpPr>
          <p:cNvPr id="32" name="Right Body">
            <a:extLst>
              <a:ext uri="{FF2B5EF4-FFF2-40B4-BE49-F238E27FC236}">
                <a16:creationId xmlns:a16="http://schemas.microsoft.com/office/drawing/2014/main" id="{6B41F37E-34CE-D59B-62DA-F40671229F99}"/>
              </a:ext>
            </a:extLst>
          </p:cNvPr>
          <p:cNvSpPr/>
          <p:nvPr/>
        </p:nvSpPr>
        <p:spPr>
          <a:xfrm>
            <a:off x="6505352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Automation scripting completed in Sprint 26.16 for AT and Loft — both Desktop and Mobile Web.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Jenkins job triggered, achieving an </a:t>
            </a:r>
            <a:r>
              <a:rPr lang="en-US" sz="1200" b="1" dirty="0">
                <a:solidFill>
                  <a:srgbClr val="0F766E"/>
                </a:solidFill>
                <a:latin typeface="Times New Roman"/>
                <a:cs typeface="Times New Roman"/>
              </a:rPr>
              <a:t>84–85% pass rate</a:t>
            </a: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Report shared with the Everest Automation team for approval on </a:t>
            </a:r>
            <a:r>
              <a:rPr lang="en-US" sz="1200" b="1" dirty="0">
                <a:solidFill>
                  <a:srgbClr val="0F2742"/>
                </a:solidFill>
                <a:latin typeface="Times New Roman"/>
                <a:cs typeface="Times New Roman"/>
              </a:rPr>
              <a:t>PR #1652</a:t>
            </a: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Failures observed with Hover functionality in existing and new test steps — under investigation for earliest resolution.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Received TC update for Sprint 26.17 following Everest Functional team review and approval.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Started analysis on Sprint 26.17 TCs to plan automation scripting.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7" name="Snip Diagonal Corner Rectangle 15">
            <a:extLst>
              <a:ext uri="{FF2B5EF4-FFF2-40B4-BE49-F238E27FC236}">
                <a16:creationId xmlns:a16="http://schemas.microsoft.com/office/drawing/2014/main" id="{5B65FC3C-9B59-FAFF-6330-BAFA30E7BB14}"/>
              </a:ext>
            </a:extLst>
          </p:cNvPr>
          <p:cNvSpPr/>
          <p:nvPr/>
        </p:nvSpPr>
        <p:spPr>
          <a:xfrm>
            <a:off x="755245" y="496373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7030A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853216" y="365745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Architectural Diagram</a:t>
            </a: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49" y="331219"/>
            <a:ext cx="11363472" cy="99411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3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Generation &amp; AI Fallback Strategy</a:t>
            </a:r>
            <a:endParaRPr lang="en-US" sz="2133"/>
          </a:p>
          <a:p>
            <a:pPr algn="l"/>
            <a:endParaRPr lang="en-US" sz="3733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251093" y="1110401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3200" b="1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1553555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743874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483360" y="3861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72318" y="4102036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060609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472316" y="5177935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50228" y="5537942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> manual effort in locator creation, improves locator reliability, accelerates automation development, and generates automation-ready Page Object Model (POM) code with higher maintainability.</a:t>
            </a:r>
            <a:endParaRPr lang="en-US" sz="3200" dirty="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2685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/>
                <a:ea typeface="Calibri"/>
                <a:cs typeface="Calibri"/>
              </a:rPr>
              <a:t>Architecture diagr</a:t>
            </a:r>
            <a:r>
              <a:rPr lang="en-US">
                <a:latin typeface="Calibri"/>
                <a:ea typeface="Calibri"/>
                <a:cs typeface="Calibri"/>
              </a:rPr>
              <a:t>am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3" y="970471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 – Intelligent Locator Generation &amp; AI Fallback Strategy </vt:lpstr>
      <vt:lpstr>Architecture diagram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145</cp:revision>
  <dcterms:created xsi:type="dcterms:W3CDTF">2026-06-17T07:36:54Z</dcterms:created>
  <dcterms:modified xsi:type="dcterms:W3CDTF">2026-06-17T10:31:47Z</dcterms:modified>
</cp:coreProperties>
</file>