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147481700" r:id="rId2"/>
    <p:sldId id="2147481687" r:id="rId3"/>
    <p:sldId id="2147481688" r:id="rId4"/>
    <p:sldId id="2147481685" r:id="rId5"/>
    <p:sldId id="2147481686" r:id="rId6"/>
    <p:sldId id="256" r:id="rId7"/>
    <p:sldId id="258" r:id="rId8"/>
    <p:sldId id="259" r:id="rId9"/>
    <p:sldId id="547" r:id="rId10"/>
    <p:sldId id="257" r:id="rId11"/>
    <p:sldId id="548" r:id="rId12"/>
    <p:sldId id="2147481689" r:id="rId13"/>
    <p:sldId id="214748170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98810-69C9-14B1-48A4-690314317EE1}" v="1246" dt="2026-06-17T12:40:26.849"/>
    <p1510:client id="{B15EBFFE-349D-8C10-95E0-E424CBE9D32E}" v="165" dt="2026-06-17T10:31:27.693"/>
    <p1510:client id="{B645BBBD-947A-7C72-9DBC-22B83B255327}" v="125" dt="2026-06-17T13:42:19.524"/>
    <p1510:client id="{B7263528-15EF-B1DA-ED32-01E89E2FDEFB}" v="4" dt="2026-06-17T10:16:06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EA6CB-C57E-491A-96CE-B952AE6437D0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2779D-6FF1-4F24-9B7E-68862E79B2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3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5CF0-9107-1E7A-7813-E1EEEC21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74EB5-6A95-EA33-5112-482F1E9BA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7B44D8-5E48-3DAC-292F-754773A5D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D95B-5EE6-87AB-09AA-805ED285E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5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A6C11-E66C-A678-53C8-199576AF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5B1D7-E5C1-A8A2-D146-005C4705B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EE276-6D80-56F5-8422-B297E2E0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AC62C-F3A6-80C3-E222-6AAACDFC3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89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3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"/>
          <p:cNvSpPr txBox="1"/>
          <p:nvPr/>
        </p:nvSpPr>
        <p:spPr>
          <a:xfrm>
            <a:off x="735841" y="749243"/>
            <a:ext cx="8949440" cy="3162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>
                <a:latin typeface="+mj-lt"/>
                <a:ea typeface="+mj-ea"/>
                <a:cs typeface="+mj-cs"/>
              </a:rPr>
              <a:t>AUTOTOMATION</a:t>
            </a:r>
            <a:r>
              <a:rPr lang="en-US" sz="5200" b="1" kern="1200">
                <a:latin typeface="+mj-lt"/>
                <a:ea typeface="+mj-ea"/>
                <a:cs typeface="+mj-cs"/>
              </a:rPr>
              <a:t> </a:t>
            </a:r>
            <a:r>
              <a:rPr lang="en-US" sz="5200" b="1" kern="1200" dirty="0">
                <a:latin typeface="+mj-lt"/>
                <a:ea typeface="+mj-ea"/>
                <a:cs typeface="+mj-cs"/>
              </a:rPr>
              <a:t>ASSESSMENT &amp; ROADMAP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2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3" name="Subtitle"/>
          <p:cNvSpPr txBox="1"/>
          <p:nvPr/>
        </p:nvSpPr>
        <p:spPr>
          <a:xfrm>
            <a:off x="733806" y="3050687"/>
            <a:ext cx="8337135" cy="31807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Current architecture analysis –</a:t>
            </a:r>
            <a:r>
              <a:rPr lang="en-US" sz="2000" dirty="0">
                <a:solidFill>
                  <a:srgbClr val="7030A0"/>
                </a:solidFill>
              </a:rPr>
              <a:t> </a:t>
            </a:r>
            <a:r>
              <a:rPr lang="en-US" sz="2000" kern="1200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Workons</a:t>
            </a:r>
            <a:r>
              <a:rPr lang="en-US" sz="2000" kern="1200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– Future Roadmap</a:t>
            </a:r>
          </a:p>
        </p:txBody>
      </p:sp>
      <p:pic>
        <p:nvPicPr>
          <p:cNvPr id="5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0217" y="-4976"/>
            <a:ext cx="958087" cy="1128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1484" y="24888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37" name="Shape 26"/>
          <p:cNvSpPr/>
          <p:nvPr/>
        </p:nvSpPr>
        <p:spPr>
          <a:xfrm>
            <a:off x="628174" y="136255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1405414" y="1527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Multiple Frameworks Across Applications</a:t>
            </a:r>
            <a:endParaRPr lang="en-US"/>
          </a:p>
        </p:txBody>
      </p:sp>
      <p:sp>
        <p:nvSpPr>
          <p:cNvPr id="40" name="Text 28"/>
          <p:cNvSpPr/>
          <p:nvPr/>
        </p:nvSpPr>
        <p:spPr>
          <a:xfrm>
            <a:off x="1405414" y="179593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Different implementations and standards across projects (BDD, TestNG, etc.).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28174" y="2642711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1405414" y="280730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Obsolete and Redundant Components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4" name="Text 31"/>
          <p:cNvSpPr/>
          <p:nvPr/>
        </p:nvSpPr>
        <p:spPr>
          <a:xfrm>
            <a:off x="1405414" y="2992755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Some suites and utilities are no longer actively maintained, and deprecated test cases continue to exist in execution suites.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Shape 26">
            <a:extLst>
              <a:ext uri="{FF2B5EF4-FFF2-40B4-BE49-F238E27FC236}">
                <a16:creationId xmlns:a16="http://schemas.microsoft.com/office/drawing/2014/main" id="{16D39BB3-7D13-32A3-4AF6-BD0BC9E53EA0}"/>
              </a:ext>
            </a:extLst>
          </p:cNvPr>
          <p:cNvSpPr/>
          <p:nvPr/>
        </p:nvSpPr>
        <p:spPr>
          <a:xfrm>
            <a:off x="616267" y="399383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EF790842-76F3-E59F-3FDA-2E237B875D5F}"/>
              </a:ext>
            </a:extLst>
          </p:cNvPr>
          <p:cNvSpPr/>
          <p:nvPr/>
        </p:nvSpPr>
        <p:spPr>
          <a:xfrm>
            <a:off x="1286351" y="4194143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/>
                <a:cs typeface="Arial"/>
              </a:rPr>
              <a:t>Fragmented Architecture</a:t>
            </a:r>
            <a:endParaRPr lang="en-US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E3A7470E-F3DD-9400-9202-5B9E8F5622E2}"/>
              </a:ext>
            </a:extLst>
          </p:cNvPr>
          <p:cNvSpPr/>
          <p:nvPr/>
        </p:nvSpPr>
        <p:spPr>
          <a:xfrm>
            <a:off x="1286351" y="446293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Business logic, element interactions, and utilities are distributed across multiple layers, increasing complexity.</a:t>
            </a:r>
            <a:br>
              <a:rPr lang="en-US" sz="1200" b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D5505E07-3CBA-0701-6061-50FAD75E3FC5}"/>
              </a:ext>
            </a:extLst>
          </p:cNvPr>
          <p:cNvSpPr/>
          <p:nvPr/>
        </p:nvSpPr>
        <p:spPr>
          <a:xfrm>
            <a:off x="616267" y="5273992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30">
            <a:extLst>
              <a:ext uri="{FF2B5EF4-FFF2-40B4-BE49-F238E27FC236}">
                <a16:creationId xmlns:a16="http://schemas.microsoft.com/office/drawing/2014/main" id="{42EF9CD4-18A3-CFA0-8297-62DD56FF8C4E}"/>
              </a:ext>
            </a:extLst>
          </p:cNvPr>
          <p:cNvSpPr/>
          <p:nvPr/>
        </p:nvSpPr>
        <p:spPr>
          <a:xfrm>
            <a:off x="1238726" y="56052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High Maintenance Effort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48" name="Text 31">
            <a:extLst>
              <a:ext uri="{FF2B5EF4-FFF2-40B4-BE49-F238E27FC236}">
                <a16:creationId xmlns:a16="http://schemas.microsoft.com/office/drawing/2014/main" id="{0C7F19CA-E11A-8407-F1AD-8EE42E429E4C}"/>
              </a:ext>
            </a:extLst>
          </p:cNvPr>
          <p:cNvSpPr/>
          <p:nvPr/>
        </p:nvSpPr>
        <p:spPr>
          <a:xfrm>
            <a:off x="1226820" y="5743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Frequent locator updates increase maintenance overhead.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38DBD233-2792-7D6A-18E9-6EEEE224B9E1}"/>
              </a:ext>
            </a:extLst>
          </p:cNvPr>
          <p:cNvSpPr/>
          <p:nvPr/>
        </p:nvSpPr>
        <p:spPr>
          <a:xfrm>
            <a:off x="6164579" y="133873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53276B61-B6EC-7CDB-40BE-8F0327F96E6E}"/>
              </a:ext>
            </a:extLst>
          </p:cNvPr>
          <p:cNvSpPr/>
          <p:nvPr/>
        </p:nvSpPr>
        <p:spPr>
          <a:xfrm>
            <a:off x="6941819" y="150333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Inconsistent Test Data Management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01726A88-2C74-4BA3-DA74-4F3444F438D6}"/>
              </a:ext>
            </a:extLst>
          </p:cNvPr>
          <p:cNvSpPr/>
          <p:nvPr/>
        </p:nvSpPr>
        <p:spPr>
          <a:xfrm>
            <a:off x="6941819" y="177212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Multiple test data sources and synchronization issues impact test reliability.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621AF893-8C16-BA1D-D367-A4D251BBAACD}"/>
              </a:ext>
            </a:extLst>
          </p:cNvPr>
          <p:cNvSpPr/>
          <p:nvPr/>
        </p:nvSpPr>
        <p:spPr>
          <a:xfrm>
            <a:off x="6164579" y="2618899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30">
            <a:extLst>
              <a:ext uri="{FF2B5EF4-FFF2-40B4-BE49-F238E27FC236}">
                <a16:creationId xmlns:a16="http://schemas.microsoft.com/office/drawing/2014/main" id="{103F7147-8033-75CF-F335-ABA70541D6E2}"/>
              </a:ext>
            </a:extLst>
          </p:cNvPr>
          <p:cNvSpPr/>
          <p:nvPr/>
        </p:nvSpPr>
        <p:spPr>
          <a:xfrm>
            <a:off x="6941819" y="2890647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Limited Test Traceability</a:t>
            </a:r>
          </a:p>
          <a:p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cs typeface="Arial"/>
            </a:endParaRPr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BD51EFD-A6F5-74E1-819E-E8D98085B59E}"/>
              </a:ext>
            </a:extLst>
          </p:cNvPr>
          <p:cNvSpPr/>
          <p:nvPr/>
        </p:nvSpPr>
        <p:spPr>
          <a:xfrm>
            <a:off x="6941819" y="307609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solidFill>
                  <a:srgbClr val="334155"/>
                </a:solidFill>
                <a:latin typeface="Arial"/>
                <a:ea typeface="Calibri"/>
                <a:cs typeface="Arial"/>
              </a:rPr>
              <a:t>Test cases are not functionally grouped, making maintenance and impact analysis difficult.</a:t>
            </a:r>
            <a:br>
              <a:rPr lang="en-US" sz="1200" b="1" dirty="0">
                <a:solidFill>
                  <a:srgbClr val="334155"/>
                </a:solidFill>
                <a:latin typeface="Arial"/>
                <a:ea typeface="Calibri"/>
                <a:cs typeface="Arial"/>
              </a:rPr>
            </a:b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5" name="Shape 26">
            <a:extLst>
              <a:ext uri="{FF2B5EF4-FFF2-40B4-BE49-F238E27FC236}">
                <a16:creationId xmlns:a16="http://schemas.microsoft.com/office/drawing/2014/main" id="{A9FD0EAB-A4CA-7179-0B55-B9B486BDDFCF}"/>
              </a:ext>
            </a:extLst>
          </p:cNvPr>
          <p:cNvSpPr/>
          <p:nvPr/>
        </p:nvSpPr>
        <p:spPr>
          <a:xfrm>
            <a:off x="6176485" y="392239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A1E829C6-07E6-4EA3-4577-DAFFD7E69BCF}"/>
              </a:ext>
            </a:extLst>
          </p:cNvPr>
          <p:cNvSpPr/>
          <p:nvPr/>
        </p:nvSpPr>
        <p:spPr>
          <a:xfrm>
            <a:off x="6953725" y="408698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0D9488"/>
                </a:solidFill>
                <a:latin typeface="Arial"/>
                <a:ea typeface="Calibri" panose="020F0502020204030204"/>
                <a:cs typeface="Arial"/>
              </a:rPr>
              <a:t>Insufficient Validation and Visibility</a:t>
            </a:r>
          </a:p>
          <a:p>
            <a:endParaRPr lang="en-US" sz="1200" b="1" kern="0" spc="200" dirty="0">
              <a:solidFill>
                <a:srgbClr val="0D9488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DED05D2C-518C-0141-4892-823684C996BA}"/>
              </a:ext>
            </a:extLst>
          </p:cNvPr>
          <p:cNvSpPr/>
          <p:nvPr/>
        </p:nvSpPr>
        <p:spPr>
          <a:xfrm>
            <a:off x="6953725" y="435578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Limited step-level verification and debugging capabilities.</a:t>
            </a:r>
            <a:br>
              <a:rPr lang="en-US" sz="1200" b="1" dirty="0">
                <a:latin typeface="Arial"/>
                <a:ea typeface="Calibri"/>
                <a:cs typeface="Arial"/>
              </a:rPr>
            </a:b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8" name="Shape 29">
            <a:extLst>
              <a:ext uri="{FF2B5EF4-FFF2-40B4-BE49-F238E27FC236}">
                <a16:creationId xmlns:a16="http://schemas.microsoft.com/office/drawing/2014/main" id="{4811431C-9BE1-F9CD-71FC-F1A76130DFEF}"/>
              </a:ext>
            </a:extLst>
          </p:cNvPr>
          <p:cNvSpPr/>
          <p:nvPr/>
        </p:nvSpPr>
        <p:spPr>
          <a:xfrm>
            <a:off x="6176485" y="5202554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4034E2FF-A043-8227-231F-EC350A82E9FB}"/>
              </a:ext>
            </a:extLst>
          </p:cNvPr>
          <p:cNvSpPr/>
          <p:nvPr/>
        </p:nvSpPr>
        <p:spPr>
          <a:xfrm>
            <a:off x="6953725" y="5414771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>
                <a:solidFill>
                  <a:srgbClr val="B45309"/>
                </a:solidFill>
                <a:latin typeface="Arial"/>
                <a:ea typeface="Calibri"/>
                <a:cs typeface="Arial"/>
              </a:rPr>
              <a:t>Lack of AI Adoption</a:t>
            </a:r>
          </a:p>
          <a:p>
            <a:pPr marL="0" indent="0">
              <a:buNone/>
            </a:pPr>
            <a:endParaRPr lang="en-US" sz="1200" b="1" kern="0" spc="200" dirty="0">
              <a:solidFill>
                <a:srgbClr val="B45309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A58D183C-0961-9333-7EF6-9BF90AA37C38}"/>
              </a:ext>
            </a:extLst>
          </p:cNvPr>
          <p:cNvSpPr/>
          <p:nvPr/>
        </p:nvSpPr>
        <p:spPr>
          <a:xfrm>
            <a:off x="6941819" y="563594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200" b="1">
                <a:latin typeface="Arial"/>
                <a:ea typeface="Calibri"/>
                <a:cs typeface="Arial"/>
              </a:rPr>
              <a:t>No AI-assisted failure analysis, test insights, or intelligent reporting.</a:t>
            </a:r>
          </a:p>
          <a:p>
            <a:pPr>
              <a:lnSpc>
                <a:spcPct val="105000"/>
              </a:lnSpc>
            </a:pPr>
            <a:endParaRPr lang="en-US" sz="1200" b="1" dirty="0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endParaRPr lang="en-US" sz="1200" b="1" dirty="0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0FCEA295-18AF-86B0-2524-64834159673A}"/>
              </a:ext>
            </a:extLst>
          </p:cNvPr>
          <p:cNvSpPr/>
          <p:nvPr/>
        </p:nvSpPr>
        <p:spPr>
          <a:xfrm>
            <a:off x="837137" y="755821"/>
            <a:ext cx="23813" cy="5604475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6" name="Shape 26">
            <a:extLst>
              <a:ext uri="{FF2B5EF4-FFF2-40B4-BE49-F238E27FC236}">
                <a16:creationId xmlns:a16="http://schemas.microsoft.com/office/drawing/2014/main" id="{D1FA572C-00E0-A175-77A9-C09322DFF626}"/>
              </a:ext>
            </a:extLst>
          </p:cNvPr>
          <p:cNvSpPr/>
          <p:nvPr/>
        </p:nvSpPr>
        <p:spPr>
          <a:xfrm>
            <a:off x="686591" y="1615735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898" name="Text 27">
            <a:extLst>
              <a:ext uri="{FF2B5EF4-FFF2-40B4-BE49-F238E27FC236}">
                <a16:creationId xmlns:a16="http://schemas.microsoft.com/office/drawing/2014/main" id="{7C30D1FE-C307-20B2-8C65-62703162022F}"/>
              </a:ext>
            </a:extLst>
          </p:cNvPr>
          <p:cNvSpPr/>
          <p:nvPr/>
        </p:nvSpPr>
        <p:spPr>
          <a:xfrm>
            <a:off x="677212" y="16157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1" name="Shape 35">
            <a:extLst>
              <a:ext uri="{FF2B5EF4-FFF2-40B4-BE49-F238E27FC236}">
                <a16:creationId xmlns:a16="http://schemas.microsoft.com/office/drawing/2014/main" id="{51F6DD7B-5492-B336-F59A-736EAE186842}"/>
              </a:ext>
            </a:extLst>
          </p:cNvPr>
          <p:cNvSpPr/>
          <p:nvPr/>
        </p:nvSpPr>
        <p:spPr>
          <a:xfrm>
            <a:off x="677212" y="2932471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3" name="Text 36">
            <a:extLst>
              <a:ext uri="{FF2B5EF4-FFF2-40B4-BE49-F238E27FC236}">
                <a16:creationId xmlns:a16="http://schemas.microsoft.com/office/drawing/2014/main" id="{AF873F65-5B36-3F0D-A0AD-B52924C7CB02}"/>
              </a:ext>
            </a:extLst>
          </p:cNvPr>
          <p:cNvSpPr/>
          <p:nvPr/>
        </p:nvSpPr>
        <p:spPr>
          <a:xfrm>
            <a:off x="677212" y="292309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5" name="Shape 44">
            <a:extLst>
              <a:ext uri="{FF2B5EF4-FFF2-40B4-BE49-F238E27FC236}">
                <a16:creationId xmlns:a16="http://schemas.microsoft.com/office/drawing/2014/main" id="{5C495621-4286-18BE-A7EA-D4872C57244E}"/>
              </a:ext>
            </a:extLst>
          </p:cNvPr>
          <p:cNvSpPr/>
          <p:nvPr/>
        </p:nvSpPr>
        <p:spPr>
          <a:xfrm>
            <a:off x="677212" y="4202314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07" name="Text 45">
            <a:extLst>
              <a:ext uri="{FF2B5EF4-FFF2-40B4-BE49-F238E27FC236}">
                <a16:creationId xmlns:a16="http://schemas.microsoft.com/office/drawing/2014/main" id="{F6D29A87-10A0-EB30-DB83-27E5234E8F87}"/>
              </a:ext>
            </a:extLst>
          </p:cNvPr>
          <p:cNvSpPr/>
          <p:nvPr/>
        </p:nvSpPr>
        <p:spPr>
          <a:xfrm>
            <a:off x="677212" y="419293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09" name="Shape 53">
            <a:extLst>
              <a:ext uri="{FF2B5EF4-FFF2-40B4-BE49-F238E27FC236}">
                <a16:creationId xmlns:a16="http://schemas.microsoft.com/office/drawing/2014/main" id="{114121C0-A4F9-EA23-28E2-BD0FB7267B44}"/>
              </a:ext>
            </a:extLst>
          </p:cNvPr>
          <p:cNvSpPr/>
          <p:nvPr/>
        </p:nvSpPr>
        <p:spPr>
          <a:xfrm>
            <a:off x="677212" y="5519050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1" name="Text 54">
            <a:extLst>
              <a:ext uri="{FF2B5EF4-FFF2-40B4-BE49-F238E27FC236}">
                <a16:creationId xmlns:a16="http://schemas.microsoft.com/office/drawing/2014/main" id="{C3614584-9CC3-928A-1D38-86126C82CAC2}"/>
              </a:ext>
            </a:extLst>
          </p:cNvPr>
          <p:cNvSpPr/>
          <p:nvPr/>
        </p:nvSpPr>
        <p:spPr>
          <a:xfrm>
            <a:off x="677212" y="550967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3" name="Shape 25">
            <a:extLst>
              <a:ext uri="{FF2B5EF4-FFF2-40B4-BE49-F238E27FC236}">
                <a16:creationId xmlns:a16="http://schemas.microsoft.com/office/drawing/2014/main" id="{BC875EAA-4D2F-8AD1-5D21-A498E2078B7C}"/>
              </a:ext>
            </a:extLst>
          </p:cNvPr>
          <p:cNvSpPr/>
          <p:nvPr/>
        </p:nvSpPr>
        <p:spPr>
          <a:xfrm>
            <a:off x="6468793" y="1291602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5" name="Shape 26">
            <a:extLst>
              <a:ext uri="{FF2B5EF4-FFF2-40B4-BE49-F238E27FC236}">
                <a16:creationId xmlns:a16="http://schemas.microsoft.com/office/drawing/2014/main" id="{BA84F695-B112-40CE-1051-B3287081F16C}"/>
              </a:ext>
            </a:extLst>
          </p:cNvPr>
          <p:cNvSpPr/>
          <p:nvPr/>
        </p:nvSpPr>
        <p:spPr>
          <a:xfrm>
            <a:off x="6258716" y="1639548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17" name="Text 27">
            <a:extLst>
              <a:ext uri="{FF2B5EF4-FFF2-40B4-BE49-F238E27FC236}">
                <a16:creationId xmlns:a16="http://schemas.microsoft.com/office/drawing/2014/main" id="{B8290147-23C2-9DFA-B722-ECC7B97C9362}"/>
              </a:ext>
            </a:extLst>
          </p:cNvPr>
          <p:cNvSpPr/>
          <p:nvPr/>
        </p:nvSpPr>
        <p:spPr>
          <a:xfrm>
            <a:off x="6249337" y="16395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19" name="Shape 35">
            <a:extLst>
              <a:ext uri="{FF2B5EF4-FFF2-40B4-BE49-F238E27FC236}">
                <a16:creationId xmlns:a16="http://schemas.microsoft.com/office/drawing/2014/main" id="{3EAE6EFC-17BC-815D-4F9E-A59011B4ECE4}"/>
              </a:ext>
            </a:extLst>
          </p:cNvPr>
          <p:cNvSpPr/>
          <p:nvPr/>
        </p:nvSpPr>
        <p:spPr>
          <a:xfrm>
            <a:off x="6249337" y="2956284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1" name="Text 36">
            <a:extLst>
              <a:ext uri="{FF2B5EF4-FFF2-40B4-BE49-F238E27FC236}">
                <a16:creationId xmlns:a16="http://schemas.microsoft.com/office/drawing/2014/main" id="{89B5811B-B485-A178-E529-542637157D45}"/>
              </a:ext>
            </a:extLst>
          </p:cNvPr>
          <p:cNvSpPr/>
          <p:nvPr/>
        </p:nvSpPr>
        <p:spPr>
          <a:xfrm>
            <a:off x="6249337" y="294690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3" name="Shape 44">
            <a:extLst>
              <a:ext uri="{FF2B5EF4-FFF2-40B4-BE49-F238E27FC236}">
                <a16:creationId xmlns:a16="http://schemas.microsoft.com/office/drawing/2014/main" id="{C027956A-34C5-6588-D95B-E2B4B989C88A}"/>
              </a:ext>
            </a:extLst>
          </p:cNvPr>
          <p:cNvSpPr/>
          <p:nvPr/>
        </p:nvSpPr>
        <p:spPr>
          <a:xfrm>
            <a:off x="6249337" y="4226127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5" name="Text 45">
            <a:extLst>
              <a:ext uri="{FF2B5EF4-FFF2-40B4-BE49-F238E27FC236}">
                <a16:creationId xmlns:a16="http://schemas.microsoft.com/office/drawing/2014/main" id="{F7884D3A-6986-B398-EF1F-DCB34D5BB806}"/>
              </a:ext>
            </a:extLst>
          </p:cNvPr>
          <p:cNvSpPr/>
          <p:nvPr/>
        </p:nvSpPr>
        <p:spPr>
          <a:xfrm>
            <a:off x="6249337" y="42167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927" name="Shape 53">
            <a:extLst>
              <a:ext uri="{FF2B5EF4-FFF2-40B4-BE49-F238E27FC236}">
                <a16:creationId xmlns:a16="http://schemas.microsoft.com/office/drawing/2014/main" id="{EAFD8B8F-75CF-5D46-16E8-E9411EA45049}"/>
              </a:ext>
            </a:extLst>
          </p:cNvPr>
          <p:cNvSpPr/>
          <p:nvPr/>
        </p:nvSpPr>
        <p:spPr>
          <a:xfrm>
            <a:off x="6249337" y="5542863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929" name="Text 54">
            <a:extLst>
              <a:ext uri="{FF2B5EF4-FFF2-40B4-BE49-F238E27FC236}">
                <a16:creationId xmlns:a16="http://schemas.microsoft.com/office/drawing/2014/main" id="{B3E15399-19A0-1132-40F6-658C7D1291C5}"/>
              </a:ext>
            </a:extLst>
          </p:cNvPr>
          <p:cNvSpPr/>
          <p:nvPr/>
        </p:nvSpPr>
        <p:spPr>
          <a:xfrm>
            <a:off x="6249337" y="55334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47EA7E8-6850-020F-9CFF-52FFD7BC08EB}"/>
              </a:ext>
            </a:extLst>
          </p:cNvPr>
          <p:cNvSpPr txBox="1">
            <a:spLocks/>
          </p:cNvSpPr>
          <p:nvPr/>
        </p:nvSpPr>
        <p:spPr>
          <a:xfrm>
            <a:off x="-276889" y="509813"/>
            <a:ext cx="11363472" cy="126188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  CHALLENGES IN THE CURRENT FRAMEWORK LANDSCAPE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150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2AFC7-C01D-1404-9F5F-6D51CD9A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95FE-BC9E-BB58-86CC-B3BDA8BBB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74" y="93094"/>
            <a:ext cx="11363472" cy="936154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ea typeface="Calibri"/>
                <a:cs typeface="Calibri"/>
              </a:rPr>
              <a:t>  Why aspire unified framework (AFTA)</a:t>
            </a:r>
          </a:p>
          <a:p>
            <a:pPr algn="ctr"/>
            <a:endParaRPr lang="en-US" sz="1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859F4701-5CFF-BD1C-0E71-7B0D4444DA38}"/>
              </a:ext>
            </a:extLst>
          </p:cNvPr>
          <p:cNvSpPr/>
          <p:nvPr/>
        </p:nvSpPr>
        <p:spPr>
          <a:xfrm>
            <a:off x="860949" y="1065383"/>
            <a:ext cx="0" cy="5092507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87841572-52F5-26BC-5699-83F5D0C96D10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709D1FA7-9B89-6503-4328-DFA746AE6CF9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AA4C2150-0DAB-9BC8-99E4-BFAC70F55839}"/>
              </a:ext>
            </a:extLst>
          </p:cNvPr>
          <p:cNvSpPr/>
          <p:nvPr/>
        </p:nvSpPr>
        <p:spPr>
          <a:xfrm>
            <a:off x="1263188" y="856401"/>
            <a:ext cx="10108096" cy="1351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>
                <a:ea typeface="Calibri"/>
                <a:cs typeface="Calibri"/>
              </a:rPr>
              <a:t>  AI-Powered Automation</a:t>
            </a:r>
          </a:p>
          <a:p>
            <a:endParaRPr lang="en-IN" sz="1600" dirty="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DC8ECF27-A7D6-452B-8433-19784D08AAC6}"/>
              </a:ext>
            </a:extLst>
          </p:cNvPr>
          <p:cNvSpPr/>
          <p:nvPr/>
        </p:nvSpPr>
        <p:spPr>
          <a:xfrm>
            <a:off x="1251093" y="1110401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900D0600-7DDC-C526-2013-6637C4E63893}"/>
              </a:ext>
            </a:extLst>
          </p:cNvPr>
          <p:cNvSpPr/>
          <p:nvPr/>
        </p:nvSpPr>
        <p:spPr>
          <a:xfrm>
            <a:off x="1514677" y="124041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50" b="1" dirty="0">
              <a:solidFill>
                <a:srgbClr val="0B1F3A"/>
              </a:solidFill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E3D33E17-FD40-E116-48FE-BBE2604DC4E8}"/>
              </a:ext>
            </a:extLst>
          </p:cNvPr>
          <p:cNvSpPr/>
          <p:nvPr/>
        </p:nvSpPr>
        <p:spPr>
          <a:xfrm>
            <a:off x="1515540" y="1251174"/>
            <a:ext cx="10319616" cy="81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AI Self-Healing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for automatic recovery from locator changes.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 dirty="0">
                <a:solidFill>
                  <a:srgbClr val="334155"/>
                </a:solidFill>
                <a:ea typeface="+mn-lt"/>
                <a:cs typeface="+mn-lt"/>
              </a:rPr>
              <a:t>AI </a:t>
            </a:r>
            <a:r>
              <a:rPr lang="en-US" sz="1600" b="1" dirty="0" err="1">
                <a:solidFill>
                  <a:srgbClr val="334155"/>
                </a:solidFill>
                <a:ea typeface="+mn-lt"/>
                <a:cs typeface="+mn-lt"/>
              </a:rPr>
              <a:t>AutoPOM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to generate and maintain page objects automatically.</a:t>
            </a:r>
            <a:endParaRPr 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Report Portal</a:t>
            </a:r>
            <a:r>
              <a:rPr lang="en-US" sz="1600" b="1" dirty="0">
                <a:solidFill>
                  <a:srgbClr val="000000"/>
                </a:solidFill>
                <a:ea typeface="+mn-lt"/>
                <a:cs typeface="+mn-lt"/>
              </a:rPr>
              <a:t>-Powered </a:t>
            </a:r>
            <a:r>
              <a:rPr lang="en-US" sz="1600" b="1" dirty="0">
                <a:ea typeface="+mn-lt"/>
                <a:cs typeface="+mn-lt"/>
              </a:rPr>
              <a:t>Analytics</a:t>
            </a:r>
            <a:r>
              <a:rPr lang="en-US" sz="1600" dirty="0">
                <a:ea typeface="+mn-lt"/>
                <a:cs typeface="+mn-lt"/>
              </a:rPr>
              <a:t> for AI-driven failure analysis, execution insights, and trend identification.</a:t>
            </a:r>
            <a:endParaRPr lang="en-US" dirty="0"/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2F815899-6A7D-243D-87C4-428BE3D55DDF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4C6A08F4-04C3-E156-FC3D-700DA6437DE3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DC29027D-EC50-336E-22E4-0F7098899710}"/>
              </a:ext>
            </a:extLst>
          </p:cNvPr>
          <p:cNvSpPr/>
          <p:nvPr/>
        </p:nvSpPr>
        <p:spPr>
          <a:xfrm>
            <a:off x="1251093" y="2427137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E1CA6206-071B-6C52-EC90-B3280644920E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779D3D3C-F0A3-E475-2325-65429321F181}"/>
              </a:ext>
            </a:extLst>
          </p:cNvPr>
          <p:cNvSpPr/>
          <p:nvPr/>
        </p:nvSpPr>
        <p:spPr>
          <a:xfrm>
            <a:off x="1527533" y="25444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One Framework Across Brands</a:t>
            </a:r>
            <a:endParaRPr lang="en-US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14FEE72C-F858-2520-4BC1-22A9A9BEB682}"/>
              </a:ext>
            </a:extLst>
          </p:cNvPr>
          <p:cNvSpPr/>
          <p:nvPr/>
        </p:nvSpPr>
        <p:spPr>
          <a:xfrm>
            <a:off x="1525807" y="2854429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Standardized automation framework across all brands, including </a:t>
            </a:r>
            <a:r>
              <a:rPr lang="en-US" sz="1600" dirty="0" err="1">
                <a:solidFill>
                  <a:srgbClr val="334155"/>
                </a:solidFill>
                <a:ea typeface="+mn-lt"/>
                <a:cs typeface="+mn-lt"/>
              </a:rPr>
              <a:t>Orpas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Reduced framework duplication and maintenance effort.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26E884E6-B5F2-BAE3-2231-42411D8E01E7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1B6C6D9E-DDB2-5F5B-70CB-19FF898AE93F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2F80FCC7-155B-8199-CB9A-1F735D093641}"/>
              </a:ext>
            </a:extLst>
          </p:cNvPr>
          <p:cNvSpPr/>
          <p:nvPr/>
        </p:nvSpPr>
        <p:spPr>
          <a:xfrm>
            <a:off x="1272128" y="3610827"/>
            <a:ext cx="10097053" cy="1264509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13D98402-2055-D79E-605C-7E3DEB8B634F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724B9BE5-0460-1FA0-83A5-2AF94630C376}"/>
              </a:ext>
            </a:extLst>
          </p:cNvPr>
          <p:cNvSpPr/>
          <p:nvPr/>
        </p:nvSpPr>
        <p:spPr>
          <a:xfrm>
            <a:off x="866503" y="360719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965" lvl="1"/>
            <a:endParaRPr lang="en-US" sz="1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 marL="608965" lvl="1"/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Modern Playwright-Based Architecture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CEDBA29A-A263-2D99-6AC1-0B828D77F3E8}"/>
              </a:ext>
            </a:extLst>
          </p:cNvPr>
          <p:cNvSpPr/>
          <p:nvPr/>
        </p:nvSpPr>
        <p:spPr>
          <a:xfrm>
            <a:off x="1532794" y="4017369"/>
            <a:ext cx="9529847" cy="8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Faster execution with </a:t>
            </a: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up to 60% improvement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compared to the current Selenium-based approach.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Built-in auto-wait mechanisms for improved stability.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Supports parallel execution for reduced regression cycle time.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877C3937-3FA8-996A-568B-0DE6FF783085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33C79688-7C3C-0A91-D9B9-FBF522FCF790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56269013-25E6-9A94-BF4B-0AEB3798EF2E}"/>
              </a:ext>
            </a:extLst>
          </p:cNvPr>
          <p:cNvSpPr/>
          <p:nvPr/>
        </p:nvSpPr>
        <p:spPr>
          <a:xfrm>
            <a:off x="1081760" y="5133180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D86BF7B7-8BCB-C44B-7BD0-11F19455E63C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BCE8CB76-ED5B-658D-5AD3-6D89E81E931D}"/>
              </a:ext>
            </a:extLst>
          </p:cNvPr>
          <p:cNvSpPr/>
          <p:nvPr/>
        </p:nvSpPr>
        <p:spPr>
          <a:xfrm>
            <a:off x="1520698" y="5056983"/>
            <a:ext cx="5691998" cy="15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Enhanced Debugging and Observability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5A87C387-C464-94C3-8D37-F91929225CA0}"/>
              </a:ext>
            </a:extLst>
          </p:cNvPr>
          <p:cNvSpPr/>
          <p:nvPr/>
        </p:nvSpPr>
        <p:spPr>
          <a:xfrm>
            <a:off x="1534896" y="5211373"/>
            <a:ext cx="10302788" cy="1286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94715" lvl="1" indent="-285750">
              <a:buFont typeface="Arial,Sans-Serif"/>
              <a:buChar char="•"/>
            </a:pPr>
            <a:r>
              <a:rPr lang="en-US" sz="1600" b="1">
                <a:solidFill>
                  <a:srgbClr val="334155"/>
                </a:solidFill>
                <a:ea typeface="+mn-lt"/>
                <a:cs typeface="+mn-lt"/>
              </a:rPr>
              <a:t>Trace Viewer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 – Replay test execution step-by-step with screenshots, network calls, DOM snapshots, and timings for faster root cause analysis.</a:t>
            </a:r>
            <a:endParaRPr lang="en-US" sz="1600">
              <a:ea typeface="+mn-lt"/>
              <a:cs typeface="+mn-lt"/>
            </a:endParaRPr>
          </a:p>
          <a:p>
            <a:pPr marL="894715" lvl="1" indent="-285750">
              <a:buFont typeface="Arial,Sans-Serif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Rich execution reports with screenshots and detailed logs.</a:t>
            </a:r>
            <a:endParaRPr lang="en-US">
              <a:solidFill>
                <a:srgbClr val="334155"/>
              </a:solidFill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D3BD119-D15F-561B-F812-1B91AC737EF9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476698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E174-C077-4DC5-F9F0-E22215293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32ECF-31D5-9837-E674-31CCE19D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830" y="271688"/>
            <a:ext cx="11363472" cy="970009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Auto POM – Intelligent Locator &amp; AI Fallback Strategy</a:t>
            </a:r>
            <a:endParaRPr lang="en-US" sz="2800">
              <a:ea typeface="Calibri"/>
              <a:cs typeface="Calibri"/>
            </a:endParaRPr>
          </a:p>
          <a:p>
            <a:pPr algn="l"/>
            <a:endParaRPr lang="en-US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5">
            <a:extLst>
              <a:ext uri="{FF2B5EF4-FFF2-40B4-BE49-F238E27FC236}">
                <a16:creationId xmlns:a16="http://schemas.microsoft.com/office/drawing/2014/main" id="{9FB03789-EA4C-468D-22EA-63FCE0B6DA34}"/>
              </a:ext>
            </a:extLst>
          </p:cNvPr>
          <p:cNvSpPr/>
          <p:nvPr/>
        </p:nvSpPr>
        <p:spPr>
          <a:xfrm>
            <a:off x="908573" y="1101101"/>
            <a:ext cx="83344" cy="5533038"/>
          </a:xfrm>
          <a:prstGeom prst="line">
            <a:avLst/>
          </a:prstGeom>
          <a:noFill/>
          <a:ln w="19050">
            <a:solidFill>
              <a:srgbClr val="94A3B8"/>
            </a:solidFill>
            <a:prstDash val="sysDash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5" name="Shape 26">
            <a:extLst>
              <a:ext uri="{FF2B5EF4-FFF2-40B4-BE49-F238E27FC236}">
                <a16:creationId xmlns:a16="http://schemas.microsoft.com/office/drawing/2014/main" id="{238E79B3-C5C0-45FA-8C9F-81A8E5EAB703}"/>
              </a:ext>
            </a:extLst>
          </p:cNvPr>
          <p:cNvSpPr/>
          <p:nvPr/>
        </p:nvSpPr>
        <p:spPr>
          <a:xfrm>
            <a:off x="650872" y="1413329"/>
            <a:ext cx="438912" cy="438912"/>
          </a:xfrm>
          <a:prstGeom prst="ellipse">
            <a:avLst/>
          </a:prstGeom>
          <a:solidFill>
            <a:srgbClr val="0B7B8A"/>
          </a:solidFill>
          <a:ln w="12700">
            <a:solidFill>
              <a:srgbClr val="0B7B8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15A4EF62-EA28-9A1F-1A6D-2FF80A850457}"/>
              </a:ext>
            </a:extLst>
          </p:cNvPr>
          <p:cNvSpPr/>
          <p:nvPr/>
        </p:nvSpPr>
        <p:spPr>
          <a:xfrm>
            <a:off x="641493" y="14133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0FD05718-9435-7D86-E35F-54E4BDF2ACCA}"/>
              </a:ext>
            </a:extLst>
          </p:cNvPr>
          <p:cNvSpPr/>
          <p:nvPr/>
        </p:nvSpPr>
        <p:spPr>
          <a:xfrm>
            <a:off x="1513030" y="1848587"/>
            <a:ext cx="9834252" cy="65675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 lIns="121920" tIns="60960" rIns="121920" bIns="6096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>
              <a:ea typeface="Calibri"/>
              <a:cs typeface="Calibri"/>
            </a:endParaRPr>
          </a:p>
        </p:txBody>
      </p:sp>
      <p:sp>
        <p:nvSpPr>
          <p:cNvPr id="8" name="Shape 29">
            <a:extLst>
              <a:ext uri="{FF2B5EF4-FFF2-40B4-BE49-F238E27FC236}">
                <a16:creationId xmlns:a16="http://schemas.microsoft.com/office/drawing/2014/main" id="{B717982E-58EA-F547-CB5B-F42DF456D34F}"/>
              </a:ext>
            </a:extLst>
          </p:cNvPr>
          <p:cNvSpPr/>
          <p:nvPr/>
        </p:nvSpPr>
        <p:spPr>
          <a:xfrm>
            <a:off x="1251093" y="1836682"/>
            <a:ext cx="73152" cy="1097280"/>
          </a:xfrm>
          <a:prstGeom prst="rect">
            <a:avLst/>
          </a:prstGeom>
          <a:solidFill>
            <a:srgbClr val="0B7B8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258954FF-F99D-E04C-1CDC-BC534E49D84E}"/>
              </a:ext>
            </a:extLst>
          </p:cNvPr>
          <p:cNvSpPr/>
          <p:nvPr/>
        </p:nvSpPr>
        <p:spPr>
          <a:xfrm>
            <a:off x="1514677" y="1704763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0B1F3A"/>
                </a:solidFill>
                <a:ea typeface="+mn-lt"/>
                <a:cs typeface="+mn-lt"/>
              </a:rPr>
              <a:t>Objective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2" name="Text 32">
            <a:extLst>
              <a:ext uri="{FF2B5EF4-FFF2-40B4-BE49-F238E27FC236}">
                <a16:creationId xmlns:a16="http://schemas.microsoft.com/office/drawing/2014/main" id="{018173B2-4F31-F1DF-9A15-C8391A6ED3DA}"/>
              </a:ext>
            </a:extLst>
          </p:cNvPr>
          <p:cNvSpPr/>
          <p:nvPr/>
        </p:nvSpPr>
        <p:spPr>
          <a:xfrm>
            <a:off x="1515540" y="2017899"/>
            <a:ext cx="932780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+mn-lt"/>
                <a:cs typeface="+mn-lt"/>
              </a:rPr>
              <a:t>Automatically generate robust and maintainable Page Object Model (POM) locators and automation-ready code using a multi-level fallback strategy with AI assistance.</a:t>
            </a:r>
            <a:endParaRPr lang="en-US" sz="3200" dirty="0">
              <a:ea typeface="Calibri"/>
              <a:cs typeface="Calibri"/>
            </a:endParaRP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4377D589-44B7-9693-1DE7-76CCA6E452FD}"/>
              </a:ext>
            </a:extLst>
          </p:cNvPr>
          <p:cNvSpPr/>
          <p:nvPr/>
        </p:nvSpPr>
        <p:spPr>
          <a:xfrm>
            <a:off x="641493" y="2730065"/>
            <a:ext cx="438912" cy="43891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6" name="Text 36">
            <a:extLst>
              <a:ext uri="{FF2B5EF4-FFF2-40B4-BE49-F238E27FC236}">
                <a16:creationId xmlns:a16="http://schemas.microsoft.com/office/drawing/2014/main" id="{5861DF38-F9AE-BF0C-381C-09FC60631E32}"/>
              </a:ext>
            </a:extLst>
          </p:cNvPr>
          <p:cNvSpPr/>
          <p:nvPr/>
        </p:nvSpPr>
        <p:spPr>
          <a:xfrm>
            <a:off x="641493" y="272068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37">
            <a:extLst>
              <a:ext uri="{FF2B5EF4-FFF2-40B4-BE49-F238E27FC236}">
                <a16:creationId xmlns:a16="http://schemas.microsoft.com/office/drawing/2014/main" id="{89545F9F-C904-69CC-00D4-217D515054E8}"/>
              </a:ext>
            </a:extLst>
          </p:cNvPr>
          <p:cNvSpPr/>
          <p:nvPr/>
        </p:nvSpPr>
        <p:spPr>
          <a:xfrm>
            <a:off x="1215374" y="2772418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18" name="Shape 38">
            <a:extLst>
              <a:ext uri="{FF2B5EF4-FFF2-40B4-BE49-F238E27FC236}">
                <a16:creationId xmlns:a16="http://schemas.microsoft.com/office/drawing/2014/main" id="{44978283-304E-C465-2C10-6DA16BE33E28}"/>
              </a:ext>
            </a:extLst>
          </p:cNvPr>
          <p:cNvSpPr/>
          <p:nvPr/>
        </p:nvSpPr>
        <p:spPr>
          <a:xfrm>
            <a:off x="1251093" y="2427137"/>
            <a:ext cx="73152" cy="109728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1" name="Text 40">
            <a:extLst>
              <a:ext uri="{FF2B5EF4-FFF2-40B4-BE49-F238E27FC236}">
                <a16:creationId xmlns:a16="http://schemas.microsoft.com/office/drawing/2014/main" id="{63CE58A4-4C6D-2F5F-EFE0-A5EF9D378A36}"/>
              </a:ext>
            </a:extLst>
          </p:cNvPr>
          <p:cNvSpPr/>
          <p:nvPr/>
        </p:nvSpPr>
        <p:spPr>
          <a:xfrm>
            <a:off x="1503720" y="2949276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Locator Generation Priority</a:t>
            </a:r>
            <a:endParaRPr lang="en-US" sz="3200" b="1"/>
          </a:p>
        </p:txBody>
      </p:sp>
      <p:sp>
        <p:nvSpPr>
          <p:cNvPr id="22" name="Text 41">
            <a:extLst>
              <a:ext uri="{FF2B5EF4-FFF2-40B4-BE49-F238E27FC236}">
                <a16:creationId xmlns:a16="http://schemas.microsoft.com/office/drawing/2014/main" id="{0DD2FCB7-F5C1-F7F4-3F0A-3CFFEF1BD142}"/>
              </a:ext>
            </a:extLst>
          </p:cNvPr>
          <p:cNvSpPr/>
          <p:nvPr/>
        </p:nvSpPr>
        <p:spPr>
          <a:xfrm>
            <a:off x="1442463" y="3283054"/>
            <a:ext cx="9524587" cy="49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Uses a multi-level fallback approach to generate the most reliable locator by prioritizing ID, Name, Data Attributes, Accessibility Attributes, CSS Selectors, and XPath before invoking AI.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25" name="Shape 44">
            <a:extLst>
              <a:ext uri="{FF2B5EF4-FFF2-40B4-BE49-F238E27FC236}">
                <a16:creationId xmlns:a16="http://schemas.microsoft.com/office/drawing/2014/main" id="{0DD7EFC1-C29D-CB1A-FCD9-3F9150E83FFF}"/>
              </a:ext>
            </a:extLst>
          </p:cNvPr>
          <p:cNvSpPr/>
          <p:nvPr/>
        </p:nvSpPr>
        <p:spPr>
          <a:xfrm>
            <a:off x="641493" y="3999908"/>
            <a:ext cx="438912" cy="43891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6" name="Text 45">
            <a:extLst>
              <a:ext uri="{FF2B5EF4-FFF2-40B4-BE49-F238E27FC236}">
                <a16:creationId xmlns:a16="http://schemas.microsoft.com/office/drawing/2014/main" id="{4FE1FDF2-F306-FA2D-FBC3-F2E06FA5F921}"/>
              </a:ext>
            </a:extLst>
          </p:cNvPr>
          <p:cNvSpPr/>
          <p:nvPr/>
        </p:nvSpPr>
        <p:spPr>
          <a:xfrm>
            <a:off x="641493" y="39905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46">
            <a:extLst>
              <a:ext uri="{FF2B5EF4-FFF2-40B4-BE49-F238E27FC236}">
                <a16:creationId xmlns:a16="http://schemas.microsoft.com/office/drawing/2014/main" id="{6D6A3A69-BC0C-9451-303F-864A62730510}"/>
              </a:ext>
            </a:extLst>
          </p:cNvPr>
          <p:cNvSpPr/>
          <p:nvPr/>
        </p:nvSpPr>
        <p:spPr>
          <a:xfrm>
            <a:off x="1284223" y="3993905"/>
            <a:ext cx="10097053" cy="1119367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28" name="Shape 47">
            <a:extLst>
              <a:ext uri="{FF2B5EF4-FFF2-40B4-BE49-F238E27FC236}">
                <a16:creationId xmlns:a16="http://schemas.microsoft.com/office/drawing/2014/main" id="{E3645972-ABE4-8FC6-CDC8-C5B33BF29BD6}"/>
              </a:ext>
            </a:extLst>
          </p:cNvPr>
          <p:cNvSpPr/>
          <p:nvPr/>
        </p:nvSpPr>
        <p:spPr>
          <a:xfrm>
            <a:off x="1251093" y="3743873"/>
            <a:ext cx="73152" cy="1097280"/>
          </a:xfrm>
          <a:prstGeom prst="rect">
            <a:avLst/>
          </a:prstGeom>
          <a:solidFill>
            <a:srgbClr val="C8860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1" name="Text 49">
            <a:extLst>
              <a:ext uri="{FF2B5EF4-FFF2-40B4-BE49-F238E27FC236}">
                <a16:creationId xmlns:a16="http://schemas.microsoft.com/office/drawing/2014/main" id="{018ACF1D-4068-BE25-2210-84C65EC07343}"/>
              </a:ext>
            </a:extLst>
          </p:cNvPr>
          <p:cNvSpPr/>
          <p:nvPr/>
        </p:nvSpPr>
        <p:spPr>
          <a:xfrm>
            <a:off x="1507173" y="4146949"/>
            <a:ext cx="47548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AI Fallback Logic</a:t>
            </a:r>
            <a:endParaRPr lang="en-US" sz="3200" b="1"/>
          </a:p>
        </p:txBody>
      </p:sp>
      <p:sp>
        <p:nvSpPr>
          <p:cNvPr id="32" name="Text 50">
            <a:extLst>
              <a:ext uri="{FF2B5EF4-FFF2-40B4-BE49-F238E27FC236}">
                <a16:creationId xmlns:a16="http://schemas.microsoft.com/office/drawing/2014/main" id="{073F83F6-0847-7239-9CF5-B9A694E7F00E}"/>
              </a:ext>
            </a:extLst>
          </p:cNvPr>
          <p:cNvSpPr/>
          <p:nvPr/>
        </p:nvSpPr>
        <p:spPr>
          <a:xfrm>
            <a:off x="1436599" y="4411599"/>
            <a:ext cx="9590324" cy="662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When conventional locator strategies fail or return low-confidence results, AI analyzes the DOM structure, element attributes, and surrounding context to generate stable and maintainable locator recommendations.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35" name="Shape 53">
            <a:extLst>
              <a:ext uri="{FF2B5EF4-FFF2-40B4-BE49-F238E27FC236}">
                <a16:creationId xmlns:a16="http://schemas.microsoft.com/office/drawing/2014/main" id="{92234183-1418-918F-D735-3DE6C558454F}"/>
              </a:ext>
            </a:extLst>
          </p:cNvPr>
          <p:cNvSpPr/>
          <p:nvPr/>
        </p:nvSpPr>
        <p:spPr>
          <a:xfrm>
            <a:off x="641493" y="5316644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6" name="Text 54">
            <a:extLst>
              <a:ext uri="{FF2B5EF4-FFF2-40B4-BE49-F238E27FC236}">
                <a16:creationId xmlns:a16="http://schemas.microsoft.com/office/drawing/2014/main" id="{F821AFE3-4B90-7B5A-CF3A-08B896D23B1E}"/>
              </a:ext>
            </a:extLst>
          </p:cNvPr>
          <p:cNvSpPr/>
          <p:nvPr/>
        </p:nvSpPr>
        <p:spPr>
          <a:xfrm>
            <a:off x="641493" y="530726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7" name="Shape 55">
            <a:extLst>
              <a:ext uri="{FF2B5EF4-FFF2-40B4-BE49-F238E27FC236}">
                <a16:creationId xmlns:a16="http://schemas.microsoft.com/office/drawing/2014/main" id="{B6B2EDCB-8E12-D6F7-6422-F35ACEF3EF04}"/>
              </a:ext>
            </a:extLst>
          </p:cNvPr>
          <p:cNvSpPr/>
          <p:nvPr/>
        </p:nvSpPr>
        <p:spPr>
          <a:xfrm>
            <a:off x="1251093" y="5489234"/>
            <a:ext cx="10108096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38" name="Shape 56">
            <a:extLst>
              <a:ext uri="{FF2B5EF4-FFF2-40B4-BE49-F238E27FC236}">
                <a16:creationId xmlns:a16="http://schemas.microsoft.com/office/drawing/2014/main" id="{C9CDFDF6-9629-2E49-8FC1-49B02A034737}"/>
              </a:ext>
            </a:extLst>
          </p:cNvPr>
          <p:cNvSpPr/>
          <p:nvPr/>
        </p:nvSpPr>
        <p:spPr>
          <a:xfrm>
            <a:off x="1251093" y="5060609"/>
            <a:ext cx="73152" cy="10972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600"/>
          </a:p>
        </p:txBody>
      </p:sp>
      <p:sp>
        <p:nvSpPr>
          <p:cNvPr id="41" name="Text 58">
            <a:extLst>
              <a:ext uri="{FF2B5EF4-FFF2-40B4-BE49-F238E27FC236}">
                <a16:creationId xmlns:a16="http://schemas.microsoft.com/office/drawing/2014/main" id="{474F48AE-9707-AF00-AC46-73E67E5AC3E8}"/>
              </a:ext>
            </a:extLst>
          </p:cNvPr>
          <p:cNvSpPr/>
          <p:nvPr/>
        </p:nvSpPr>
        <p:spPr>
          <a:xfrm>
            <a:off x="1519941" y="5451779"/>
            <a:ext cx="5329141" cy="315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1">
                <a:solidFill>
                  <a:srgbClr val="0B1F3A"/>
                </a:solidFill>
                <a:ea typeface="+mn-lt"/>
                <a:cs typeface="+mn-lt"/>
              </a:rPr>
              <a:t>Key Benefits</a:t>
            </a:r>
            <a:endParaRPr lang="en-US" sz="3200" b="1"/>
          </a:p>
        </p:txBody>
      </p:sp>
      <p:sp>
        <p:nvSpPr>
          <p:cNvPr id="42" name="Text 59">
            <a:extLst>
              <a:ext uri="{FF2B5EF4-FFF2-40B4-BE49-F238E27FC236}">
                <a16:creationId xmlns:a16="http://schemas.microsoft.com/office/drawing/2014/main" id="{E98938B9-F25C-0369-4C5F-FCEECC40EDF2}"/>
              </a:ext>
            </a:extLst>
          </p:cNvPr>
          <p:cNvSpPr/>
          <p:nvPr/>
        </p:nvSpPr>
        <p:spPr>
          <a:xfrm>
            <a:off x="1426415" y="5811786"/>
            <a:ext cx="9758504" cy="452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ea typeface="+mn-lt"/>
                <a:cs typeface="+mn-lt"/>
              </a:rPr>
              <a:t>Reduces</a:t>
            </a:r>
            <a:r>
              <a:rPr lang="en-US" sz="1600" dirty="0">
                <a:ea typeface="+mn-lt"/>
                <a:cs typeface="+mn-lt"/>
              </a:rPr>
              <a:t> manual effort in locator creation, improves locator reliability, accelerates automation development, and generates automation-ready Page Object Model (POM) code with higher maintainability.</a:t>
            </a:r>
            <a:endParaRPr lang="en-US" sz="3200">
              <a:ea typeface="+mn-lt"/>
              <a:cs typeface="+mn-lt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B6A14EBF-56A6-0AF8-CE55-428A926629A4}"/>
              </a:ext>
            </a:extLst>
          </p:cNvPr>
          <p:cNvSpPr/>
          <p:nvPr/>
        </p:nvSpPr>
        <p:spPr>
          <a:xfrm>
            <a:off x="463296" y="97536"/>
            <a:ext cx="8534400" cy="63398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/>
          </a:p>
        </p:txBody>
      </p:sp>
      <p:sp>
        <p:nvSpPr>
          <p:cNvPr id="14" name="Text 32">
            <a:extLst>
              <a:ext uri="{FF2B5EF4-FFF2-40B4-BE49-F238E27FC236}">
                <a16:creationId xmlns:a16="http://schemas.microsoft.com/office/drawing/2014/main" id="{CCAC9A3C-5481-6208-9558-0CE1013EB6ED}"/>
              </a:ext>
            </a:extLst>
          </p:cNvPr>
          <p:cNvSpPr/>
          <p:nvPr/>
        </p:nvSpPr>
        <p:spPr>
          <a:xfrm>
            <a:off x="1432196" y="791555"/>
            <a:ext cx="9387339" cy="951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7030A0"/>
                </a:solidFill>
                <a:ea typeface="+mn-lt"/>
                <a:cs typeface="+mn-lt"/>
              </a:rPr>
              <a:t>Business Value – Creates production ready Page functions eliminating manual locator management and reducing script failures.</a:t>
            </a:r>
            <a:endParaRPr lang="en-US" sz="2000" b="1">
              <a:solidFill>
                <a:srgbClr val="7030A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935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5CF-361A-0552-347F-38E41148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868" y="459021"/>
            <a:ext cx="10334627" cy="456343"/>
          </a:xfr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ea typeface="Calibri"/>
                <a:cs typeface="Calibri"/>
              </a:rPr>
              <a:t>Autopom</a:t>
            </a:r>
            <a:r>
              <a:rPr lang="en-US" dirty="0">
                <a:ea typeface="Calibri"/>
                <a:cs typeface="Calibri"/>
              </a:rPr>
              <a:t>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347B-E45D-8AE6-EDD4-1F6B0BF52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05" y="1327659"/>
            <a:ext cx="11153915" cy="52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61520" cy="2697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03421" y="64598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77390" y="-1143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00" b="1" dirty="0">
              <a:solidFill>
                <a:srgbClr val="0F2742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361017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76000"/>
                  </a:schemeClr>
                </a:solidFill>
                <a:latin typeface="Arial"/>
                <a:ea typeface="Arial" pitchFamily="34" charset="-122"/>
                <a:cs typeface="Arial"/>
              </a:rPr>
              <a:t>Playwright · TypeScript · Azure OpenAI GPT-4.1</a:t>
            </a:r>
            <a:endParaRPr lang="en-US" sz="1600" b="1">
              <a:solidFill>
                <a:schemeClr val="accent1">
                  <a:lumMod val="76000"/>
                </a:schemeClr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FALLBACK CHAIN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0F766E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5029200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1 · DB Primary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2960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Stored locator resolved</a:t>
            </a:r>
            <a:endParaRPr lang="en-US" sz="1600" b="1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direct from elements table</a:t>
            </a:r>
            <a:endParaRPr lang="en-US" sz="1600" b="1">
              <a:latin typeface="Arial"/>
              <a:ea typeface="Calibri"/>
              <a:cs typeface="Arial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184" y="5426964"/>
            <a:ext cx="274320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105656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B45309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688" y="502920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4808" y="4898232"/>
            <a:ext cx="2506026" cy="667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2 · Smart Locators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379976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role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testId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 → text 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css</a:t>
            </a:r>
            <a:endParaRPr lang="en-US" sz="1600" b="1"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→ </a:t>
            </a:r>
            <a:r>
              <a:rPr lang="en-US" sz="1600" b="1" dirty="0" err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xpath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, placeholder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600" b="1" dirty="0">
              <a:solidFill>
                <a:srgbClr val="334155"/>
              </a:solidFill>
              <a:latin typeface="Arial"/>
              <a:cs typeface="Arial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26964"/>
            <a:ext cx="274320" cy="25603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662672" y="475488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EAEFF5"/>
          </a:solidFill>
          <a:ln w="15875">
            <a:solidFill>
              <a:srgbClr val="DC2626"/>
            </a:solidFill>
            <a:prstDash val="solid"/>
          </a:ln>
          <a:effectLst>
            <a:outerShdw blurRad="1016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502920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22792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  <a:latin typeface="Arial"/>
                <a:ea typeface="Arial" pitchFamily="34" charset="-122"/>
                <a:cs typeface="Arial"/>
              </a:rPr>
              <a:t>3 · AI Healing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7936992" y="5669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GPT-4.1 vision + DOM </a:t>
            </a:r>
            <a:r>
              <a:rPr lang="en-US" sz="1600" b="1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context, confidence</a:t>
            </a:r>
            <a:r>
              <a:rPr lang="en-US" sz="1600" b="1" dirty="0">
                <a:solidFill>
                  <a:srgbClr val="334155"/>
                </a:solidFill>
                <a:latin typeface="Arial"/>
                <a:ea typeface="Arial" pitchFamily="34" charset="-122"/>
                <a:cs typeface="Arial"/>
              </a:rPr>
              <a:t>-gated</a:t>
            </a:r>
            <a:endParaRPr lang="en-US" sz="1600" b="1" dirty="0">
              <a:latin typeface="Arial"/>
              <a:ea typeface="Calibri"/>
              <a:cs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54864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DELIVERS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548640" y="229514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2395728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43000" y="22585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suite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1143000" y="25511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Deterministic tiers absorb most UI changes; AI handles novel breaks.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309067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43000" y="2953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F2742"/>
                </a:solidFill>
                <a:latin typeface="Arial"/>
                <a:ea typeface="Calibri"/>
                <a:cs typeface="Arial"/>
              </a:rPr>
              <a:t>Lower flakiness &amp; upkeep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4300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Cuts manual selector maintenance and false failures substantially.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3785616"/>
            <a:ext cx="256032" cy="25603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43000" y="36484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end-to-end</a:t>
            </a:r>
            <a:endParaRPr lang="en-US" sz="1400" dirty="0"/>
          </a:p>
        </p:txBody>
      </p:sp>
      <p:sp>
        <p:nvSpPr>
          <p:cNvPr id="36" name="Text 25"/>
          <p:cNvSpPr/>
          <p:nvPr/>
        </p:nvSpPr>
        <p:spPr>
          <a:xfrm>
            <a:off x="1143000" y="38100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Proven against the live Ann Taylor staging funnel.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DF202ED5-DE62-30D2-B684-02AFBE2C4DD2}"/>
              </a:ext>
            </a:extLst>
          </p:cNvPr>
          <p:cNvSpPr/>
          <p:nvPr/>
        </p:nvSpPr>
        <p:spPr>
          <a:xfrm>
            <a:off x="893921" y="570355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7030A0"/>
                </a:solidFill>
                <a:latin typeface="Cambria"/>
                <a:ea typeface="Cambria"/>
              </a:rPr>
              <a:t>Business value – Fixing flaky tests on its own – Less </a:t>
            </a:r>
            <a:r>
              <a:rPr lang="en-US" sz="2000" b="1" dirty="0">
                <a:solidFill>
                  <a:srgbClr val="7030A0"/>
                </a:solidFill>
                <a:latin typeface="Cambria"/>
                <a:ea typeface="Cambria"/>
              </a:rPr>
              <a:t>maintenance - Faster releases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B499ED05-EE3F-354F-5218-66BAA637E934}"/>
              </a:ext>
            </a:extLst>
          </p:cNvPr>
          <p:cNvSpPr txBox="1">
            <a:spLocks/>
          </p:cNvSpPr>
          <p:nvPr/>
        </p:nvSpPr>
        <p:spPr>
          <a:xfrm>
            <a:off x="139830" y="45470"/>
            <a:ext cx="11792097" cy="7694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SELF HEALING – TEST AUTOMATION</a:t>
            </a:r>
          </a:p>
          <a:p>
            <a:pPr algn="ctr"/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605CC-F4A4-E939-07E1-47E66D26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F4787C-988B-CD63-DBCB-8B8790E657FB}"/>
              </a:ext>
            </a:extLst>
          </p:cNvPr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 dirty="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6875EE4-3CEC-97B7-7874-578D063429B7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6D273D0-04A2-65DE-AEFF-E8EAFAA2FDE2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 dirty="0">
              <a:solidFill>
                <a:srgbClr val="0F2742"/>
              </a:solidFill>
              <a:latin typeface="Arial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14A0F82C-4E09-45E4-0402-81B6861D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pic>
        <p:nvPicPr>
          <p:cNvPr id="6" name="Picture 5" descr="Architecture diagram of self Healing ">
            <a:extLst>
              <a:ext uri="{FF2B5EF4-FFF2-40B4-BE49-F238E27FC236}">
                <a16:creationId xmlns:a16="http://schemas.microsoft.com/office/drawing/2014/main" id="{A4A00CEC-06C1-F04F-4925-C8042D1A43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9"/>
          <a:stretch>
            <a:fillRect/>
          </a:stretch>
        </p:blipFill>
        <p:spPr>
          <a:xfrm>
            <a:off x="2612232" y="565487"/>
            <a:ext cx="6968343" cy="6211048"/>
          </a:xfrm>
          <a:prstGeom prst="rect">
            <a:avLst/>
          </a:prstGeom>
        </p:spPr>
      </p:pic>
      <p:sp>
        <p:nvSpPr>
          <p:cNvPr id="5" name="Snip Diagonal Corner Rectangle 15">
            <a:extLst>
              <a:ext uri="{FF2B5EF4-FFF2-40B4-BE49-F238E27FC236}">
                <a16:creationId xmlns:a16="http://schemas.microsoft.com/office/drawing/2014/main" id="{2B4494C9-1FC5-409B-820E-DCE03D2FA86D}"/>
              </a:ext>
            </a:extLst>
          </p:cNvPr>
          <p:cNvSpPr/>
          <p:nvPr/>
        </p:nvSpPr>
        <p:spPr>
          <a:xfrm>
            <a:off x="4341748" y="234776"/>
            <a:ext cx="4135161" cy="675948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SELF HEALING ARCHITECTURE</a:t>
            </a:r>
            <a:b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</a:b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797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1945481" y="736188"/>
            <a:ext cx="8111719" cy="7238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3000" b="1">
                <a:solidFill>
                  <a:srgbClr val="0F2742"/>
                </a:solidFill>
                <a:latin typeface="Cambria"/>
                <a:ea typeface="Cambria"/>
              </a:rPr>
              <a:t>IMAGE BASED AUTOMATION TOOL – VISOR</a:t>
            </a:r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  <a:p>
            <a:endParaRPr lang="en-US" sz="3000" b="1" dirty="0">
              <a:solidFill>
                <a:srgbClr val="0F2742"/>
              </a:solidFill>
              <a:latin typeface="Cambria"/>
              <a:ea typeface="Cambria"/>
            </a:endParaRPr>
          </a:p>
        </p:txBody>
      </p:sp>
      <p:pic>
        <p:nvPicPr>
          <p:cNvPr id="90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/>
          <p:cNvSpPr/>
          <p:nvPr/>
        </p:nvSpPr>
        <p:spPr>
          <a:xfrm>
            <a:off x="457200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Left Header"/>
          <p:cNvSpPr/>
          <p:nvPr/>
        </p:nvSpPr>
        <p:spPr>
          <a:xfrm>
            <a:off x="490982" y="1915719"/>
            <a:ext cx="5037837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Visual Automation Framework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Left Body"/>
          <p:cNvSpPr/>
          <p:nvPr/>
        </p:nvSpPr>
        <p:spPr>
          <a:xfrm>
            <a:off x="871981" y="2837219"/>
            <a:ext cx="4811619" cy="3303719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Visor combines OpenCV image matching, </a:t>
            </a:r>
            <a:r>
              <a:rPr lang="en-US" sz="2000">
                <a:latin typeface="Calibri"/>
                <a:ea typeface="Calibri"/>
                <a:cs typeface="Calibri"/>
              </a:rPr>
              <a:t>OCR text</a:t>
            </a:r>
            <a:r>
              <a:rPr lang="en-US" sz="2000" dirty="0">
                <a:latin typeface="Calibri"/>
                <a:ea typeface="Calibri"/>
                <a:cs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</a:rPr>
              <a:t>recognition, mouse and keyboard automation</a:t>
            </a:r>
            <a:r>
              <a:rPr lang="en-US" sz="2000" dirty="0">
                <a:latin typeface="Calibri"/>
                <a:ea typeface="Calibri"/>
                <a:cs typeface="Calibri"/>
              </a:rPr>
              <a:t>, and desktop application control into one Node.js package. 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endParaRPr lang="en-US" sz="20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It enables visual interactions with </a:t>
            </a:r>
            <a:r>
              <a:rPr lang="en-US" sz="2000">
                <a:latin typeface="Calibri"/>
                <a:ea typeface="Calibri"/>
                <a:cs typeface="Calibri"/>
              </a:rPr>
              <a:t>Windows applications</a:t>
            </a:r>
            <a:r>
              <a:rPr lang="en-US" sz="2000" dirty="0">
                <a:latin typeface="Calibri"/>
                <a:ea typeface="Calibri"/>
                <a:cs typeface="Calibri"/>
              </a:rPr>
              <a:t> without requiring DOM </a:t>
            </a:r>
            <a:r>
              <a:rPr lang="en-US" sz="2000">
                <a:latin typeface="Calibri"/>
                <a:ea typeface="Calibri"/>
                <a:cs typeface="Calibri"/>
              </a:rPr>
              <a:t>or browser</a:t>
            </a:r>
            <a:r>
              <a:rPr lang="en-US" sz="2000" dirty="0">
                <a:latin typeface="Calibri"/>
                <a:ea typeface="Calibri"/>
                <a:cs typeface="Calibri"/>
              </a:rPr>
              <a:t> access.</a:t>
            </a:r>
          </a:p>
          <a:p>
            <a:pPr marL="285750" indent="-285750">
              <a:buFont typeface="Arial,Sans-Serif"/>
              <a:buChar char="•"/>
            </a:pPr>
            <a:endParaRPr lang="en-US" sz="2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20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/>
          <p:cNvSpPr/>
          <p:nvPr/>
        </p:nvSpPr>
        <p:spPr>
          <a:xfrm>
            <a:off x="6245352" y="1660000"/>
            <a:ext cx="5486400" cy="4760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ight Header"/>
          <p:cNvSpPr/>
          <p:nvPr/>
        </p:nvSpPr>
        <p:spPr>
          <a:xfrm>
            <a:off x="6267228" y="1915719"/>
            <a:ext cx="5002118" cy="69290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/>
            <a:r>
              <a:rPr lang="en-US" sz="2000" b="1" kern="0" spc="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 Features</a:t>
            </a:r>
          </a:p>
          <a:p>
            <a:pPr marL="0" indent="0">
              <a:buNone/>
            </a:pPr>
            <a:endParaRPr lang="en-US" sz="2000" b="1" kern="0" spc="200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Right Body"/>
          <p:cNvSpPr/>
          <p:nvPr/>
        </p:nvSpPr>
        <p:spPr>
          <a:xfrm>
            <a:off x="6493446" y="2837219"/>
            <a:ext cx="4966400" cy="403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285750" indent="-285750">
              <a:buFont typeface="Arial,Sans-Serif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Multi‑scale image matching 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Full‑screen and region‑based OCR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Automated mouse, and keyboard input  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Barcode scanning.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Built‑in display scaling detection. 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sz="20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34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A568A22-5685-43B6-95D6-4DED64041462}"/>
              </a:ext>
            </a:extLst>
          </p:cNvPr>
          <p:cNvSpPr txBox="1"/>
          <p:nvPr/>
        </p:nvSpPr>
        <p:spPr>
          <a:xfrm>
            <a:off x="9123994" y="1132919"/>
            <a:ext cx="231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77"/>
            <a:r>
              <a:rPr lang="en-US" sz="1600" b="1">
                <a:solidFill>
                  <a:srgbClr val="F2F2F5">
                    <a:lumMod val="2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29AEBC-73CA-7AC5-6EF6-6AF8F86FB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75" y="1045917"/>
            <a:ext cx="11042248" cy="5689337"/>
          </a:xfrm>
          <a:prstGeom prst="rect">
            <a:avLst/>
          </a:prstGeom>
        </p:spPr>
      </p:pic>
      <p:sp>
        <p:nvSpPr>
          <p:cNvPr id="8" name="Snip Diagonal Corner Rectangle 15">
            <a:extLst>
              <a:ext uri="{FF2B5EF4-FFF2-40B4-BE49-F238E27FC236}">
                <a16:creationId xmlns:a16="http://schemas.microsoft.com/office/drawing/2014/main" id="{B32E4883-13E1-C80E-8C50-35087D7D3CC5}"/>
              </a:ext>
            </a:extLst>
          </p:cNvPr>
          <p:cNvSpPr/>
          <p:nvPr/>
        </p:nvSpPr>
        <p:spPr>
          <a:xfrm>
            <a:off x="4365561" y="318120"/>
            <a:ext cx="3468412" cy="50926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bg2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spcFirstLastPara="0" vert="horz" wrap="square" lIns="121920" tIns="44127" rIns="121920" bIns="44127" numCol="1" spcCol="1270" anchor="t" anchorCtr="0">
            <a:noAutofit/>
          </a:bodyPr>
          <a:lstStyle/>
          <a:p>
            <a:pPr defTabSz="355591"/>
            <a:r>
              <a:rPr lang="en-US" sz="24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 Light"/>
                <a:cs typeface="Calibri Light"/>
              </a:rPr>
              <a:t>VISOR ARCHITECTURE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43604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C61139-2DF3-5811-5EAB-538996CC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92399E-B3E9-BBA7-7AF0-B3327EA5F28E}"/>
              </a:ext>
            </a:extLst>
          </p:cNvPr>
          <p:cNvSpPr/>
          <p:nvPr/>
        </p:nvSpPr>
        <p:spPr>
          <a:xfrm>
            <a:off x="0" y="5028353"/>
            <a:ext cx="12196156" cy="22318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3EBDFA-C7C7-F40A-D879-AAC5DADB807A}"/>
              </a:ext>
            </a:extLst>
          </p:cNvPr>
          <p:cNvSpPr/>
          <p:nvPr/>
        </p:nvSpPr>
        <p:spPr>
          <a:xfrm>
            <a:off x="548640" y="6611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kern="0" spc="500">
              <a:solidFill>
                <a:srgbClr val="0D9488"/>
              </a:solidFill>
              <a:latin typeface="Arial"/>
              <a:cs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721923-09F3-02D8-1245-89AB1A580F45}"/>
              </a:ext>
            </a:extLst>
          </p:cNvPr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latin typeface="Cambria"/>
                <a:ea typeface="Cambria"/>
                <a:cs typeface="Calibri"/>
              </a:rPr>
              <a:t>AFTA Dashboard</a:t>
            </a:r>
            <a:r>
              <a:rPr lang="en-US" sz="2800" b="1">
                <a:solidFill>
                  <a:schemeClr val="accent5">
                    <a:lumMod val="76000"/>
                  </a:schemeClr>
                </a:solidFill>
                <a:latin typeface="Calibri"/>
                <a:ea typeface="Calibri"/>
                <a:cs typeface="Calibri"/>
              </a:rPr>
              <a:t> </a:t>
            </a:r>
            <a:endParaRPr lang="en-US" sz="2800">
              <a:solidFill>
                <a:schemeClr val="accent5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3400" b="1">
              <a:solidFill>
                <a:srgbClr val="0F2742"/>
              </a:solidFill>
              <a:latin typeface="Cambria"/>
              <a:ea typeface="Cambria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C708ED-431B-572B-510F-F2E4280C8915}"/>
              </a:ext>
            </a:extLst>
          </p:cNvPr>
          <p:cNvSpPr/>
          <p:nvPr/>
        </p:nvSpPr>
        <p:spPr>
          <a:xfrm>
            <a:off x="548640" y="107141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chemeClr val="bg1">
                    <a:lumMod val="49000"/>
                  </a:schemeClr>
                </a:solidFill>
                <a:latin typeface="Arial"/>
                <a:ea typeface="Calibri"/>
                <a:cs typeface="Arial"/>
              </a:rPr>
              <a:t>Unified Test Automation Platform for Execution, Reporting and Analytics</a:t>
            </a:r>
            <a:endParaRPr lang="en-US" sz="2000">
              <a:solidFill>
                <a:schemeClr val="bg1">
                  <a:lumMod val="49000"/>
                </a:schemeClr>
              </a:solidFill>
              <a:latin typeface="Arial"/>
              <a:ea typeface="Calibri"/>
              <a:cs typeface="Calibri"/>
            </a:endParaRPr>
          </a:p>
          <a:p>
            <a:endParaRPr lang="en-US" sz="1300">
              <a:solidFill>
                <a:srgbClr val="64748B"/>
              </a:solidFill>
              <a:latin typeface="Arial"/>
              <a:cs typeface="Arial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F04CA27-054F-2DC5-675B-73B6B8A434DC}"/>
              </a:ext>
            </a:extLst>
          </p:cNvPr>
          <p:cNvSpPr/>
          <p:nvPr/>
        </p:nvSpPr>
        <p:spPr>
          <a:xfrm>
            <a:off x="9930000" y="566928"/>
            <a:ext cx="1150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720DE9D-76D8-D7AD-3E9B-3B53BF4D8E91}"/>
              </a:ext>
            </a:extLst>
          </p:cNvPr>
          <p:cNvSpPr/>
          <p:nvPr/>
        </p:nvSpPr>
        <p:spPr>
          <a:xfrm>
            <a:off x="485140" y="513665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>
                <a:solidFill>
                  <a:srgbClr val="0D9488"/>
                </a:solidFill>
                <a:latin typeface="Arial"/>
                <a:cs typeface="Arial"/>
              </a:rPr>
              <a:t>TECH STACK</a:t>
            </a:r>
            <a:endParaRPr lang="en-US" sz="13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E0FD926-50E5-6AA1-BCF6-4A8331671995}"/>
              </a:ext>
            </a:extLst>
          </p:cNvPr>
          <p:cNvSpPr/>
          <p:nvPr/>
        </p:nvSpPr>
        <p:spPr>
          <a:xfrm>
            <a:off x="1508760" y="50292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B9D6C9C-99CC-A1BA-F9B7-708B7E87C675}"/>
              </a:ext>
            </a:extLst>
          </p:cNvPr>
          <p:cNvSpPr/>
          <p:nvPr/>
        </p:nvSpPr>
        <p:spPr>
          <a:xfrm>
            <a:off x="4707867" y="5294745"/>
            <a:ext cx="509386" cy="340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b="1">
              <a:solidFill>
                <a:srgbClr val="0F2742"/>
              </a:solidFill>
              <a:latin typeface="Arial"/>
              <a:cs typeface="Arial"/>
            </a:endParaRP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90A8B79-4B7B-0668-B7A1-D8C466C4A41D}"/>
              </a:ext>
            </a:extLst>
          </p:cNvPr>
          <p:cNvSpPr/>
          <p:nvPr/>
        </p:nvSpPr>
        <p:spPr>
          <a:xfrm>
            <a:off x="548640" y="139249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300">
                <a:solidFill>
                  <a:srgbClr val="0D9488"/>
                </a:solidFill>
                <a:latin typeface="Arial"/>
                <a:cs typeface="Arial"/>
              </a:rPr>
              <a:t>Features In AFTA:</a:t>
            </a:r>
            <a:endParaRPr lang="en-US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D9712328-0FF8-D35C-83DB-521B576FF969}"/>
              </a:ext>
            </a:extLst>
          </p:cNvPr>
          <p:cNvSpPr/>
          <p:nvPr/>
        </p:nvSpPr>
        <p:spPr>
          <a:xfrm>
            <a:off x="590974" y="195647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EE84D1DB-6D33-6FB9-4142-CE43B7F7D326}"/>
              </a:ext>
            </a:extLst>
          </p:cNvPr>
          <p:cNvSpPr/>
          <p:nvPr/>
        </p:nvSpPr>
        <p:spPr>
          <a:xfrm>
            <a:off x="1217083" y="195165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Test Runner</a:t>
            </a:r>
            <a:endParaRPr lang="en-US">
              <a:latin typeface="Aptos" panose="020B0004020202020204"/>
              <a:cs typeface="Arial"/>
            </a:endParaRPr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6F055932-9141-8068-E36E-78FB40DD3092}"/>
              </a:ext>
            </a:extLst>
          </p:cNvPr>
          <p:cNvSpPr/>
          <p:nvPr/>
        </p:nvSpPr>
        <p:spPr>
          <a:xfrm>
            <a:off x="1217083" y="2276009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64748B"/>
                </a:solidFill>
                <a:latin typeface="Arial"/>
                <a:cs typeface="Arial"/>
              </a:rPr>
              <a:t>Execute and monitor test suites with build history and report access</a:t>
            </a:r>
            <a:endParaRPr lang="en-US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50344F6F-FBBF-41F0-D249-0A1FDE102CB9}"/>
              </a:ext>
            </a:extLst>
          </p:cNvPr>
          <p:cNvSpPr/>
          <p:nvPr/>
        </p:nvSpPr>
        <p:spPr>
          <a:xfrm>
            <a:off x="590973" y="2672588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sp>
        <p:nvSpPr>
          <p:cNvPr id="31" name="Text 21">
            <a:extLst>
              <a:ext uri="{FF2B5EF4-FFF2-40B4-BE49-F238E27FC236}">
                <a16:creationId xmlns:a16="http://schemas.microsoft.com/office/drawing/2014/main" id="{9BC1B32A-1724-9C4E-64AC-4000B4BA779A}"/>
              </a:ext>
            </a:extLst>
          </p:cNvPr>
          <p:cNvSpPr/>
          <p:nvPr/>
        </p:nvSpPr>
        <p:spPr>
          <a:xfrm>
            <a:off x="1217083" y="2763011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Test Data Generator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664B4-5C26-F399-63F6-162C7EDF5B80}"/>
              </a:ext>
            </a:extLst>
          </p:cNvPr>
          <p:cNvSpPr/>
          <p:nvPr/>
        </p:nvSpPr>
        <p:spPr>
          <a:xfrm>
            <a:off x="1217083" y="294978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64748B"/>
                </a:solidFill>
                <a:latin typeface="Arial"/>
                <a:ea typeface="+mn-lt"/>
                <a:cs typeface="Arial"/>
              </a:rPr>
              <a:t>Generate reusable test data for faster execution.</a:t>
            </a:r>
            <a:r>
              <a:rPr lang="en-US" sz="1200" b="1">
                <a:solidFill>
                  <a:srgbClr val="64748B"/>
                </a:solidFill>
                <a:latin typeface="Arial"/>
                <a:ea typeface="Calibri"/>
                <a:cs typeface="Arial"/>
              </a:rPr>
              <a:t>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5A606240-7C8F-4C2F-6999-2192624A0B82}"/>
              </a:ext>
            </a:extLst>
          </p:cNvPr>
          <p:cNvSpPr/>
          <p:nvPr/>
        </p:nvSpPr>
        <p:spPr>
          <a:xfrm>
            <a:off x="601556" y="3304032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sp>
        <p:nvSpPr>
          <p:cNvPr id="35" name="Text 24">
            <a:extLst>
              <a:ext uri="{FF2B5EF4-FFF2-40B4-BE49-F238E27FC236}">
                <a16:creationId xmlns:a16="http://schemas.microsoft.com/office/drawing/2014/main" id="{5A29979B-DAAF-77AA-DA08-BEFC195C51E0}"/>
              </a:ext>
            </a:extLst>
          </p:cNvPr>
          <p:cNvSpPr/>
          <p:nvPr/>
        </p:nvSpPr>
        <p:spPr>
          <a:xfrm>
            <a:off x="1217083" y="3330955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742"/>
                </a:solidFill>
                <a:latin typeface="Arial"/>
                <a:cs typeface="Arial"/>
              </a:rPr>
              <a:t>Reports</a:t>
            </a:r>
            <a:endParaRPr lang="en-US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A41189EB-3191-151C-B349-5C1B8ADEE126}"/>
              </a:ext>
            </a:extLst>
          </p:cNvPr>
          <p:cNvSpPr/>
          <p:nvPr/>
        </p:nvSpPr>
        <p:spPr>
          <a:xfrm>
            <a:off x="1217083" y="347539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64748B"/>
                </a:solidFill>
                <a:latin typeface="Arial"/>
                <a:ea typeface="+mn-lt"/>
                <a:cs typeface="Arial"/>
              </a:rPr>
              <a:t>Centralized insights into execution results and trends</a:t>
            </a:r>
            <a:r>
              <a:rPr lang="en-US" sz="1200" b="1">
                <a:solidFill>
                  <a:srgbClr val="64748B"/>
                </a:solidFill>
                <a:latin typeface="Arial"/>
                <a:ea typeface="Arial" pitchFamily="34" charset="-122"/>
                <a:cs typeface="Arial"/>
              </a:rPr>
              <a:t>.</a:t>
            </a:r>
            <a:endParaRPr lang="en-US" sz="1200" b="1">
              <a:latin typeface="Arial"/>
              <a:ea typeface="Calibri"/>
              <a:cs typeface="Arial"/>
            </a:endParaRPr>
          </a:p>
        </p:txBody>
      </p:sp>
      <p:sp>
        <p:nvSpPr>
          <p:cNvPr id="37" name="Shape 26">
            <a:extLst>
              <a:ext uri="{FF2B5EF4-FFF2-40B4-BE49-F238E27FC236}">
                <a16:creationId xmlns:a16="http://schemas.microsoft.com/office/drawing/2014/main" id="{83DBE46C-B019-76A7-A02F-BA868E4FF9B3}"/>
              </a:ext>
            </a:extLst>
          </p:cNvPr>
          <p:cNvSpPr/>
          <p:nvPr/>
        </p:nvSpPr>
        <p:spPr>
          <a:xfrm>
            <a:off x="6302164" y="2213186"/>
            <a:ext cx="5480050" cy="1089575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8" name="Image 9" descr="preencoded.png">
            <a:extLst>
              <a:ext uri="{FF2B5EF4-FFF2-40B4-BE49-F238E27FC236}">
                <a16:creationId xmlns:a16="http://schemas.microsoft.com/office/drawing/2014/main" id="{CEF4D328-341C-DD15-428C-56B247CEC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362" y="2184908"/>
            <a:ext cx="384048" cy="384048"/>
          </a:xfrm>
          <a:prstGeom prst="rect">
            <a:avLst/>
          </a:prstGeom>
        </p:spPr>
      </p:pic>
      <p:sp>
        <p:nvSpPr>
          <p:cNvPr id="39" name="Text 27">
            <a:extLst>
              <a:ext uri="{FF2B5EF4-FFF2-40B4-BE49-F238E27FC236}">
                <a16:creationId xmlns:a16="http://schemas.microsoft.com/office/drawing/2014/main" id="{964FF14B-65C6-1E60-6EEB-8EC21B86F474}"/>
              </a:ext>
            </a:extLst>
          </p:cNvPr>
          <p:cNvSpPr/>
          <p:nvPr/>
        </p:nvSpPr>
        <p:spPr>
          <a:xfrm>
            <a:off x="6994737" y="227194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20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0D57A0E7-D665-6D4F-26BC-F69353495F89}"/>
              </a:ext>
            </a:extLst>
          </p:cNvPr>
          <p:cNvSpPr/>
          <p:nvPr/>
        </p:nvSpPr>
        <p:spPr>
          <a:xfrm>
            <a:off x="6994737" y="2462569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endParaRPr lang="en-US" sz="1200" b="1" dirty="0">
              <a:solidFill>
                <a:srgbClr val="334155"/>
              </a:solidFill>
              <a:latin typeface="Arial"/>
              <a:cs typeface="Arial"/>
            </a:endParaRPr>
          </a:p>
          <a:p>
            <a:pPr>
              <a:lnSpc>
                <a:spcPct val="105000"/>
              </a:lnSpc>
            </a:pPr>
            <a:r>
              <a:rPr lang="en-US" sz="1200" b="1" dirty="0">
                <a:solidFill>
                  <a:srgbClr val="334155"/>
                </a:solidFill>
                <a:latin typeface="Arial"/>
                <a:cs typeface="Arial"/>
              </a:rPr>
              <a:t>Implementation of multiple user login and User scheduling history with </a:t>
            </a:r>
            <a:r>
              <a:rPr lang="en-US" sz="1200" b="1" dirty="0" err="1">
                <a:solidFill>
                  <a:srgbClr val="334155"/>
                </a:solidFill>
                <a:latin typeface="Arial"/>
                <a:cs typeface="Arial"/>
              </a:rPr>
              <a:t>timesta</a:t>
            </a:r>
            <a:r>
              <a:rPr lang="en-US" sz="1200" b="1" dirty="0">
                <a:solidFill>
                  <a:srgbClr val="334155"/>
                </a:solidFill>
                <a:latin typeface="Arial"/>
                <a:cs typeface="Arial"/>
              </a:rPr>
              <a:t>mp</a:t>
            </a:r>
          </a:p>
        </p:txBody>
      </p:sp>
      <p:sp>
        <p:nvSpPr>
          <p:cNvPr id="41" name="Shape 29">
            <a:extLst>
              <a:ext uri="{FF2B5EF4-FFF2-40B4-BE49-F238E27FC236}">
                <a16:creationId xmlns:a16="http://schemas.microsoft.com/office/drawing/2014/main" id="{49B89240-3AE8-1714-2950-2C2787D1127C}"/>
              </a:ext>
            </a:extLst>
          </p:cNvPr>
          <p:cNvSpPr/>
          <p:nvPr/>
        </p:nvSpPr>
        <p:spPr>
          <a:xfrm>
            <a:off x="6344497" y="3588595"/>
            <a:ext cx="5480049" cy="1184826"/>
          </a:xfrm>
          <a:prstGeom prst="roundRect">
            <a:avLst>
              <a:gd name="adj" fmla="val 8475"/>
            </a:avLst>
          </a:prstGeom>
          <a:solidFill>
            <a:srgbClr val="EAEFF5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9651B394-3069-F8F0-603C-9D77F71C4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248" y="3586295"/>
            <a:ext cx="384048" cy="384048"/>
          </a:xfrm>
          <a:prstGeom prst="rect">
            <a:avLst/>
          </a:prstGeom>
        </p:spPr>
      </p:pic>
      <p:sp>
        <p:nvSpPr>
          <p:cNvPr id="43" name="Text 30">
            <a:extLst>
              <a:ext uri="{FF2B5EF4-FFF2-40B4-BE49-F238E27FC236}">
                <a16:creationId xmlns:a16="http://schemas.microsoft.com/office/drawing/2014/main" id="{B8DEA60E-10CF-66FA-FE0E-89E61D42233E}"/>
              </a:ext>
            </a:extLst>
          </p:cNvPr>
          <p:cNvSpPr/>
          <p:nvPr/>
        </p:nvSpPr>
        <p:spPr>
          <a:xfrm>
            <a:off x="7082289" y="362137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/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F7B20EB5-4E9B-AC9B-2303-B128B09312BC}"/>
              </a:ext>
            </a:extLst>
          </p:cNvPr>
          <p:cNvSpPr/>
          <p:nvPr/>
        </p:nvSpPr>
        <p:spPr>
          <a:xfrm>
            <a:off x="7083251" y="3970751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>
                <a:solidFill>
                  <a:srgbClr val="334155"/>
                </a:solidFill>
                <a:latin typeface="Arial"/>
                <a:cs typeface="Arial"/>
              </a:rPr>
              <a:t>AI-Powered Test Summaries </a:t>
            </a:r>
          </a:p>
          <a:p>
            <a:r>
              <a:rPr lang="en-US" sz="1200" b="1">
                <a:solidFill>
                  <a:srgbClr val="334155"/>
                </a:solidFill>
                <a:latin typeface="Arial"/>
                <a:cs typeface="Arial"/>
              </a:rPr>
              <a:t>AI-Based Failure Analysis</a:t>
            </a:r>
          </a:p>
          <a:p>
            <a:r>
              <a:rPr lang="en-US" sz="1200" b="1">
                <a:solidFill>
                  <a:srgbClr val="334155"/>
                </a:solidFill>
                <a:latin typeface="Arial"/>
                <a:cs typeface="Arial"/>
              </a:rPr>
              <a:t>Root Cause Suggestions 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200" b="1">
              <a:solidFill>
                <a:srgbClr val="334155"/>
              </a:solidFill>
              <a:latin typeface="Arial"/>
              <a:ea typeface="Calibri"/>
              <a:cs typeface="Arial"/>
            </a:endParaRPr>
          </a:p>
        </p:txBody>
      </p:sp>
      <p:pic>
        <p:nvPicPr>
          <p:cNvPr id="900" name="Brand Logo">
            <a:extLst>
              <a:ext uri="{FF2B5EF4-FFF2-40B4-BE49-F238E27FC236}">
                <a16:creationId xmlns:a16="http://schemas.microsoft.com/office/drawing/2014/main" id="{7745F82A-3CE8-06BA-57B8-898AC1440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5484" y="425085"/>
            <a:ext cx="548640" cy="646176"/>
          </a:xfrm>
          <a:prstGeom prst="rect">
            <a:avLst/>
          </a:prstGeom>
        </p:spPr>
      </p:pic>
      <p:sp>
        <p:nvSpPr>
          <p:cNvPr id="6" name="Shape 23">
            <a:extLst>
              <a:ext uri="{FF2B5EF4-FFF2-40B4-BE49-F238E27FC236}">
                <a16:creationId xmlns:a16="http://schemas.microsoft.com/office/drawing/2014/main" id="{43DBA775-111E-B9DD-D506-FFA237E8D645}"/>
              </a:ext>
            </a:extLst>
          </p:cNvPr>
          <p:cNvSpPr/>
          <p:nvPr/>
        </p:nvSpPr>
        <p:spPr>
          <a:xfrm>
            <a:off x="601556" y="3917864"/>
            <a:ext cx="457200" cy="457200"/>
          </a:xfrm>
          <a:prstGeom prst="ellipse">
            <a:avLst/>
          </a:prstGeom>
          <a:solidFill>
            <a:srgbClr val="0F766E">
              <a:alpha val="75000"/>
            </a:srgbClr>
          </a:solidFill>
          <a:ln/>
        </p:spPr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3DE75C-B7D3-B5D6-78FB-DD9F6119AFB2}"/>
              </a:ext>
            </a:extLst>
          </p:cNvPr>
          <p:cNvSpPr txBox="1"/>
          <p:nvPr/>
        </p:nvSpPr>
        <p:spPr>
          <a:xfrm>
            <a:off x="1090083" y="3937000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Scheduler </a:t>
            </a:r>
            <a:endParaRPr lang="en-US" sz="1400" b="1">
              <a:latin typeface="Arial"/>
              <a:cs typeface="Arial"/>
            </a:endParaRPr>
          </a:p>
          <a:p>
            <a:r>
              <a:rPr lang="en-US" sz="1200" b="1">
                <a:solidFill>
                  <a:srgbClr val="64748B"/>
                </a:solidFill>
                <a:latin typeface="Arial"/>
                <a:ea typeface="+mn-lt"/>
                <a:cs typeface="Arial"/>
              </a:rPr>
              <a:t>Automate recurring and parameterized test executions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77C648-F961-D0DF-5D9D-956E2044DF79}"/>
              </a:ext>
            </a:extLst>
          </p:cNvPr>
          <p:cNvSpPr txBox="1"/>
          <p:nvPr/>
        </p:nvSpPr>
        <p:spPr>
          <a:xfrm>
            <a:off x="9041052" y="3883122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 </a:t>
            </a:r>
            <a:r>
              <a:rPr lang="en-US" sz="1200" b="1">
                <a:solidFill>
                  <a:srgbClr val="334155"/>
                </a:solidFill>
                <a:latin typeface="Arial"/>
                <a:cs typeface="Arial"/>
              </a:rPr>
              <a:t>Test Data Management Tool​</a:t>
            </a:r>
          </a:p>
          <a:p>
            <a:r>
              <a:rPr lang="en-US" sz="1200" b="1">
                <a:solidFill>
                  <a:srgbClr val="334155"/>
                </a:solidFill>
                <a:latin typeface="Arial"/>
                <a:cs typeface="Arial"/>
              </a:rPr>
              <a:t>     Email &amp;Teams Notifications​</a:t>
            </a:r>
          </a:p>
          <a:p>
            <a:r>
              <a:rPr lang="en-US" sz="1200" b="1">
                <a:solidFill>
                  <a:srgbClr val="334155"/>
                </a:solidFill>
                <a:latin typeface="Arial"/>
                <a:cs typeface="Arial"/>
              </a:rPr>
              <a:t>     Flaky Test Detection ​</a:t>
            </a:r>
          </a:p>
          <a:p>
            <a:pPr algn="ctr"/>
            <a:endParaRPr lang="en-US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0160280E-DB53-16A6-5204-13A139E46861}"/>
              </a:ext>
            </a:extLst>
          </p:cNvPr>
          <p:cNvGraphicFramePr>
            <a:graphicFrameLocks noGrp="1"/>
          </p:cNvGraphicFramePr>
          <p:nvPr/>
        </p:nvGraphicFramePr>
        <p:xfrm>
          <a:off x="789785" y="5697505"/>
          <a:ext cx="10604378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962">
                  <a:extLst>
                    <a:ext uri="{9D8B030D-6E8A-4147-A177-3AD203B41FA5}">
                      <a16:colId xmlns:a16="http://schemas.microsoft.com/office/drawing/2014/main" val="257991179"/>
                    </a:ext>
                  </a:extLst>
                </a:gridCol>
                <a:gridCol w="1468861">
                  <a:extLst>
                    <a:ext uri="{9D8B030D-6E8A-4147-A177-3AD203B41FA5}">
                      <a16:colId xmlns:a16="http://schemas.microsoft.com/office/drawing/2014/main" val="3737988962"/>
                    </a:ext>
                  </a:extLst>
                </a:gridCol>
                <a:gridCol w="1514912">
                  <a:extLst>
                    <a:ext uri="{9D8B030D-6E8A-4147-A177-3AD203B41FA5}">
                      <a16:colId xmlns:a16="http://schemas.microsoft.com/office/drawing/2014/main" val="3234516299"/>
                    </a:ext>
                  </a:extLst>
                </a:gridCol>
                <a:gridCol w="1305066">
                  <a:extLst>
                    <a:ext uri="{9D8B030D-6E8A-4147-A177-3AD203B41FA5}">
                      <a16:colId xmlns:a16="http://schemas.microsoft.com/office/drawing/2014/main" val="64408704"/>
                    </a:ext>
                  </a:extLst>
                </a:gridCol>
                <a:gridCol w="1317858">
                  <a:extLst>
                    <a:ext uri="{9D8B030D-6E8A-4147-A177-3AD203B41FA5}">
                      <a16:colId xmlns:a16="http://schemas.microsoft.com/office/drawing/2014/main" val="2113656067"/>
                    </a:ext>
                  </a:extLst>
                </a:gridCol>
                <a:gridCol w="2123932">
                  <a:extLst>
                    <a:ext uri="{9D8B030D-6E8A-4147-A177-3AD203B41FA5}">
                      <a16:colId xmlns:a16="http://schemas.microsoft.com/office/drawing/2014/main" val="3742892743"/>
                    </a:ext>
                  </a:extLst>
                </a:gridCol>
                <a:gridCol w="1312787">
                  <a:extLst>
                    <a:ext uri="{9D8B030D-6E8A-4147-A177-3AD203B41FA5}">
                      <a16:colId xmlns:a16="http://schemas.microsoft.com/office/drawing/2014/main" val="42352733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Layer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896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UI</a:t>
                      </a:r>
                    </a:p>
                  </a:txBody>
                  <a:tcPr anchor="ctr">
                    <a:solidFill>
                      <a:srgbClr val="4896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Backend</a:t>
                      </a:r>
                      <a:endParaRPr lang="en-US" sz="1400" err="1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896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CI/CD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896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Reports    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896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Integrations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8969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 anchor="ctr">
                    <a:solidFill>
                      <a:srgbClr val="4896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058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Angular, TypeScript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Node.js, Express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Jenkins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JUnit XML, Allure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ReportPortal</a:t>
                      </a: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, SVN, </a:t>
                      </a:r>
                      <a:r>
                        <a:rPr lang="en-US" sz="1400" b="0" i="0" u="none" strike="noStrike" noProof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LambdaTest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SQLite</a:t>
                      </a:r>
                      <a:endParaRPr lang="en-US" sz="1400">
                        <a:solidFill>
                          <a:schemeClr val="tx1"/>
                        </a:solidFill>
                        <a:latin typeface="Arial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27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F04572-779B-6134-91B7-E6C774B41335}"/>
              </a:ext>
            </a:extLst>
          </p:cNvPr>
          <p:cNvSpPr txBox="1"/>
          <p:nvPr/>
        </p:nvSpPr>
        <p:spPr>
          <a:xfrm>
            <a:off x="658089" y="2020455"/>
            <a:ext cx="635001" cy="657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▶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7244D0-EA26-9882-3737-76F744AF8487}"/>
              </a:ext>
            </a:extLst>
          </p:cNvPr>
          <p:cNvSpPr txBox="1"/>
          <p:nvPr/>
        </p:nvSpPr>
        <p:spPr>
          <a:xfrm>
            <a:off x="577273" y="2759365"/>
            <a:ext cx="49645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📜</a:t>
            </a:r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AD1A0-9BAF-37D9-15FF-3E9107BDC6B1}"/>
              </a:ext>
            </a:extLst>
          </p:cNvPr>
          <p:cNvSpPr txBox="1"/>
          <p:nvPr/>
        </p:nvSpPr>
        <p:spPr>
          <a:xfrm>
            <a:off x="588819" y="3971637"/>
            <a:ext cx="6119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📅</a:t>
            </a:r>
          </a:p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AFA1F-29FA-749F-A4D1-EEA68393879D}"/>
              </a:ext>
            </a:extLst>
          </p:cNvPr>
          <p:cNvSpPr txBox="1"/>
          <p:nvPr/>
        </p:nvSpPr>
        <p:spPr>
          <a:xfrm>
            <a:off x="588818" y="3382818"/>
            <a:ext cx="5541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📊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0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D507A-2D77-3ADB-F0F5-99859CE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9A797ED6-A9FD-37C4-420C-74DAB6DA4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20" name="Left Card">
            <a:extLst>
              <a:ext uri="{FF2B5EF4-FFF2-40B4-BE49-F238E27FC236}">
                <a16:creationId xmlns:a16="http://schemas.microsoft.com/office/drawing/2014/main" id="{FE676726-77A2-381B-F0C3-FE529C544A07}"/>
              </a:ext>
            </a:extLst>
          </p:cNvPr>
          <p:cNvSpPr/>
          <p:nvPr/>
        </p:nvSpPr>
        <p:spPr>
          <a:xfrm>
            <a:off x="452225" y="978500"/>
            <a:ext cx="5241345" cy="3084063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1" name="Left Header">
            <a:extLst>
              <a:ext uri="{FF2B5EF4-FFF2-40B4-BE49-F238E27FC236}">
                <a16:creationId xmlns:a16="http://schemas.microsoft.com/office/drawing/2014/main" id="{681F642D-4276-B9AB-EE80-80858C6ECCC9}"/>
              </a:ext>
            </a:extLst>
          </p:cNvPr>
          <p:cNvSpPr/>
          <p:nvPr/>
        </p:nvSpPr>
        <p:spPr>
          <a:xfrm>
            <a:off x="645762" y="998939"/>
            <a:ext cx="5228337" cy="71671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 dirty="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MAINTENANCE &amp; SHADOWING ACTIVITIES</a:t>
            </a:r>
          </a:p>
        </p:txBody>
      </p:sp>
      <p:sp>
        <p:nvSpPr>
          <p:cNvPr id="22" name="Left Body">
            <a:extLst>
              <a:ext uri="{FF2B5EF4-FFF2-40B4-BE49-F238E27FC236}">
                <a16:creationId xmlns:a16="http://schemas.microsoft.com/office/drawing/2014/main" id="{5925914A-EC23-859D-2043-74D41D7F9EA3}"/>
              </a:ext>
            </a:extLst>
          </p:cNvPr>
          <p:cNvSpPr/>
          <p:nvPr/>
        </p:nvSpPr>
        <p:spPr>
          <a:xfrm>
            <a:off x="633855" y="1682313"/>
            <a:ext cx="4406809" cy="1744001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Received KT from the Everest team on test suites across all brands — suite ownership, execution strategy, and Jenkins auto-scheduled jobs.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Understood daily execution processes, regression cycles, and automation maintenance workflows.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Analyzing daily Sanity Suite failures and performing RCA across automation, environment, and application issues.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182880" indent="-182880">
              <a:lnSpc>
                <a:spcPct val="108000"/>
              </a:lnSpc>
              <a:spcBef>
                <a:spcPts val="600"/>
              </a:spcBef>
              <a:buFont typeface="Arial"/>
              <a:buChar char="•"/>
            </a:pPr>
            <a:endParaRPr lang="en-US" sz="16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Right Card">
            <a:extLst>
              <a:ext uri="{FF2B5EF4-FFF2-40B4-BE49-F238E27FC236}">
                <a16:creationId xmlns:a16="http://schemas.microsoft.com/office/drawing/2014/main" id="{0EEA0E7E-D05B-AB7F-C4E2-77824BCCBA12}"/>
              </a:ext>
            </a:extLst>
          </p:cNvPr>
          <p:cNvSpPr/>
          <p:nvPr/>
        </p:nvSpPr>
        <p:spPr>
          <a:xfrm>
            <a:off x="351758" y="4612746"/>
            <a:ext cx="10689428" cy="2081095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endParaRPr lang="en-US"/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Automated validation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variables using Playwright across end-to-end user journeys.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Dynamic comparison of </a:t>
            </a: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Data Layer</a:t>
            </a:r>
            <a:r>
              <a:rPr lang="en-US" sz="1600" dirty="0">
                <a:solidFill>
                  <a:srgbClr val="334155"/>
                </a:solidFill>
                <a:ea typeface="+mn-lt"/>
                <a:cs typeface="+mn-lt"/>
              </a:rPr>
              <a:t> values against UI data, business rules, and expected behavior.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+mn-lt"/>
                <a:cs typeface="+mn-lt"/>
              </a:rPr>
              <a:t>Comprehensive reporting with PASS / FAIL / MISSING status, detailed comparison results, and HTML/CSV reports for faster analysis</a:t>
            </a:r>
            <a:endParaRPr lang="en-US"/>
          </a:p>
          <a:p>
            <a:pPr>
              <a:lnSpc>
                <a:spcPct val="110000"/>
              </a:lnSpc>
              <a:spcBef>
                <a:spcPts val="700"/>
              </a:spcBef>
            </a:pPr>
            <a:endParaRPr lang="en-US" sz="1600" dirty="0">
              <a:solidFill>
                <a:srgbClr val="334155"/>
              </a:solidFill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2813445-88F5-3CCD-A580-5656CDABBA6E}"/>
              </a:ext>
            </a:extLst>
          </p:cNvPr>
          <p:cNvSpPr txBox="1">
            <a:spLocks/>
          </p:cNvSpPr>
          <p:nvPr/>
        </p:nvSpPr>
        <p:spPr>
          <a:xfrm>
            <a:off x="306517" y="426468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  ONGOING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Left Header">
            <a:extLst>
              <a:ext uri="{FF2B5EF4-FFF2-40B4-BE49-F238E27FC236}">
                <a16:creationId xmlns:a16="http://schemas.microsoft.com/office/drawing/2014/main" id="{F8FE0781-AA24-AA16-D142-444AF3AEAD2C}"/>
              </a:ext>
            </a:extLst>
          </p:cNvPr>
          <p:cNvSpPr/>
          <p:nvPr/>
        </p:nvSpPr>
        <p:spPr>
          <a:xfrm>
            <a:off x="3824731" y="4916096"/>
            <a:ext cx="4525868" cy="5619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r>
              <a:rPr lang="en-US" sz="2000" b="1" kern="0" spc="200">
                <a:solidFill>
                  <a:srgbClr val="0F766E"/>
                </a:solidFill>
                <a:latin typeface="Calibri"/>
                <a:ea typeface="Calibri"/>
                <a:cs typeface="Calibri"/>
              </a:rPr>
              <a:t>DATA LAYER VALIDATION</a:t>
            </a:r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  <a:p>
            <a:endParaRPr lang="en-US" sz="2000" b="1" kern="0" spc="200" dirty="0">
              <a:solidFill>
                <a:srgbClr val="0F766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ight Card">
            <a:extLst>
              <a:ext uri="{FF2B5EF4-FFF2-40B4-BE49-F238E27FC236}">
                <a16:creationId xmlns:a16="http://schemas.microsoft.com/office/drawing/2014/main" id="{84071B8F-44F9-56F3-21D8-F9610E1A35AC}"/>
              </a:ext>
            </a:extLst>
          </p:cNvPr>
          <p:cNvSpPr/>
          <p:nvPr/>
        </p:nvSpPr>
        <p:spPr>
          <a:xfrm>
            <a:off x="6090571" y="921808"/>
            <a:ext cx="4795835" cy="3057408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91440" tIns="45720" rIns="91440" bIns="45720" anchor="t"/>
          <a:lstStyle/>
          <a:p>
            <a:pPr>
              <a:lnSpc>
                <a:spcPct val="110000"/>
              </a:lnSpc>
              <a:spcBef>
                <a:spcPts val="700"/>
              </a:spcBef>
            </a:pPr>
            <a:r>
              <a:rPr lang="en-US" sz="2000" b="1" i="0" u="none" strike="noStrike" baseline="0" dirty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>REGRESSION SUITE — SPRINT 26.16 </a:t>
            </a:r>
            <a:r>
              <a:rPr lang="en-US" sz="2000" b="1" i="0" u="none" strike="noStrike" baseline="0">
                <a:solidFill>
                  <a:srgbClr val="B45309"/>
                </a:solidFill>
                <a:latin typeface="Calibri"/>
                <a:ea typeface="Segoe UI"/>
                <a:cs typeface="Segoe UI"/>
              </a:rPr>
              <a:t>/26.17</a:t>
            </a:r>
            <a:r>
              <a:rPr lang="en-US" sz="2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br>
              <a:rPr lang="en-US" sz="20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scripting completed in Sprint26.16 for 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AT and Loft — both Desktop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and Mobile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Web.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Jenkins job triggered, achieving an </a:t>
            </a:r>
            <a:r>
              <a:rPr lang="en-US" sz="1600" b="1">
                <a:solidFill>
                  <a:srgbClr val="0F766E"/>
                </a:solidFill>
                <a:ea typeface="Calibri"/>
                <a:cs typeface="Calibri"/>
              </a:rPr>
              <a:t>84–85%pass rate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Report shared with the Everest </a:t>
            </a:r>
            <a:r>
              <a:rPr lang="en-US" sz="1600">
                <a:solidFill>
                  <a:srgbClr val="334155"/>
                </a:solidFill>
                <a:ea typeface="Calibri"/>
                <a:cs typeface="Calibri"/>
              </a:rPr>
              <a:t>Automation team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 for approval on </a:t>
            </a:r>
            <a:r>
              <a:rPr lang="en-US" sz="1600" b="1" dirty="0">
                <a:solidFill>
                  <a:srgbClr val="0F2742"/>
                </a:solidFill>
                <a:ea typeface="Calibri"/>
                <a:cs typeface="Calibri"/>
              </a:rPr>
              <a:t>PR #1652</a:t>
            </a:r>
            <a:r>
              <a:rPr lang="en-US" sz="1600" dirty="0">
                <a:solidFill>
                  <a:srgbClr val="334155"/>
                </a:solidFill>
                <a:ea typeface="Calibri"/>
                <a:cs typeface="Calibri"/>
              </a:rPr>
              <a:t>.</a:t>
            </a:r>
            <a:endParaRPr lang="en-US" sz="1600" dirty="0">
              <a:ea typeface="Calibri"/>
              <a:cs typeface="Calibri"/>
            </a:endParaRPr>
          </a:p>
          <a:p>
            <a:pPr marL="182880" indent="-182880">
              <a:lnSpc>
                <a:spcPct val="110000"/>
              </a:lnSpc>
              <a:spcBef>
                <a:spcPts val="700"/>
              </a:spcBef>
              <a:buFont typeface="Arial"/>
              <a:buChar char="•"/>
            </a:pPr>
            <a:endParaRPr lang="en-US" sz="1600" dirty="0">
              <a:ea typeface="Calibri"/>
              <a:cs typeface="Calibri"/>
            </a:endParaRPr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8786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30C6D-E6FF-13BC-53F5-6276E89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Brand Logo">
            <a:extLst>
              <a:ext uri="{FF2B5EF4-FFF2-40B4-BE49-F238E27FC236}">
                <a16:creationId xmlns:a16="http://schemas.microsoft.com/office/drawing/2014/main" id="{E93F4655-80AE-DFCA-B255-E38B5ED2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696" y="430000"/>
            <a:ext cx="548640" cy="6461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E5F6DD8-DB3F-DCF8-080F-92094E22CCFB}"/>
              </a:ext>
            </a:extLst>
          </p:cNvPr>
          <p:cNvSpPr txBox="1">
            <a:spLocks/>
          </p:cNvSpPr>
          <p:nvPr/>
        </p:nvSpPr>
        <p:spPr>
          <a:xfrm>
            <a:off x="401767" y="259780"/>
            <a:ext cx="10815785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algn="l" defTabSz="1219170" rtl="0" eaLnBrk="1" latinLnBrk="0" hangingPunct="1"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 b="1">
                <a:ea typeface="Calibri"/>
                <a:cs typeface="Calibri"/>
              </a:rPr>
              <a:t>PLANNED ACTIVITIES – AUTOMATION TEAM</a:t>
            </a:r>
          </a:p>
          <a:p>
            <a:pPr algn="ctr"/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20" name="ORPOS Card"/>
          <p:cNvSpPr/>
          <p:nvPr/>
        </p:nvSpPr>
        <p:spPr>
          <a:xfrm>
            <a:off x="8382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 w="12700">
            <a:solidFill>
              <a:srgbClr val="1E3A5F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ORPOS MIGRATION</a:t>
            </a:r>
          </a:p>
          <a:p>
            <a:pPr algn="ctr">
              <a:lnSpc>
                <a:spcPct val="112000"/>
              </a:lnSpc>
              <a:spcBef>
                <a:spcPts val="900"/>
              </a:spcBef>
            </a:pPr>
            <a:r>
              <a:rPr lang="en-US" sz="15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built on Java and Sikuli to be migrated to Playwright and Visor.</a:t>
            </a:r>
          </a:p>
        </p:txBody>
      </p:sp>
      <p:sp>
        <p:nvSpPr>
          <p:cNvPr id="6" name="ECOMM Card"/>
          <p:cNvSpPr/>
          <p:nvPr/>
        </p:nvSpPr>
        <p:spPr>
          <a:xfrm>
            <a:off x="6629400" y="15240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ECOMM MIGRATION</a:t>
            </a:r>
          </a:p>
          <a:p>
            <a:pPr algn="ctr"/>
            <a:endParaRPr lang="en-US" sz="2000" b="1" dirty="0">
              <a:solidFill>
                <a:srgbClr val="B45309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5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Current framework is built on selenium/java to be migrated to </a:t>
            </a:r>
            <a:r>
              <a:rPr lang="en-US" sz="15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playwright/typescript(AFTA FRAMEWORK)</a:t>
            </a:r>
            <a:br>
              <a:rPr lang="en-US" sz="15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</a:br>
            <a:r>
              <a:rPr lang="en-US" sz="15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Execution will be based on priority based testcases.</a:t>
            </a:r>
            <a:br>
              <a:rPr lang="en-US" sz="1500" dirty="0">
                <a:latin typeface="Calibri"/>
                <a:ea typeface="Calibri"/>
                <a:cs typeface="Calibri"/>
              </a:rPr>
            </a:br>
            <a:br>
              <a:rPr lang="en-US" sz="1500" dirty="0">
                <a:latin typeface="Calibri"/>
                <a:ea typeface="Calibri"/>
                <a:cs typeface="Calibri"/>
              </a:rPr>
            </a:br>
            <a:endParaRPr lang="en-US" sz="1500" dirty="0">
              <a:solidFill>
                <a:srgbClr val="334155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500" dirty="0">
              <a:solidFill>
                <a:srgbClr val="334155"/>
              </a:solidFill>
              <a:ea typeface="Calibri"/>
              <a:cs typeface="Calibri"/>
            </a:endParaRPr>
          </a:p>
        </p:txBody>
      </p:sp>
      <p:sp>
        <p:nvSpPr>
          <p:cNvPr id="2" name="CHICOS Card"/>
          <p:cNvSpPr/>
          <p:nvPr/>
        </p:nvSpPr>
        <p:spPr>
          <a:xfrm>
            <a:off x="8382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0F766E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CHICOS SHADOWING/MAINTAINANCE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  <p:sp>
        <p:nvSpPr>
          <p:cNvPr id="5" name="UIDASH Card"/>
          <p:cNvSpPr/>
          <p:nvPr/>
        </p:nvSpPr>
        <p:spPr>
          <a:xfrm>
            <a:off x="6629400" y="3886200"/>
            <a:ext cx="4724400" cy="20574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B45309"/>
            </a:solidFill>
          </a:ln>
        </p:spPr>
        <p:txBody>
          <a:bodyPr lIns="182880" tIns="137160" rIns="182880" bIns="137160" anchor="t"/>
          <a:lstStyle/>
          <a:p>
            <a:pPr algn="ctr"/>
            <a:r>
              <a:rPr lang="en-US"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UI DASHBOARD – PHASE 2</a:t>
            </a:r>
          </a:p>
          <a:p>
            <a:pPr algn="ctr">
              <a:spcBef>
                <a:spcPts val="1400"/>
              </a:spcBef>
            </a:pPr>
            <a:r>
              <a:rPr lang="en-US" sz="1300" i="1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Planned</a:t>
            </a:r>
          </a:p>
        </p:txBody>
      </p:sp>
    </p:spTree>
    <p:extLst>
      <p:ext uri="{BB962C8B-B14F-4D97-AF65-F5344CB8AC3E}">
        <p14:creationId xmlns:p14="http://schemas.microsoft.com/office/powerpoint/2010/main" val="3339516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hankYou"/>
          <p:cNvSpPr txBox="1"/>
          <p:nvPr/>
        </p:nvSpPr>
        <p:spPr>
          <a:xfrm>
            <a:off x="1525712" y="2400475"/>
            <a:ext cx="9142288" cy="20682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0" name="Bran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214" y="1121797"/>
            <a:ext cx="933572" cy="10995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  Why aspire unified framework (AFTA) </vt:lpstr>
      <vt:lpstr>Auto POM – Intelligent Locator &amp; AI Fallback Strategy </vt:lpstr>
      <vt:lpstr>Autopom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Knitwell Self-Healing Framework</dc:title>
  <dc:subject>PptxGenJS Presentation</dc:subject>
  <dc:creator>Sivanesan</dc:creator>
  <cp:lastModifiedBy>Sivanesan</cp:lastModifiedBy>
  <cp:revision>578</cp:revision>
  <dcterms:created xsi:type="dcterms:W3CDTF">2026-06-17T07:36:54Z</dcterms:created>
  <dcterms:modified xsi:type="dcterms:W3CDTF">2026-06-17T14:29:25Z</dcterms:modified>
</cp:coreProperties>
</file>